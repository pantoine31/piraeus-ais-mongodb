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68" r:id="rId3"/>
    <p:sldId id="257" r:id="rId4"/>
    <p:sldId id="269" r:id="rId5"/>
    <p:sldId id="270" r:id="rId6"/>
    <p:sldId id="258" r:id="rId7"/>
    <p:sldId id="271" r:id="rId8"/>
    <p:sldId id="272" r:id="rId9"/>
    <p:sldId id="259" r:id="rId10"/>
    <p:sldId id="273" r:id="rId11"/>
    <p:sldId id="260" r:id="rId12"/>
    <p:sldId id="274" r:id="rId13"/>
    <p:sldId id="275" r:id="rId14"/>
    <p:sldId id="261" r:id="rId15"/>
    <p:sldId id="276" r:id="rId16"/>
    <p:sldId id="277" r:id="rId17"/>
    <p:sldId id="278" r:id="rId18"/>
    <p:sldId id="279" r:id="rId19"/>
    <p:sldId id="280" r:id="rId20"/>
    <p:sldId id="281" r:id="rId21"/>
    <p:sldId id="262" r:id="rId22"/>
    <p:sldId id="282" r:id="rId23"/>
    <p:sldId id="283" r:id="rId24"/>
    <p:sldId id="284" r:id="rId25"/>
    <p:sldId id="285" r:id="rId26"/>
    <p:sldId id="263" r:id="rId27"/>
    <p:sldId id="286" r:id="rId28"/>
    <p:sldId id="287" r:id="rId29"/>
    <p:sldId id="266" r:id="rId30"/>
    <p:sldId id="288" r:id="rId31"/>
    <p:sldId id="289" r:id="rId32"/>
    <p:sldId id="267" r:id="rId33"/>
  </p:sldIdLst>
  <p:sldSz cx="12192000" cy="6858000"/>
  <p:notesSz cx="6858000" cy="9144000"/>
  <p:embeddedFontLst>
    <p:embeddedFont>
      <p:font typeface="ADLaM Display" panose="02010000000000000000" pitchFamily="2" charset="0"/>
      <p:regular r:id="rId35"/>
    </p:embeddedFont>
    <p:embeddedFont>
      <p:font typeface="Lato" panose="020F0502020204030203" pitchFamily="34" charset="0"/>
      <p:regular r:id="rId36"/>
      <p:bold r:id="rId37"/>
      <p:italic r:id="rId38"/>
      <p:boldItalic r:id="rId39"/>
    </p:embeddedFont>
    <p:embeddedFont>
      <p:font typeface="Poppins" panose="00000500000000000000" pitchFamily="2" charset="0"/>
      <p:regular r:id="rId40"/>
      <p:bold r:id="rId41"/>
      <p:italic r:id="rId42"/>
      <p:boldItalic r:id="rId43"/>
    </p:embeddedFont>
    <p:embeddedFont>
      <p:font typeface="Urbanist" panose="020B060402020202020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C6288F-F273-4527-8FED-48556BDCD0B3}">
  <a:tblStyle styleId="{7BC6288F-F273-4527-8FED-48556BDCD0B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951" autoAdjust="0"/>
  </p:normalViewPr>
  <p:slideViewPr>
    <p:cSldViewPr snapToGrid="0">
      <p:cViewPr varScale="1">
        <p:scale>
          <a:sx n="94" d="100"/>
          <a:sy n="94" d="100"/>
        </p:scale>
        <p:origin x="119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l-G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CE9E8726-66C8-EC3F-63D1-3436F5D9C37E}"/>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64ADD699-2A16-7EFA-F5DE-CC17B1F6F4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E0C2208A-5F2F-BAE0-CE17-7FFDEF7A54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097835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ADB411D-57FF-D483-989F-C35995089DBC}"/>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27C62B86-4638-6CC9-E762-F8F681DDD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892491C1-672F-22A2-41FE-46AF517360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2062340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4E13E103-1F6A-5876-553D-155A50B9F3B7}"/>
            </a:ext>
          </a:extLst>
        </p:cNvPr>
        <p:cNvGrpSpPr/>
        <p:nvPr/>
      </p:nvGrpSpPr>
      <p:grpSpPr>
        <a:xfrm>
          <a:off x="0" y="0"/>
          <a:ext cx="0" cy="0"/>
          <a:chOff x="0" y="0"/>
          <a:chExt cx="0" cy="0"/>
        </a:xfrm>
      </p:grpSpPr>
      <p:sp>
        <p:nvSpPr>
          <p:cNvPr id="123" name="Google Shape;123;p3:notes">
            <a:extLst>
              <a:ext uri="{FF2B5EF4-FFF2-40B4-BE49-F238E27FC236}">
                <a16:creationId xmlns:a16="http://schemas.microsoft.com/office/drawing/2014/main" id="{FD8CCE88-1E7E-C5E5-3836-C34F4C2FD9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GR" dirty="0"/>
              <a:t>Το dataset AIS για την ευρύτερη περιοχή του Πειραιά καλύπτει πάνω από 2,5 χρόνια και περιλαμβάνει περισσότερες από 244 εκατομμύρια εγγραφές. Είναι κρίσιμο για Big Data αναλύσεις στη ναυτιλία, επιτρέποντας μοντελοποίηση συμπεριφοράς πλοίων, διαχείριση κυκλοφορίας και βελτίωση ασφάλειας. Επιπλέον εμπλουτίζεται με γεωγραφικά, καιρικά δεδομένα και περιλήψεις τροχιών.</a:t>
            </a:r>
            <a:endParaRPr dirty="0"/>
          </a:p>
        </p:txBody>
      </p:sp>
      <p:sp>
        <p:nvSpPr>
          <p:cNvPr id="124" name="Google Shape;124;p3:notes">
            <a:extLst>
              <a:ext uri="{FF2B5EF4-FFF2-40B4-BE49-F238E27FC236}">
                <a16:creationId xmlns:a16="http://schemas.microsoft.com/office/drawing/2014/main" id="{EF26D868-35A0-1FC8-51F6-DA66B27F98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686349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GR" dirty="0"/>
              <a:t>Το dataset AIS για την ευρύτερη περιοχή του Πειραιά καλύπτει πάνω από 2,5 χρόνια και περιλαμβάνει περισσότερες από 244 εκατομμύρια εγγραφές. Είναι κρίσιμο για Big Data αναλύσεις στη ναυτιλία, επιτρέποντας μοντελοποίηση συμπεριφοράς πλοίων, διαχείριση κυκλοφορίας και βελτίωση ασφάλειας. Επιπλέον εμπλουτίζεται με γεωγραφικά, καιρικά δεδομένα και περιλήψεις τροχιών.</a:t>
            </a:r>
            <a:endParaRPr dirty="0"/>
          </a:p>
        </p:txBody>
      </p:sp>
      <p:sp>
        <p:nvSpPr>
          <p:cNvPr id="124" name="Google Shape;12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2F637C38-6807-9263-293E-B73D7A0AEFB9}"/>
            </a:ext>
          </a:extLst>
        </p:cNvPr>
        <p:cNvGrpSpPr/>
        <p:nvPr/>
      </p:nvGrpSpPr>
      <p:grpSpPr>
        <a:xfrm>
          <a:off x="0" y="0"/>
          <a:ext cx="0" cy="0"/>
          <a:chOff x="0" y="0"/>
          <a:chExt cx="0" cy="0"/>
        </a:xfrm>
      </p:grpSpPr>
      <p:sp>
        <p:nvSpPr>
          <p:cNvPr id="123" name="Google Shape;123;p3:notes">
            <a:extLst>
              <a:ext uri="{FF2B5EF4-FFF2-40B4-BE49-F238E27FC236}">
                <a16:creationId xmlns:a16="http://schemas.microsoft.com/office/drawing/2014/main" id="{DA855F8D-529F-4863-C5B6-C3D2BF4258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GR" dirty="0"/>
              <a:t>Το dataset AIS για την ευρύτερη περιοχή του Πειραιά καλύπτει πάνω από 2,5 χρόνια και περιλαμβάνει περισσότερες από 244 εκατομμύρια εγγραφές. Είναι κρίσιμο για Big Data αναλύσεις στη ναυτιλία, επιτρέποντας μοντελοποίηση συμπεριφοράς πλοίων, διαχείριση κυκλοφορίας και βελτίωση ασφάλειας. Επιπλέον εμπλουτίζεται με γεωγραφικά, καιρικά δεδομένα και περιλήψεις τροχιών.</a:t>
            </a:r>
            <a:endParaRPr dirty="0"/>
          </a:p>
        </p:txBody>
      </p:sp>
      <p:sp>
        <p:nvSpPr>
          <p:cNvPr id="124" name="Google Shape;124;p3:notes">
            <a:extLst>
              <a:ext uri="{FF2B5EF4-FFF2-40B4-BE49-F238E27FC236}">
                <a16:creationId xmlns:a16="http://schemas.microsoft.com/office/drawing/2014/main" id="{AC685D5E-528A-F1EF-7093-20872DE38A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2404069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E56C8D1F-3A1A-0321-71AB-528113DC5512}"/>
            </a:ext>
          </a:extLst>
        </p:cNvPr>
        <p:cNvGrpSpPr/>
        <p:nvPr/>
      </p:nvGrpSpPr>
      <p:grpSpPr>
        <a:xfrm>
          <a:off x="0" y="0"/>
          <a:ext cx="0" cy="0"/>
          <a:chOff x="0" y="0"/>
          <a:chExt cx="0" cy="0"/>
        </a:xfrm>
      </p:grpSpPr>
      <p:sp>
        <p:nvSpPr>
          <p:cNvPr id="142" name="Google Shape;142;p4:notes">
            <a:extLst>
              <a:ext uri="{FF2B5EF4-FFF2-40B4-BE49-F238E27FC236}">
                <a16:creationId xmlns:a16="http://schemas.microsoft.com/office/drawing/2014/main" id="{DEC9170D-251A-548E-8FC9-34B894FF62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4:notes">
            <a:extLst>
              <a:ext uri="{FF2B5EF4-FFF2-40B4-BE49-F238E27FC236}">
                <a16:creationId xmlns:a16="http://schemas.microsoft.com/office/drawing/2014/main" id="{DDFD24F9-BF18-0BB6-E90F-CC0007DD8A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911626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CD26550E-9AB6-435A-27E6-53F05018D36D}"/>
            </a:ext>
          </a:extLst>
        </p:cNvPr>
        <p:cNvGrpSpPr/>
        <p:nvPr/>
      </p:nvGrpSpPr>
      <p:grpSpPr>
        <a:xfrm>
          <a:off x="0" y="0"/>
          <a:ext cx="0" cy="0"/>
          <a:chOff x="0" y="0"/>
          <a:chExt cx="0" cy="0"/>
        </a:xfrm>
      </p:grpSpPr>
      <p:sp>
        <p:nvSpPr>
          <p:cNvPr id="142" name="Google Shape;142;p4:notes">
            <a:extLst>
              <a:ext uri="{FF2B5EF4-FFF2-40B4-BE49-F238E27FC236}">
                <a16:creationId xmlns:a16="http://schemas.microsoft.com/office/drawing/2014/main" id="{65786195-BC6C-7ED0-526E-7AE30C3573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4:notes">
            <a:extLst>
              <a:ext uri="{FF2B5EF4-FFF2-40B4-BE49-F238E27FC236}">
                <a16:creationId xmlns:a16="http://schemas.microsoft.com/office/drawing/2014/main" id="{D0C257F8-DF3F-EBC5-173F-A84D14E9F9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333325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8C757917-AB15-1364-BFDC-AD2CB0A1E1A2}"/>
            </a:ext>
          </a:extLst>
        </p:cNvPr>
        <p:cNvGrpSpPr/>
        <p:nvPr/>
      </p:nvGrpSpPr>
      <p:grpSpPr>
        <a:xfrm>
          <a:off x="0" y="0"/>
          <a:ext cx="0" cy="0"/>
          <a:chOff x="0" y="0"/>
          <a:chExt cx="0" cy="0"/>
        </a:xfrm>
      </p:grpSpPr>
      <p:sp>
        <p:nvSpPr>
          <p:cNvPr id="164" name="Google Shape;164;p5:notes">
            <a:extLst>
              <a:ext uri="{FF2B5EF4-FFF2-40B4-BE49-F238E27FC236}">
                <a16:creationId xmlns:a16="http://schemas.microsoft.com/office/drawing/2014/main" id="{59BD398B-E46C-7A32-1F47-2CEF2CBBED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5:notes">
            <a:extLst>
              <a:ext uri="{FF2B5EF4-FFF2-40B4-BE49-F238E27FC236}">
                <a16:creationId xmlns:a16="http://schemas.microsoft.com/office/drawing/2014/main" id="{5C01F377-2120-E6B3-8CAD-C7B8001809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490283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9C2507A6-D2AB-5A76-9B1C-B2C58D84DE7C}"/>
            </a:ext>
          </a:extLst>
        </p:cNvPr>
        <p:cNvGrpSpPr/>
        <p:nvPr/>
      </p:nvGrpSpPr>
      <p:grpSpPr>
        <a:xfrm>
          <a:off x="0" y="0"/>
          <a:ext cx="0" cy="0"/>
          <a:chOff x="0" y="0"/>
          <a:chExt cx="0" cy="0"/>
        </a:xfrm>
      </p:grpSpPr>
      <p:sp>
        <p:nvSpPr>
          <p:cNvPr id="164" name="Google Shape;164;p5:notes">
            <a:extLst>
              <a:ext uri="{FF2B5EF4-FFF2-40B4-BE49-F238E27FC236}">
                <a16:creationId xmlns:a16="http://schemas.microsoft.com/office/drawing/2014/main" id="{3718D6EA-3C21-D056-7CC2-8BF0B3307A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5:notes">
            <a:extLst>
              <a:ext uri="{FF2B5EF4-FFF2-40B4-BE49-F238E27FC236}">
                <a16:creationId xmlns:a16="http://schemas.microsoft.com/office/drawing/2014/main" id="{AA21F57C-7602-17B8-42A8-50D17D25E7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793755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AAB0C330-6309-1882-84CB-BFCE86DF7D64}"/>
            </a:ext>
          </a:extLst>
        </p:cNvPr>
        <p:cNvGrpSpPr/>
        <p:nvPr/>
      </p:nvGrpSpPr>
      <p:grpSpPr>
        <a:xfrm>
          <a:off x="0" y="0"/>
          <a:ext cx="0" cy="0"/>
          <a:chOff x="0" y="0"/>
          <a:chExt cx="0" cy="0"/>
        </a:xfrm>
      </p:grpSpPr>
      <p:sp>
        <p:nvSpPr>
          <p:cNvPr id="191" name="Google Shape;191;p6:notes">
            <a:extLst>
              <a:ext uri="{FF2B5EF4-FFF2-40B4-BE49-F238E27FC236}">
                <a16:creationId xmlns:a16="http://schemas.microsoft.com/office/drawing/2014/main" id="{0BCC6A84-9AC2-9806-52DC-E2C6845546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2" name="Google Shape;192;p6:notes">
            <a:extLst>
              <a:ext uri="{FF2B5EF4-FFF2-40B4-BE49-F238E27FC236}">
                <a16:creationId xmlns:a16="http://schemas.microsoft.com/office/drawing/2014/main" id="{B4A22A2D-565B-1B51-CA7F-C564768035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3414427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B4A68DA0-97CB-58D3-E18F-EF588BDD2068}"/>
            </a:ext>
          </a:extLst>
        </p:cNvPr>
        <p:cNvGrpSpPr/>
        <p:nvPr/>
      </p:nvGrpSpPr>
      <p:grpSpPr>
        <a:xfrm>
          <a:off x="0" y="0"/>
          <a:ext cx="0" cy="0"/>
          <a:chOff x="0" y="0"/>
          <a:chExt cx="0" cy="0"/>
        </a:xfrm>
      </p:grpSpPr>
      <p:sp>
        <p:nvSpPr>
          <p:cNvPr id="191" name="Google Shape;191;p6:notes">
            <a:extLst>
              <a:ext uri="{FF2B5EF4-FFF2-40B4-BE49-F238E27FC236}">
                <a16:creationId xmlns:a16="http://schemas.microsoft.com/office/drawing/2014/main" id="{B1AD3618-7AE7-B2E3-C2F1-1D6B1DA08E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2" name="Google Shape;192;p6:notes">
            <a:extLst>
              <a:ext uri="{FF2B5EF4-FFF2-40B4-BE49-F238E27FC236}">
                <a16:creationId xmlns:a16="http://schemas.microsoft.com/office/drawing/2014/main" id="{A4E38588-066E-DE0C-9F90-7DFEB7859E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069007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E28AC3FB-2302-2EB8-412D-5C6691A768BF}"/>
            </a:ext>
          </a:extLst>
        </p:cNvPr>
        <p:cNvGrpSpPr/>
        <p:nvPr/>
      </p:nvGrpSpPr>
      <p:grpSpPr>
        <a:xfrm>
          <a:off x="0" y="0"/>
          <a:ext cx="0" cy="0"/>
          <a:chOff x="0" y="0"/>
          <a:chExt cx="0" cy="0"/>
        </a:xfrm>
      </p:grpSpPr>
      <p:sp>
        <p:nvSpPr>
          <p:cNvPr id="191" name="Google Shape;191;p6:notes">
            <a:extLst>
              <a:ext uri="{FF2B5EF4-FFF2-40B4-BE49-F238E27FC236}">
                <a16:creationId xmlns:a16="http://schemas.microsoft.com/office/drawing/2014/main" id="{015491A9-3792-482F-AE18-F332DCACC9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2" name="Google Shape;192;p6:notes">
            <a:extLst>
              <a:ext uri="{FF2B5EF4-FFF2-40B4-BE49-F238E27FC236}">
                <a16:creationId xmlns:a16="http://schemas.microsoft.com/office/drawing/2014/main" id="{A47008DB-7134-DCA4-C004-14F4AFCA88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013783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5FFB28AF-C85E-1AFC-0B03-10B0050F3A64}"/>
            </a:ext>
          </a:extLst>
        </p:cNvPr>
        <p:cNvGrpSpPr/>
        <p:nvPr/>
      </p:nvGrpSpPr>
      <p:grpSpPr>
        <a:xfrm>
          <a:off x="0" y="0"/>
          <a:ext cx="0" cy="0"/>
          <a:chOff x="0" y="0"/>
          <a:chExt cx="0" cy="0"/>
        </a:xfrm>
      </p:grpSpPr>
      <p:sp>
        <p:nvSpPr>
          <p:cNvPr id="191" name="Google Shape;191;p6:notes">
            <a:extLst>
              <a:ext uri="{FF2B5EF4-FFF2-40B4-BE49-F238E27FC236}">
                <a16:creationId xmlns:a16="http://schemas.microsoft.com/office/drawing/2014/main" id="{DDB52F27-D8C5-AA38-C740-A47035B0E4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2" name="Google Shape;192;p6:notes">
            <a:extLst>
              <a:ext uri="{FF2B5EF4-FFF2-40B4-BE49-F238E27FC236}">
                <a16:creationId xmlns:a16="http://schemas.microsoft.com/office/drawing/2014/main" id="{20A8D92A-F345-5905-E6A5-068F6B4152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991686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A9B95968-ABF4-7AC2-ADC1-F77A52635659}"/>
            </a:ext>
          </a:extLst>
        </p:cNvPr>
        <p:cNvGrpSpPr/>
        <p:nvPr/>
      </p:nvGrpSpPr>
      <p:grpSpPr>
        <a:xfrm>
          <a:off x="0" y="0"/>
          <a:ext cx="0" cy="0"/>
          <a:chOff x="0" y="0"/>
          <a:chExt cx="0" cy="0"/>
        </a:xfrm>
      </p:grpSpPr>
      <p:sp>
        <p:nvSpPr>
          <p:cNvPr id="191" name="Google Shape;191;p6:notes">
            <a:extLst>
              <a:ext uri="{FF2B5EF4-FFF2-40B4-BE49-F238E27FC236}">
                <a16:creationId xmlns:a16="http://schemas.microsoft.com/office/drawing/2014/main" id="{FB59A382-9644-628D-2905-DCD34462C0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2" name="Google Shape;192;p6:notes">
            <a:extLst>
              <a:ext uri="{FF2B5EF4-FFF2-40B4-BE49-F238E27FC236}">
                <a16:creationId xmlns:a16="http://schemas.microsoft.com/office/drawing/2014/main" id="{4691E4A8-F6E2-365F-BCED-14D43B8E62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2670495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03B03C7D-ACF9-A998-5F37-F07077AEDCAD}"/>
            </a:ext>
          </a:extLst>
        </p:cNvPr>
        <p:cNvGrpSpPr/>
        <p:nvPr/>
      </p:nvGrpSpPr>
      <p:grpSpPr>
        <a:xfrm>
          <a:off x="0" y="0"/>
          <a:ext cx="0" cy="0"/>
          <a:chOff x="0" y="0"/>
          <a:chExt cx="0" cy="0"/>
        </a:xfrm>
      </p:grpSpPr>
      <p:sp>
        <p:nvSpPr>
          <p:cNvPr id="191" name="Google Shape;191;p6:notes">
            <a:extLst>
              <a:ext uri="{FF2B5EF4-FFF2-40B4-BE49-F238E27FC236}">
                <a16:creationId xmlns:a16="http://schemas.microsoft.com/office/drawing/2014/main" id="{C431200B-EE90-13B7-F012-71CB35B37A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2" name="Google Shape;192;p6:notes">
            <a:extLst>
              <a:ext uri="{FF2B5EF4-FFF2-40B4-BE49-F238E27FC236}">
                <a16:creationId xmlns:a16="http://schemas.microsoft.com/office/drawing/2014/main" id="{0480C71D-DF1A-AA9D-70EB-BEC4BB39AB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7316734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4" name="Google Shape;20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a:extLst>
            <a:ext uri="{FF2B5EF4-FFF2-40B4-BE49-F238E27FC236}">
              <a16:creationId xmlns:a16="http://schemas.microsoft.com/office/drawing/2014/main" id="{BA0D1262-32C8-6291-594B-DB368EE7511C}"/>
            </a:ext>
          </a:extLst>
        </p:cNvPr>
        <p:cNvGrpSpPr/>
        <p:nvPr/>
      </p:nvGrpSpPr>
      <p:grpSpPr>
        <a:xfrm>
          <a:off x="0" y="0"/>
          <a:ext cx="0" cy="0"/>
          <a:chOff x="0" y="0"/>
          <a:chExt cx="0" cy="0"/>
        </a:xfrm>
      </p:grpSpPr>
      <p:sp>
        <p:nvSpPr>
          <p:cNvPr id="203" name="Google Shape;203;p7:notes">
            <a:extLst>
              <a:ext uri="{FF2B5EF4-FFF2-40B4-BE49-F238E27FC236}">
                <a16:creationId xmlns:a16="http://schemas.microsoft.com/office/drawing/2014/main" id="{08C703D7-5778-829D-BE5A-9DBDB0B8A3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4" name="Google Shape;204;p7:notes">
            <a:extLst>
              <a:ext uri="{FF2B5EF4-FFF2-40B4-BE49-F238E27FC236}">
                <a16:creationId xmlns:a16="http://schemas.microsoft.com/office/drawing/2014/main" id="{DA447D88-E794-D280-15F9-9C92C12EF3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6887581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a:extLst>
            <a:ext uri="{FF2B5EF4-FFF2-40B4-BE49-F238E27FC236}">
              <a16:creationId xmlns:a16="http://schemas.microsoft.com/office/drawing/2014/main" id="{A7DE2740-C2A2-21D1-602F-70E38DEF0C57}"/>
            </a:ext>
          </a:extLst>
        </p:cNvPr>
        <p:cNvGrpSpPr/>
        <p:nvPr/>
      </p:nvGrpSpPr>
      <p:grpSpPr>
        <a:xfrm>
          <a:off x="0" y="0"/>
          <a:ext cx="0" cy="0"/>
          <a:chOff x="0" y="0"/>
          <a:chExt cx="0" cy="0"/>
        </a:xfrm>
      </p:grpSpPr>
      <p:sp>
        <p:nvSpPr>
          <p:cNvPr id="203" name="Google Shape;203;p7:notes">
            <a:extLst>
              <a:ext uri="{FF2B5EF4-FFF2-40B4-BE49-F238E27FC236}">
                <a16:creationId xmlns:a16="http://schemas.microsoft.com/office/drawing/2014/main" id="{1BCC6C92-206C-0624-A1CC-7918B9A10C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4" name="Google Shape;204;p7:notes">
            <a:extLst>
              <a:ext uri="{FF2B5EF4-FFF2-40B4-BE49-F238E27FC236}">
                <a16:creationId xmlns:a16="http://schemas.microsoft.com/office/drawing/2014/main" id="{F6B7DF72-CE7A-B406-597E-6ACD4B481A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2282621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a:extLst>
            <a:ext uri="{FF2B5EF4-FFF2-40B4-BE49-F238E27FC236}">
              <a16:creationId xmlns:a16="http://schemas.microsoft.com/office/drawing/2014/main" id="{F3097E67-DBF4-FAC0-BBA5-EBFFF2410FE7}"/>
            </a:ext>
          </a:extLst>
        </p:cNvPr>
        <p:cNvGrpSpPr/>
        <p:nvPr/>
      </p:nvGrpSpPr>
      <p:grpSpPr>
        <a:xfrm>
          <a:off x="0" y="0"/>
          <a:ext cx="0" cy="0"/>
          <a:chOff x="0" y="0"/>
          <a:chExt cx="0" cy="0"/>
        </a:xfrm>
      </p:grpSpPr>
      <p:sp>
        <p:nvSpPr>
          <p:cNvPr id="203" name="Google Shape;203;p7:notes">
            <a:extLst>
              <a:ext uri="{FF2B5EF4-FFF2-40B4-BE49-F238E27FC236}">
                <a16:creationId xmlns:a16="http://schemas.microsoft.com/office/drawing/2014/main" id="{EE276B69-5D58-FA6D-2FB4-910836AA4F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4" name="Google Shape;204;p7:notes">
            <a:extLst>
              <a:ext uri="{FF2B5EF4-FFF2-40B4-BE49-F238E27FC236}">
                <a16:creationId xmlns:a16="http://schemas.microsoft.com/office/drawing/2014/main" id="{1ED08D2A-E709-8E64-740D-6A89F432E2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3353322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6291B6A0-FEFF-F06A-CA31-D68B50C85E22}"/>
            </a:ext>
          </a:extLst>
        </p:cNvPr>
        <p:cNvGrpSpPr/>
        <p:nvPr/>
      </p:nvGrpSpPr>
      <p:grpSpPr>
        <a:xfrm>
          <a:off x="0" y="0"/>
          <a:ext cx="0" cy="0"/>
          <a:chOff x="0" y="0"/>
          <a:chExt cx="0" cy="0"/>
        </a:xfrm>
      </p:grpSpPr>
      <p:sp>
        <p:nvSpPr>
          <p:cNvPr id="224" name="Google Shape;224;p8:notes">
            <a:extLst>
              <a:ext uri="{FF2B5EF4-FFF2-40B4-BE49-F238E27FC236}">
                <a16:creationId xmlns:a16="http://schemas.microsoft.com/office/drawing/2014/main" id="{915A612C-4A18-DEC2-EF9A-DBD9E21F1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8:notes">
            <a:extLst>
              <a:ext uri="{FF2B5EF4-FFF2-40B4-BE49-F238E27FC236}">
                <a16:creationId xmlns:a16="http://schemas.microsoft.com/office/drawing/2014/main" id="{84D5943F-125F-527B-0558-BCE05653C6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24458029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69378E25-1ED5-5CB0-FD08-02C81AB5460E}"/>
            </a:ext>
          </a:extLst>
        </p:cNvPr>
        <p:cNvGrpSpPr/>
        <p:nvPr/>
      </p:nvGrpSpPr>
      <p:grpSpPr>
        <a:xfrm>
          <a:off x="0" y="0"/>
          <a:ext cx="0" cy="0"/>
          <a:chOff x="0" y="0"/>
          <a:chExt cx="0" cy="0"/>
        </a:xfrm>
      </p:grpSpPr>
      <p:sp>
        <p:nvSpPr>
          <p:cNvPr id="224" name="Google Shape;224;p8:notes">
            <a:extLst>
              <a:ext uri="{FF2B5EF4-FFF2-40B4-BE49-F238E27FC236}">
                <a16:creationId xmlns:a16="http://schemas.microsoft.com/office/drawing/2014/main" id="{723D8948-3A80-72CE-494A-AEE4D625BE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8:notes">
            <a:extLst>
              <a:ext uri="{FF2B5EF4-FFF2-40B4-BE49-F238E27FC236}">
                <a16:creationId xmlns:a16="http://schemas.microsoft.com/office/drawing/2014/main" id="{0B3B71E8-3146-92F0-8011-D8574DB82A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39683872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26C274FA-B270-E982-9D71-7B79ABB6179F}"/>
            </a:ext>
          </a:extLst>
        </p:cNvPr>
        <p:cNvGrpSpPr/>
        <p:nvPr/>
      </p:nvGrpSpPr>
      <p:grpSpPr>
        <a:xfrm>
          <a:off x="0" y="0"/>
          <a:ext cx="0" cy="0"/>
          <a:chOff x="0" y="0"/>
          <a:chExt cx="0" cy="0"/>
        </a:xfrm>
      </p:grpSpPr>
      <p:sp>
        <p:nvSpPr>
          <p:cNvPr id="224" name="Google Shape;224;p8:notes">
            <a:extLst>
              <a:ext uri="{FF2B5EF4-FFF2-40B4-BE49-F238E27FC236}">
                <a16:creationId xmlns:a16="http://schemas.microsoft.com/office/drawing/2014/main" id="{6EE5148B-56C1-D1C1-4063-FCAB1D858B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8:notes">
            <a:extLst>
              <a:ext uri="{FF2B5EF4-FFF2-40B4-BE49-F238E27FC236}">
                <a16:creationId xmlns:a16="http://schemas.microsoft.com/office/drawing/2014/main" id="{53D0A3B8-7405-BBAE-F1E5-4ED13DA359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606340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B55335F5-B45E-D9D2-9F06-A0E4956EEB29}"/>
            </a:ext>
          </a:extLst>
        </p:cNvPr>
        <p:cNvGrpSpPr/>
        <p:nvPr/>
      </p:nvGrpSpPr>
      <p:grpSpPr>
        <a:xfrm>
          <a:off x="0" y="0"/>
          <a:ext cx="0" cy="0"/>
          <a:chOff x="0" y="0"/>
          <a:chExt cx="0" cy="0"/>
        </a:xfrm>
      </p:grpSpPr>
      <p:sp>
        <p:nvSpPr>
          <p:cNvPr id="279" name="Google Shape;279;p11:notes">
            <a:extLst>
              <a:ext uri="{FF2B5EF4-FFF2-40B4-BE49-F238E27FC236}">
                <a16:creationId xmlns:a16="http://schemas.microsoft.com/office/drawing/2014/main" id="{A7ECA340-1B0C-8A82-4432-99F1B3512B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11:notes">
            <a:extLst>
              <a:ext uri="{FF2B5EF4-FFF2-40B4-BE49-F238E27FC236}">
                <a16:creationId xmlns:a16="http://schemas.microsoft.com/office/drawing/2014/main" id="{F86417EF-E3BD-9B1B-C331-6D13E8613B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23649864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761EC81-6AEA-C6D2-B69B-E4A37ECAC8F0}"/>
            </a:ext>
          </a:extLst>
        </p:cNvPr>
        <p:cNvGrpSpPr/>
        <p:nvPr/>
      </p:nvGrpSpPr>
      <p:grpSpPr>
        <a:xfrm>
          <a:off x="0" y="0"/>
          <a:ext cx="0" cy="0"/>
          <a:chOff x="0" y="0"/>
          <a:chExt cx="0" cy="0"/>
        </a:xfrm>
      </p:grpSpPr>
      <p:sp>
        <p:nvSpPr>
          <p:cNvPr id="279" name="Google Shape;279;p11:notes">
            <a:extLst>
              <a:ext uri="{FF2B5EF4-FFF2-40B4-BE49-F238E27FC236}">
                <a16:creationId xmlns:a16="http://schemas.microsoft.com/office/drawing/2014/main" id="{27280CF4-7DF4-CCED-D082-D75CC8EB2C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11:notes">
            <a:extLst>
              <a:ext uri="{FF2B5EF4-FFF2-40B4-BE49-F238E27FC236}">
                <a16:creationId xmlns:a16="http://schemas.microsoft.com/office/drawing/2014/main" id="{6268D9E3-19F1-1D53-6A9B-A96A240A87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extLst>
      <p:ext uri="{BB962C8B-B14F-4D97-AF65-F5344CB8AC3E}">
        <p14:creationId xmlns:p14="http://schemas.microsoft.com/office/powerpoint/2010/main" val="13510413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l-G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l-GR"/>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4541490"/>
            <a:ext cx="11049000" cy="1381125"/>
          </a:xfrm>
          <a:prstGeom prst="rect">
            <a:avLst/>
          </a:prstGeom>
          <a:noFill/>
          <a:ln>
            <a:noFill/>
          </a:ln>
        </p:spPr>
      </p:pic>
      <p:sp>
        <p:nvSpPr>
          <p:cNvPr id="86" name="Google Shape;86;p13"/>
          <p:cNvSpPr txBox="1"/>
          <p:nvPr/>
        </p:nvSpPr>
        <p:spPr>
          <a:xfrm>
            <a:off x="295275" y="262978"/>
            <a:ext cx="1160145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2DD4BF"/>
                </a:solidFill>
                <a:latin typeface="Urbanist"/>
                <a:ea typeface="Urbanist"/>
                <a:cs typeface="Urbanist"/>
                <a:sym typeface="Urbanist"/>
              </a:rPr>
              <a:t>ΕΡΓΑΣΙΑ ΕΞΑΜΗΝΟΥ 2026</a:t>
            </a:r>
            <a:endParaRPr dirty="0"/>
          </a:p>
        </p:txBody>
      </p:sp>
      <p:sp>
        <p:nvSpPr>
          <p:cNvPr id="87" name="Google Shape;87;p13"/>
          <p:cNvSpPr txBox="1"/>
          <p:nvPr/>
        </p:nvSpPr>
        <p:spPr>
          <a:xfrm>
            <a:off x="295275" y="777328"/>
            <a:ext cx="11601450" cy="1466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l-GR" sz="4800" b="1" i="0" u="none" strike="noStrike" cap="none" dirty="0">
                <a:solidFill>
                  <a:srgbClr val="F1F5F9"/>
                </a:solidFill>
                <a:latin typeface="Urbanist"/>
                <a:ea typeface="Urbanist"/>
                <a:cs typeface="Urbanist"/>
                <a:sym typeface="Urbanist"/>
              </a:rPr>
              <a:t>Διαχείριση Δεδομένων για Σχεσιακές και μη Σχεσιακές Βάσεις Δεδομένων</a:t>
            </a:r>
            <a:endParaRPr dirty="0"/>
          </a:p>
        </p:txBody>
      </p:sp>
      <p:sp>
        <p:nvSpPr>
          <p:cNvPr id="88" name="Google Shape;88;p13"/>
          <p:cNvSpPr txBox="1"/>
          <p:nvPr/>
        </p:nvSpPr>
        <p:spPr>
          <a:xfrm>
            <a:off x="571500" y="2634703"/>
            <a:ext cx="11049000" cy="3961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dirty="0">
                <a:solidFill>
                  <a:srgbClr val="CBD5E1"/>
                </a:solidFill>
                <a:latin typeface="Urbanist"/>
                <a:ea typeface="Urbanist"/>
                <a:cs typeface="Urbanist"/>
                <a:sym typeface="Urbanist"/>
              </a:rPr>
              <a:t>Διαχείριση Δεδομένων για Σχεσιακές και Μη-σχεσιακές Βάσεις Δεδομένων</a:t>
            </a:r>
            <a:endParaRPr dirty="0"/>
          </a:p>
        </p:txBody>
      </p:sp>
      <p:sp>
        <p:nvSpPr>
          <p:cNvPr id="89" name="Google Shape;89;p13"/>
          <p:cNvSpPr txBox="1"/>
          <p:nvPr/>
        </p:nvSpPr>
        <p:spPr>
          <a:xfrm>
            <a:off x="571500" y="4932015"/>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CBD5E1"/>
                </a:solidFill>
                <a:latin typeface="Urbanist"/>
                <a:ea typeface="Urbanist"/>
                <a:cs typeface="Urbanist"/>
                <a:sym typeface="Urbanist"/>
              </a:rPr>
              <a:t>Φοιτητές:</a:t>
            </a:r>
            <a:r>
              <a:rPr lang="en-US" sz="1500" b="0" i="0" u="none" strike="noStrike" cap="none">
                <a:solidFill>
                  <a:srgbClr val="CBD5E1"/>
                </a:solidFill>
                <a:latin typeface="Urbanist"/>
                <a:ea typeface="Urbanist"/>
                <a:cs typeface="Urbanist"/>
                <a:sym typeface="Urbanist"/>
              </a:rPr>
              <a:t> Παπακωνσταντίνου Αντώνιος - Κωστήρης Δημήτριος</a:t>
            </a:r>
            <a:endParaRPr/>
          </a:p>
        </p:txBody>
      </p:sp>
      <p:sp>
        <p:nvSpPr>
          <p:cNvPr id="90" name="Google Shape;90;p13"/>
          <p:cNvSpPr txBox="1"/>
          <p:nvPr/>
        </p:nvSpPr>
        <p:spPr>
          <a:xfrm>
            <a:off x="571500" y="5427315"/>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CBD5E1"/>
                </a:solidFill>
                <a:latin typeface="Urbanist"/>
                <a:ea typeface="Urbanist"/>
                <a:cs typeface="Urbanist"/>
                <a:sym typeface="Urbanist"/>
              </a:rPr>
              <a:t>Υπεύθυνος Καθηγητής:</a:t>
            </a:r>
            <a:r>
              <a:rPr lang="en-US" sz="1500" b="0" i="0" u="none" strike="noStrike" cap="none">
                <a:solidFill>
                  <a:srgbClr val="CBD5E1"/>
                </a:solidFill>
                <a:latin typeface="Urbanist"/>
                <a:ea typeface="Urbanist"/>
                <a:cs typeface="Urbanist"/>
                <a:sym typeface="Urbanist"/>
              </a:rPr>
              <a:t> Χ. Δουλκερίδης</a:t>
            </a:r>
            <a:endParaRPr/>
          </a:p>
        </p:txBody>
      </p:sp>
      <p:pic>
        <p:nvPicPr>
          <p:cNvPr id="3" name="Εικόνα 2" descr="Εικόνα που περιέχει ορθογώνιο παραλληλόγραμμο, σύμβολο, λογότυπο, σχεδίαση&#10;&#10;Το περιεχόμενο που δημιουργείται από AI ενδέχεται να είναι εσφαλμένο.">
            <a:extLst>
              <a:ext uri="{FF2B5EF4-FFF2-40B4-BE49-F238E27FC236}">
                <a16:creationId xmlns:a16="http://schemas.microsoft.com/office/drawing/2014/main" id="{3AEA7F89-E268-B3B4-057C-EB92712B7FF2}"/>
              </a:ext>
            </a:extLst>
          </p:cNvPr>
          <p:cNvPicPr>
            <a:picLocks noChangeAspect="1"/>
          </p:cNvPicPr>
          <p:nvPr/>
        </p:nvPicPr>
        <p:blipFill>
          <a:blip r:embed="rId5"/>
          <a:stretch>
            <a:fillRect/>
          </a:stretch>
        </p:blipFill>
        <p:spPr>
          <a:xfrm>
            <a:off x="571500" y="5041552"/>
            <a:ext cx="1381125" cy="13811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a:extLst>
            <a:ext uri="{FF2B5EF4-FFF2-40B4-BE49-F238E27FC236}">
              <a16:creationId xmlns:a16="http://schemas.microsoft.com/office/drawing/2014/main" id="{155A31A8-021F-7450-C91A-25E3746AA99D}"/>
            </a:ext>
          </a:extLst>
        </p:cNvPr>
        <p:cNvGrpSpPr/>
        <p:nvPr/>
      </p:nvGrpSpPr>
      <p:grpSpPr>
        <a:xfrm>
          <a:off x="0" y="0"/>
          <a:ext cx="0" cy="0"/>
          <a:chOff x="0" y="0"/>
          <a:chExt cx="0" cy="0"/>
        </a:xfrm>
      </p:grpSpPr>
      <p:pic>
        <p:nvPicPr>
          <p:cNvPr id="84" name="Google Shape;84;p13" descr="image.png">
            <a:extLst>
              <a:ext uri="{FF2B5EF4-FFF2-40B4-BE49-F238E27FC236}">
                <a16:creationId xmlns:a16="http://schemas.microsoft.com/office/drawing/2014/main" id="{4DF2D1E5-565F-7DBA-30FB-095314691A1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 name="Title 1">
            <a:extLst>
              <a:ext uri="{FF2B5EF4-FFF2-40B4-BE49-F238E27FC236}">
                <a16:creationId xmlns:a16="http://schemas.microsoft.com/office/drawing/2014/main" id="{71E2576D-C3BC-B12E-355E-260AA997ED36}"/>
              </a:ext>
            </a:extLst>
          </p:cNvPr>
          <p:cNvSpPr txBox="1">
            <a:spLocks/>
          </p:cNvSpPr>
          <p:nvPr/>
        </p:nvSpPr>
        <p:spPr>
          <a:xfrm>
            <a:off x="1981200" y="0"/>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l-GR" sz="4400" b="0" i="0" u="none" strike="noStrike" kern="1200" cap="none" spc="0" normalizeH="0" baseline="0" noProof="0" dirty="0">
                <a:ln>
                  <a:noFill/>
                </a:ln>
                <a:solidFill>
                  <a:schemeClr val="bg1"/>
                </a:solidFill>
                <a:effectLst/>
                <a:uLnTx/>
                <a:uFillTx/>
                <a:latin typeface="Calibri"/>
                <a:ea typeface="+mj-ea"/>
                <a:cs typeface="+mj-cs"/>
              </a:rPr>
              <a:t>Στόχος και Πλαίσιο της Εργασίας</a:t>
            </a:r>
          </a:p>
        </p:txBody>
      </p:sp>
      <p:sp>
        <p:nvSpPr>
          <p:cNvPr id="6" name="Content Placeholder 2">
            <a:extLst>
              <a:ext uri="{FF2B5EF4-FFF2-40B4-BE49-F238E27FC236}">
                <a16:creationId xmlns:a16="http://schemas.microsoft.com/office/drawing/2014/main" id="{F692BD78-3189-532A-D01C-077AD7679C0C}"/>
              </a:ext>
            </a:extLst>
          </p:cNvPr>
          <p:cNvSpPr txBox="1">
            <a:spLocks/>
          </p:cNvSpPr>
          <p:nvPr/>
        </p:nvSpPr>
        <p:spPr>
          <a:xfrm>
            <a:off x="457200" y="1600200"/>
            <a:ext cx="11229278"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l-GR" sz="2500" b="0" i="0" u="none" strike="noStrike" kern="1200" cap="none" spc="0" normalizeH="0" baseline="0" noProof="0" dirty="0">
                <a:ln>
                  <a:noFill/>
                </a:ln>
                <a:solidFill>
                  <a:schemeClr val="bg1"/>
                </a:solidFill>
                <a:effectLst/>
                <a:uLnTx/>
                <a:uFillTx/>
                <a:latin typeface="Calibri"/>
                <a:ea typeface="+mn-ea"/>
                <a:cs typeface="+mn-cs"/>
              </a:rPr>
              <a:t>Τα δεδομένα AIS αποτελούν μεγάλης κλίμακας χωροχρονικά δεδομένα.</a:t>
            </a:r>
          </a:p>
          <a:p>
            <a:pPr lvl="1" indent="-342900">
              <a:buClrTx/>
              <a:buFont typeface="Wingdings" panose="05000000000000000000" pitchFamily="2" charset="2"/>
              <a:buChar char="Ø"/>
            </a:pPr>
            <a:r>
              <a:rPr lang="el-GR" sz="1900" dirty="0">
                <a:solidFill>
                  <a:schemeClr val="bg1"/>
                </a:solidFill>
              </a:rPr>
              <a:t>Όχι μόνο λόγω όγκου, αλλά κυρίως λόγω του συνδυασμού τεσσάρων χαρακτηριστικών: </a:t>
            </a:r>
          </a:p>
          <a:p>
            <a:pPr marL="400050" lvl="1" indent="0">
              <a:buClrTx/>
              <a:buNone/>
            </a:pPr>
            <a:r>
              <a:rPr lang="el-GR" sz="1900" dirty="0">
                <a:solidFill>
                  <a:schemeClr val="bg1"/>
                </a:solidFill>
              </a:rPr>
              <a:t>	    όγκος, ρυθμός παραγωγής, πολυπλοκότητα και τρόπος επεξεργασίας.</a:t>
            </a:r>
            <a:endParaRPr kumimoji="0" lang="el-GR" sz="1900" i="0" u="none" strike="noStrike" kern="1200" cap="none" spc="0" normalizeH="0" baseline="0" noProof="0" dirty="0">
              <a:ln>
                <a:noFill/>
              </a:ln>
              <a:solidFill>
                <a:schemeClr val="bg1"/>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None/>
              <a:tabLst/>
              <a:defRPr/>
            </a:pPr>
            <a:endParaRPr kumimoji="0" lang="el-GR" sz="3200" b="0" i="0" u="none" strike="noStrike" kern="1200" cap="none" spc="0" normalizeH="0" baseline="0" noProof="0" dirty="0">
              <a:ln>
                <a:noFill/>
              </a:ln>
              <a:solidFill>
                <a:schemeClr val="bg1"/>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None/>
              <a:tabLst/>
              <a:defRPr/>
            </a:pPr>
            <a:endParaRPr kumimoji="0" lang="el-GR" sz="3200" b="0" i="0" u="none" strike="noStrike" kern="1200" cap="none" spc="0" normalizeH="0" baseline="0" noProof="0" dirty="0">
              <a:ln>
                <a:noFill/>
              </a:ln>
              <a:solidFill>
                <a:schemeClr val="bg1"/>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l-GR" sz="2500" b="0" i="0" u="none" strike="noStrike" kern="1200" cap="none" spc="0" normalizeH="0" baseline="0" noProof="0" dirty="0">
                <a:ln>
                  <a:noFill/>
                </a:ln>
                <a:solidFill>
                  <a:schemeClr val="bg1"/>
                </a:solidFill>
                <a:effectLst/>
                <a:uLnTx/>
                <a:uFillTx/>
                <a:latin typeface="Calibri"/>
                <a:ea typeface="+mn-ea"/>
                <a:cs typeface="+mn-cs"/>
              </a:rPr>
              <a:t>Η εργασία εστιάζει στη σχεδίαση και υλοποίηση μιας βάσης MongoDB για την αποδοτική αποθήκευση και ανάλυση τροχιών πλοίων, με αξιοποίηση τεχνικών NoSQL.</a:t>
            </a:r>
          </a:p>
        </p:txBody>
      </p:sp>
    </p:spTree>
    <p:extLst>
      <p:ext uri="{BB962C8B-B14F-4D97-AF65-F5344CB8AC3E}">
        <p14:creationId xmlns:p14="http://schemas.microsoft.com/office/powerpoint/2010/main" val="226301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4"/>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3429000" y="1923305"/>
            <a:ext cx="5334000" cy="4305300"/>
          </a:xfrm>
          <a:prstGeom prst="rect">
            <a:avLst/>
          </a:prstGeom>
          <a:noFill/>
          <a:ln>
            <a:noFill/>
          </a:ln>
        </p:spPr>
      </p:pic>
      <p:sp>
        <p:nvSpPr>
          <p:cNvPr id="106" name="Google Shape;106;p14"/>
          <p:cNvSpPr txBox="1"/>
          <p:nvPr/>
        </p:nvSpPr>
        <p:spPr>
          <a:xfrm>
            <a:off x="5100447" y="2244886"/>
            <a:ext cx="4980622"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38BDF8"/>
                </a:solidFill>
                <a:latin typeface="Urbanist"/>
                <a:ea typeface="Urbanist"/>
                <a:cs typeface="Urbanist"/>
                <a:sym typeface="Urbanist"/>
              </a:rPr>
              <a:t>Κεντρικός Στόχος</a:t>
            </a:r>
            <a:endParaRPr dirty="0"/>
          </a:p>
        </p:txBody>
      </p:sp>
      <p:sp>
        <p:nvSpPr>
          <p:cNvPr id="107" name="Google Shape;107;p14"/>
          <p:cNvSpPr txBox="1"/>
          <p:nvPr/>
        </p:nvSpPr>
        <p:spPr>
          <a:xfrm>
            <a:off x="3724275" y="3429000"/>
            <a:ext cx="4743450"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CBD5E1"/>
                </a:solidFill>
                <a:latin typeface="Urbanist"/>
                <a:ea typeface="Urbanist"/>
                <a:cs typeface="Urbanist"/>
                <a:sym typeface="Urbanist"/>
              </a:rPr>
              <a:t>Η μετάβαση από την απλή απ</a:t>
            </a:r>
            <a:r>
              <a:rPr lang="en-US" sz="1500" b="0" i="0" u="none" strike="noStrike" cap="none" dirty="0" err="1">
                <a:solidFill>
                  <a:srgbClr val="CBD5E1"/>
                </a:solidFill>
                <a:latin typeface="Urbanist"/>
                <a:ea typeface="Urbanist"/>
                <a:cs typeface="Urbanist"/>
                <a:sym typeface="Urbanist"/>
              </a:rPr>
              <a:t>οθήκευση</a:t>
            </a:r>
            <a:r>
              <a:rPr lang="en-US" sz="1500" b="0" i="0" u="none" strike="noStrike" cap="none" dirty="0">
                <a:solidFill>
                  <a:srgbClr val="CBD5E1"/>
                </a:solidFill>
                <a:latin typeface="Urbanist"/>
                <a:ea typeface="Urbanist"/>
                <a:cs typeface="Urbanist"/>
                <a:sym typeface="Urbanist"/>
              </a:rPr>
              <a:t> AIS</a:t>
            </a:r>
            <a:r>
              <a:rPr lang="el-GR" sz="1500" b="0" i="0" u="none" strike="noStrike" cap="none" dirty="0">
                <a:solidFill>
                  <a:srgbClr val="CBD5E1"/>
                </a:solidFill>
                <a:latin typeface="Urbanist"/>
                <a:ea typeface="Urbanist"/>
                <a:cs typeface="Urbanist"/>
                <a:sym typeface="Urbanist"/>
              </a:rPr>
              <a:t> δεδομένων και</a:t>
            </a:r>
            <a:r>
              <a:rPr lang="en-US" sz="1500" b="0" i="0" u="none" strike="noStrike" cap="none" dirty="0">
                <a:solidFill>
                  <a:srgbClr val="CBD5E1"/>
                </a:solidFill>
                <a:latin typeface="Urbanist"/>
                <a:ea typeface="Urbanist"/>
                <a:cs typeface="Urbanist"/>
                <a:sym typeface="Urbanist"/>
              </a:rPr>
              <a:t> καταγραφών στη μοντελοποίηση σύνθετων χωροχρονικών αντικειμένων (Τροχιών) σε περιβάλλον MongoDB.</a:t>
            </a:r>
            <a:endParaRPr lang="el-GR" sz="1500" b="0" i="0" u="none" strike="noStrike" cap="none" dirty="0">
              <a:solidFill>
                <a:srgbClr val="CBD5E1"/>
              </a:solidFill>
              <a:latin typeface="Urbanist"/>
              <a:ea typeface="Urbanist"/>
              <a:cs typeface="Urbanist"/>
              <a:sym typeface="Urbanist"/>
            </a:endParaRPr>
          </a:p>
          <a:p>
            <a:pPr marL="0" marR="0" lvl="0" indent="0" algn="l" rtl="0">
              <a:lnSpc>
                <a:spcPct val="160000"/>
              </a:lnSpc>
              <a:spcBef>
                <a:spcPts val="0"/>
              </a:spcBef>
              <a:spcAft>
                <a:spcPts val="0"/>
              </a:spcAft>
              <a:buNone/>
            </a:pPr>
            <a:endParaRPr lang="el-GR" sz="1500" b="0" i="0" u="none" strike="noStrike" cap="none" dirty="0">
              <a:solidFill>
                <a:srgbClr val="CBD5E1"/>
              </a:solidFill>
              <a:latin typeface="Urbanist"/>
              <a:ea typeface="Urbanist"/>
              <a:cs typeface="Urbanist"/>
              <a:sym typeface="Urbanist"/>
            </a:endParaRPr>
          </a:p>
        </p:txBody>
      </p:sp>
      <p:pic>
        <p:nvPicPr>
          <p:cNvPr id="109" name="Google Shape;109;p14" descr="image.png"/>
          <p:cNvPicPr preferRelativeResize="0"/>
          <p:nvPr/>
        </p:nvPicPr>
        <p:blipFill rotWithShape="1">
          <a:blip r:embed="rId4">
            <a:alphaModFix/>
          </a:blip>
          <a:srcRect/>
          <a:stretch/>
        </p:blipFill>
        <p:spPr>
          <a:xfrm>
            <a:off x="3536823" y="2247155"/>
            <a:ext cx="381000" cy="381000"/>
          </a:xfrm>
          <a:prstGeom prst="rect">
            <a:avLst/>
          </a:prstGeom>
          <a:noFill/>
          <a:ln>
            <a:noFill/>
          </a:ln>
        </p:spPr>
      </p:pic>
      <p:sp>
        <p:nvSpPr>
          <p:cNvPr id="120" name="Google Shape;120;p14"/>
          <p:cNvSpPr txBox="1"/>
          <p:nvPr/>
        </p:nvSpPr>
        <p:spPr>
          <a:xfrm>
            <a:off x="395287" y="959293"/>
            <a:ext cx="11401425"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l-GR" sz="3150" b="1" i="0" u="none" strike="noStrike" cap="none" dirty="0">
                <a:solidFill>
                  <a:srgbClr val="2DD4BF"/>
                </a:solidFill>
                <a:latin typeface="Poppins"/>
                <a:ea typeface="Poppins"/>
                <a:cs typeface="Poppins"/>
                <a:sym typeface="Poppins"/>
              </a:rPr>
              <a:t>ΚΕΝΤΡΙΚΟΣ </a:t>
            </a:r>
            <a:r>
              <a:rPr lang="en-US" sz="3150" b="1" i="0" u="none" strike="noStrike" cap="none" dirty="0">
                <a:solidFill>
                  <a:srgbClr val="2DD4BF"/>
                </a:solidFill>
                <a:latin typeface="Poppins"/>
                <a:ea typeface="Poppins"/>
                <a:cs typeface="Poppins"/>
                <a:sym typeface="Poppins"/>
              </a:rPr>
              <a:t>ΣΤΌΧΟΣ</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4">
          <a:extLst>
            <a:ext uri="{FF2B5EF4-FFF2-40B4-BE49-F238E27FC236}">
              <a16:creationId xmlns:a16="http://schemas.microsoft.com/office/drawing/2014/main" id="{5F2C061C-F9E0-3CF8-E748-E4C0FA105BA4}"/>
            </a:ext>
          </a:extLst>
        </p:cNvPr>
        <p:cNvGrpSpPr/>
        <p:nvPr/>
      </p:nvGrpSpPr>
      <p:grpSpPr>
        <a:xfrm>
          <a:off x="0" y="0"/>
          <a:ext cx="0" cy="0"/>
          <a:chOff x="0" y="0"/>
          <a:chExt cx="0" cy="0"/>
        </a:xfrm>
      </p:grpSpPr>
      <p:pic>
        <p:nvPicPr>
          <p:cNvPr id="96" name="Google Shape;96;p14" descr="image.png">
            <a:extLst>
              <a:ext uri="{FF2B5EF4-FFF2-40B4-BE49-F238E27FC236}">
                <a16:creationId xmlns:a16="http://schemas.microsoft.com/office/drawing/2014/main" id="{9E8CE915-BD63-C5BF-2FBC-BAF94E2A0DF6}"/>
              </a:ext>
            </a:extLst>
          </p:cNvPr>
          <p:cNvPicPr preferRelativeResize="0"/>
          <p:nvPr/>
        </p:nvPicPr>
        <p:blipFill rotWithShape="1">
          <a:blip r:embed="rId3">
            <a:alphaModFix/>
          </a:blip>
          <a:srcRect/>
          <a:stretch/>
        </p:blipFill>
        <p:spPr>
          <a:xfrm>
            <a:off x="3429000" y="1923305"/>
            <a:ext cx="5334000" cy="4305300"/>
          </a:xfrm>
          <a:prstGeom prst="rect">
            <a:avLst/>
          </a:prstGeom>
          <a:noFill/>
          <a:ln>
            <a:noFill/>
          </a:ln>
        </p:spPr>
      </p:pic>
      <p:sp>
        <p:nvSpPr>
          <p:cNvPr id="111" name="Google Shape;111;p14">
            <a:extLst>
              <a:ext uri="{FF2B5EF4-FFF2-40B4-BE49-F238E27FC236}">
                <a16:creationId xmlns:a16="http://schemas.microsoft.com/office/drawing/2014/main" id="{2E8D9C24-E972-B7B0-7D37-B2DD52DF4F85}"/>
              </a:ext>
            </a:extLst>
          </p:cNvPr>
          <p:cNvSpPr txBox="1"/>
          <p:nvPr/>
        </p:nvSpPr>
        <p:spPr>
          <a:xfrm>
            <a:off x="3914775" y="3002183"/>
            <a:ext cx="4362450" cy="2560701"/>
          </a:xfrm>
          <a:prstGeom prst="rect">
            <a:avLst/>
          </a:prstGeom>
          <a:noFill/>
          <a:ln>
            <a:noFill/>
          </a:ln>
        </p:spPr>
        <p:txBody>
          <a:bodyPr spcFirstLastPara="1" wrap="square" lIns="38100" tIns="0" rIns="0" bIns="0" anchor="t" anchorCtr="0">
            <a:spAutoFit/>
          </a:bodyPr>
          <a:lstStyle/>
          <a:p>
            <a:pPr marL="285750" marR="0" lvl="0" indent="-285750" algn="l" defTabSz="914400" rtl="0" eaLnBrk="1" fontAlgn="auto" latinLnBrk="0" hangingPunct="1">
              <a:lnSpc>
                <a:spcPct val="160000"/>
              </a:lnSpc>
              <a:spcBef>
                <a:spcPts val="0"/>
              </a:spcBef>
              <a:spcAft>
                <a:spcPts val="0"/>
              </a:spcAft>
              <a:buClr>
                <a:srgbClr val="000000"/>
              </a:buClr>
              <a:buSzTx/>
              <a:buFont typeface="Arial" panose="020B0604020202020204" pitchFamily="34" charset="0"/>
              <a:buChar char="•"/>
              <a:tabLst/>
              <a:defRPr/>
            </a:pPr>
            <a:r>
              <a:rPr lang="el-GR" sz="1500" dirty="0">
                <a:solidFill>
                  <a:srgbClr val="FFFFFF"/>
                </a:solidFill>
                <a:latin typeface="Urbanist"/>
                <a:ea typeface="Urbanist"/>
                <a:cs typeface="Urbanist"/>
                <a:sym typeface="Urbanist"/>
              </a:rPr>
              <a:t>Επεξεργασία δ</a:t>
            </a:r>
            <a:r>
              <a:rPr kumimoji="0" lang="el-GR" sz="1500" b="0" i="0" u="none" strike="noStrike" kern="0" cap="none" spc="0" normalizeH="0" baseline="0" noProof="0" dirty="0" err="1">
                <a:ln>
                  <a:noFill/>
                </a:ln>
                <a:solidFill>
                  <a:srgbClr val="FFFFFF"/>
                </a:solidFill>
                <a:effectLst/>
                <a:uLnTx/>
                <a:uFillTx/>
                <a:latin typeface="Urbanist"/>
                <a:ea typeface="Urbanist"/>
                <a:cs typeface="Urbanist"/>
                <a:sym typeface="Urbanist"/>
              </a:rPr>
              <a:t>εδομένων</a:t>
            </a:r>
            <a:r>
              <a:rPr kumimoji="0" lang="el-GR" sz="1500" b="0" i="0" u="none" strike="noStrike" kern="0" cap="none" spc="0" normalizeH="0" baseline="0" noProof="0" dirty="0">
                <a:ln>
                  <a:noFill/>
                </a:ln>
                <a:solidFill>
                  <a:srgbClr val="FFFFFF"/>
                </a:solidFill>
                <a:effectLst/>
                <a:uLnTx/>
                <a:uFillTx/>
                <a:latin typeface="Urbanist"/>
                <a:ea typeface="Urbanist"/>
                <a:cs typeface="Urbanist"/>
                <a:sym typeface="Urbanist"/>
              </a:rPr>
              <a:t> για πλοία για το λιμάνι του Π</a:t>
            </a:r>
            <a:r>
              <a:rPr kumimoji="0" lang="en-US" sz="1500" b="0" i="0" u="none" strike="noStrike" kern="0" cap="none" spc="0" normalizeH="0" baseline="0" noProof="0" dirty="0">
                <a:ln>
                  <a:noFill/>
                </a:ln>
                <a:solidFill>
                  <a:srgbClr val="FFFFFF"/>
                </a:solidFill>
                <a:effectLst/>
                <a:uLnTx/>
                <a:uFillTx/>
                <a:latin typeface="Urbanist"/>
                <a:ea typeface="Urbanist"/>
                <a:cs typeface="Urbanist"/>
                <a:sym typeface="Urbanist"/>
              </a:rPr>
              <a:t>ειρα</a:t>
            </a:r>
            <a:r>
              <a:rPr kumimoji="0" lang="en-US" sz="1500" b="0" i="0" u="none" strike="noStrike" kern="0" cap="none" spc="0" normalizeH="0" baseline="0" noProof="0" dirty="0" err="1">
                <a:ln>
                  <a:noFill/>
                </a:ln>
                <a:solidFill>
                  <a:srgbClr val="FFFFFF"/>
                </a:solidFill>
                <a:effectLst/>
                <a:uLnTx/>
                <a:uFillTx/>
                <a:latin typeface="Urbanist"/>
                <a:ea typeface="Urbanist"/>
                <a:cs typeface="Urbanist"/>
                <a:sym typeface="Urbanist"/>
              </a:rPr>
              <a:t>ιά</a:t>
            </a:r>
            <a:r>
              <a:rPr kumimoji="0" lang="el-GR" sz="1500" b="0" i="0" u="none" strike="noStrike" kern="0" cap="none" spc="0" normalizeH="0" baseline="0" noProof="0" dirty="0">
                <a:ln>
                  <a:noFill/>
                </a:ln>
                <a:solidFill>
                  <a:srgbClr val="FFFFFF"/>
                </a:solidFill>
                <a:effectLst/>
                <a:uLnTx/>
                <a:uFillTx/>
                <a:latin typeface="Urbanist"/>
                <a:ea typeface="Urbanist"/>
                <a:cs typeface="Urbanist"/>
                <a:sym typeface="Urbanist"/>
              </a:rPr>
              <a:t> από το</a:t>
            </a:r>
            <a:r>
              <a:rPr kumimoji="0" lang="en-US" sz="1500" b="0" i="0" u="none" strike="noStrike" kern="0" cap="none" spc="0" normalizeH="0" baseline="0" noProof="0" dirty="0">
                <a:ln>
                  <a:noFill/>
                </a:ln>
                <a:solidFill>
                  <a:srgbClr val="FFFFFF"/>
                </a:solidFill>
                <a:effectLst/>
                <a:uLnTx/>
                <a:uFillTx/>
                <a:latin typeface="Urbanist"/>
                <a:ea typeface="Urbanist"/>
                <a:cs typeface="Urbanist"/>
                <a:sym typeface="Urbanist"/>
              </a:rPr>
              <a:t> 2017</a:t>
            </a:r>
            <a:r>
              <a:rPr kumimoji="0" lang="el-GR" sz="1500" b="0" i="0" u="none" strike="noStrike" kern="0" cap="none" spc="0" normalizeH="0" baseline="0" noProof="0" dirty="0">
                <a:ln>
                  <a:noFill/>
                </a:ln>
                <a:solidFill>
                  <a:srgbClr val="FFFFFF"/>
                </a:solidFill>
                <a:effectLst/>
                <a:uLnTx/>
                <a:uFillTx/>
                <a:latin typeface="Urbanist"/>
                <a:ea typeface="Urbanist"/>
                <a:cs typeface="Urbanist"/>
                <a:sym typeface="Urbanist"/>
              </a:rPr>
              <a:t> έως το </a:t>
            </a:r>
            <a:r>
              <a:rPr kumimoji="0" lang="en-US" sz="1500" b="0" i="0" u="none" strike="noStrike" kern="0" cap="none" spc="0" normalizeH="0" baseline="0" noProof="0" dirty="0">
                <a:ln>
                  <a:noFill/>
                </a:ln>
                <a:solidFill>
                  <a:srgbClr val="FFFFFF"/>
                </a:solidFill>
                <a:effectLst/>
                <a:uLnTx/>
                <a:uFillTx/>
                <a:latin typeface="Urbanist"/>
                <a:ea typeface="Urbanist"/>
                <a:cs typeface="Urbanist"/>
                <a:sym typeface="Urbanist"/>
              </a:rPr>
              <a:t>2019.</a:t>
            </a:r>
            <a:endParaRPr kumimoji="0" lang="el-GR" sz="1500" b="0" i="0" u="none" strike="noStrike" kern="0" cap="none" spc="0" normalizeH="0" baseline="0" noProof="0" dirty="0">
              <a:ln>
                <a:noFill/>
              </a:ln>
              <a:solidFill>
                <a:srgbClr val="FFFFFF"/>
              </a:solidFill>
              <a:effectLst/>
              <a:uLnTx/>
              <a:uFillTx/>
              <a:latin typeface="Urbanist"/>
              <a:ea typeface="Urbanist"/>
              <a:cs typeface="Urbanist"/>
              <a:sym typeface="Urbanist"/>
            </a:endParaRPr>
          </a:p>
          <a:p>
            <a:pPr marL="285750" marR="0" lvl="0" indent="-285750" algn="l" defTabSz="914400" rtl="0" eaLnBrk="1" fontAlgn="auto" latinLnBrk="0" hangingPunct="1">
              <a:lnSpc>
                <a:spcPct val="160000"/>
              </a:lnSpc>
              <a:spcBef>
                <a:spcPts val="0"/>
              </a:spcBef>
              <a:spcAft>
                <a:spcPts val="0"/>
              </a:spcAft>
              <a:buClr>
                <a:srgbClr val="000000"/>
              </a:buClr>
              <a:buSzTx/>
              <a:buFont typeface="Arial" panose="020B0604020202020204" pitchFamily="34" charset="0"/>
              <a:buChar char="•"/>
              <a:tabLst/>
              <a:defRPr/>
            </a:pPr>
            <a:r>
              <a:rPr kumimoji="0" lang="el-GR" sz="1500" b="0" i="0" u="none" strike="noStrike" kern="0" cap="none" spc="0" normalizeH="0" baseline="0" noProof="0" dirty="0">
                <a:ln>
                  <a:noFill/>
                </a:ln>
                <a:solidFill>
                  <a:schemeClr val="bg1"/>
                </a:solidFill>
                <a:effectLst/>
                <a:uLnTx/>
                <a:uFillTx/>
                <a:latin typeface="Urbanist"/>
                <a:ea typeface="Urbanist"/>
                <a:cs typeface="Urbanist"/>
                <a:sym typeface="Urbanist"/>
              </a:rPr>
              <a:t>Εμπλουτισμός με μετεωρολογικά δεδομένα.</a:t>
            </a:r>
          </a:p>
          <a:p>
            <a:pPr marL="285750" marR="0" lvl="0" indent="-285750" algn="l" defTabSz="914400" rtl="0" eaLnBrk="1" fontAlgn="auto" latinLnBrk="0" hangingPunct="1">
              <a:lnSpc>
                <a:spcPct val="160000"/>
              </a:lnSpc>
              <a:spcBef>
                <a:spcPts val="0"/>
              </a:spcBef>
              <a:spcAft>
                <a:spcPts val="0"/>
              </a:spcAft>
              <a:buClr>
                <a:srgbClr val="000000"/>
              </a:buClr>
              <a:buSzTx/>
              <a:buFont typeface="Arial" panose="020B0604020202020204" pitchFamily="34" charset="0"/>
              <a:buChar char="•"/>
              <a:tabLst/>
              <a:defRPr/>
            </a:pPr>
            <a:r>
              <a:rPr lang="el-GR" sz="1500" dirty="0">
                <a:solidFill>
                  <a:schemeClr val="bg1"/>
                </a:solidFill>
                <a:latin typeface="Urbanist"/>
                <a:ea typeface="Urbanist"/>
                <a:cs typeface="Urbanist"/>
                <a:sym typeface="Urbanist"/>
              </a:rPr>
              <a:t>Δημιουργία των τροχιών</a:t>
            </a:r>
          </a:p>
          <a:p>
            <a:pPr marL="285750" marR="0" lvl="0" indent="-285750" algn="l" defTabSz="914400" rtl="0" eaLnBrk="1" fontAlgn="auto" latinLnBrk="0" hangingPunct="1">
              <a:lnSpc>
                <a:spcPct val="160000"/>
              </a:lnSpc>
              <a:spcBef>
                <a:spcPts val="0"/>
              </a:spcBef>
              <a:spcAft>
                <a:spcPts val="0"/>
              </a:spcAft>
              <a:buClr>
                <a:srgbClr val="000000"/>
              </a:buClr>
              <a:buSzTx/>
              <a:buFont typeface="Arial" panose="020B0604020202020204" pitchFamily="34" charset="0"/>
              <a:buChar char="•"/>
              <a:tabLst/>
              <a:defRPr/>
            </a:pPr>
            <a:r>
              <a:rPr kumimoji="0" lang="el-GR" sz="1500" b="0" i="0" u="none" strike="noStrike" kern="0" cap="none" spc="0" normalizeH="0" baseline="0" noProof="0" dirty="0">
                <a:ln>
                  <a:noFill/>
                </a:ln>
                <a:solidFill>
                  <a:schemeClr val="bg1"/>
                </a:solidFill>
                <a:effectLst/>
                <a:uLnTx/>
                <a:uFillTx/>
                <a:latin typeface="Urbanist"/>
                <a:ea typeface="Urbanist"/>
                <a:cs typeface="Urbanist"/>
                <a:sym typeface="Urbanist"/>
              </a:rPr>
              <a:t>Αποθήκευση τροχιών στην βάση μας</a:t>
            </a:r>
          </a:p>
          <a:p>
            <a:pPr marL="285750" marR="0" lvl="0" indent="-285750" algn="l" defTabSz="914400" rtl="0" eaLnBrk="1" fontAlgn="auto" latinLnBrk="0" hangingPunct="1">
              <a:lnSpc>
                <a:spcPct val="160000"/>
              </a:lnSpc>
              <a:spcBef>
                <a:spcPts val="0"/>
              </a:spcBef>
              <a:spcAft>
                <a:spcPts val="0"/>
              </a:spcAft>
              <a:buClr>
                <a:srgbClr val="000000"/>
              </a:buClr>
              <a:buSzTx/>
              <a:buFont typeface="Arial" panose="020B0604020202020204" pitchFamily="34" charset="0"/>
              <a:buChar char="•"/>
              <a:tabLst/>
              <a:defRPr/>
            </a:pPr>
            <a:r>
              <a:rPr lang="el-GR" sz="1500" dirty="0">
                <a:solidFill>
                  <a:schemeClr val="bg1"/>
                </a:solidFill>
                <a:latin typeface="Urbanist"/>
                <a:ea typeface="Urbanist"/>
                <a:cs typeface="Urbanist"/>
                <a:sym typeface="Urbanist"/>
              </a:rPr>
              <a:t>Αποδοτική εκτέλεση σύνθετων ερωτημάτων</a:t>
            </a:r>
            <a:endParaRPr kumimoji="0" lang="el-GR" sz="1500" b="0" i="0" u="none" strike="noStrike" kern="0" cap="none" spc="0" normalizeH="0" baseline="0" noProof="0" dirty="0">
              <a:ln>
                <a:noFill/>
              </a:ln>
              <a:solidFill>
                <a:schemeClr val="bg1"/>
              </a:solidFill>
              <a:effectLst/>
              <a:uLnTx/>
              <a:uFillTx/>
              <a:latin typeface="Arial"/>
              <a:cs typeface="Arial"/>
              <a:sym typeface="Arial"/>
            </a:endParaRPr>
          </a:p>
          <a:p>
            <a:pPr marL="285750" marR="0" lvl="0" indent="-285750" algn="l" defTabSz="914400" rtl="0" eaLnBrk="1" fontAlgn="auto" latinLnBrk="0" hangingPunct="1">
              <a:lnSpc>
                <a:spcPct val="160000"/>
              </a:lnSpc>
              <a:spcBef>
                <a:spcPts val="0"/>
              </a:spcBef>
              <a:spcAft>
                <a:spcPts val="0"/>
              </a:spcAft>
              <a:buClr>
                <a:srgbClr val="000000"/>
              </a:buClr>
              <a:buSzTx/>
              <a:buFont typeface="Arial" panose="020B0604020202020204" pitchFamily="34" charset="0"/>
              <a:buChar char="•"/>
              <a:tabLst/>
              <a:defRPr/>
            </a:pPr>
            <a:endParaRPr kumimoji="0" sz="1400" b="0" i="0" u="none" strike="noStrike" kern="0" cap="none" spc="0" normalizeH="0" baseline="0" noProof="0" dirty="0">
              <a:ln>
                <a:noFill/>
              </a:ln>
              <a:solidFill>
                <a:srgbClr val="FFFFFF"/>
              </a:solidFill>
              <a:effectLst/>
              <a:uLnTx/>
              <a:uFillTx/>
              <a:latin typeface="Arial"/>
              <a:cs typeface="Arial"/>
              <a:sym typeface="Arial"/>
            </a:endParaRPr>
          </a:p>
        </p:txBody>
      </p:sp>
      <p:sp>
        <p:nvSpPr>
          <p:cNvPr id="120" name="Google Shape;120;p14">
            <a:extLst>
              <a:ext uri="{FF2B5EF4-FFF2-40B4-BE49-F238E27FC236}">
                <a16:creationId xmlns:a16="http://schemas.microsoft.com/office/drawing/2014/main" id="{B55E0561-054E-648E-1A62-73E008BC435B}"/>
              </a:ext>
            </a:extLst>
          </p:cNvPr>
          <p:cNvSpPr txBox="1"/>
          <p:nvPr/>
        </p:nvSpPr>
        <p:spPr>
          <a:xfrm>
            <a:off x="395287" y="976250"/>
            <a:ext cx="11401425" cy="48474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ΒΑΣΙΚΑ ΒΗΜΑΤΑ</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 name="Google Shape;111;p14">
            <a:extLst>
              <a:ext uri="{FF2B5EF4-FFF2-40B4-BE49-F238E27FC236}">
                <a16:creationId xmlns:a16="http://schemas.microsoft.com/office/drawing/2014/main" id="{452D718E-224B-E59C-DE5F-0E266F63B799}"/>
              </a:ext>
            </a:extLst>
          </p:cNvPr>
          <p:cNvSpPr txBox="1"/>
          <p:nvPr/>
        </p:nvSpPr>
        <p:spPr>
          <a:xfrm>
            <a:off x="3914775" y="2217607"/>
            <a:ext cx="4362450" cy="344710"/>
          </a:xfrm>
          <a:prstGeom prst="rect">
            <a:avLst/>
          </a:prstGeom>
          <a:noFill/>
          <a:ln>
            <a:noFill/>
          </a:ln>
        </p:spPr>
        <p:txBody>
          <a:bodyPr spcFirstLastPara="1" wrap="square" lIns="38100" tIns="0" rIns="0" bIns="0" anchor="t" anchorCtr="0">
            <a:spAutoFit/>
          </a:bodyPr>
          <a:lstStyle/>
          <a:p>
            <a:pPr marR="0" lvl="0" algn="l" defTabSz="914400" rtl="0" eaLnBrk="1" fontAlgn="auto" latinLnBrk="0" hangingPunct="1">
              <a:lnSpc>
                <a:spcPct val="160000"/>
              </a:lnSpc>
              <a:spcBef>
                <a:spcPts val="0"/>
              </a:spcBef>
              <a:spcAft>
                <a:spcPts val="0"/>
              </a:spcAft>
              <a:buClr>
                <a:srgbClr val="000000"/>
              </a:buClr>
              <a:buSzTx/>
              <a:tabLst/>
              <a:defRPr/>
            </a:pPr>
            <a:r>
              <a:rPr lang="el-GR" dirty="0">
                <a:solidFill>
                  <a:srgbClr val="FFFFFF"/>
                </a:solidFill>
              </a:rPr>
              <a:t>Περιληπτικά , αυτό που θα υλοποιηθεί είναι το εξής:</a:t>
            </a:r>
            <a:endParaRPr kumimoji="0" sz="1400" b="0" i="0" u="none" strike="noStrike" kern="0" cap="none" spc="0" normalizeH="0" baseline="0" noProof="0" dirty="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030469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5">
          <a:extLst>
            <a:ext uri="{FF2B5EF4-FFF2-40B4-BE49-F238E27FC236}">
              <a16:creationId xmlns:a16="http://schemas.microsoft.com/office/drawing/2014/main" id="{8519532F-D242-609A-8EBD-49972A5B9A8D}"/>
            </a:ext>
          </a:extLst>
        </p:cNvPr>
        <p:cNvGrpSpPr/>
        <p:nvPr/>
      </p:nvGrpSpPr>
      <p:grpSpPr>
        <a:xfrm>
          <a:off x="0" y="0"/>
          <a:ext cx="0" cy="0"/>
          <a:chOff x="0" y="0"/>
          <a:chExt cx="0" cy="0"/>
        </a:xfrm>
      </p:grpSpPr>
      <p:sp>
        <p:nvSpPr>
          <p:cNvPr id="129" name="Google Shape;129;p15">
            <a:extLst>
              <a:ext uri="{FF2B5EF4-FFF2-40B4-BE49-F238E27FC236}">
                <a16:creationId xmlns:a16="http://schemas.microsoft.com/office/drawing/2014/main" id="{C99C45BB-52C3-CCF3-0F07-AF1B992E7EE6}"/>
              </a:ext>
            </a:extLst>
          </p:cNvPr>
          <p:cNvSpPr txBox="1"/>
          <p:nvPr/>
        </p:nvSpPr>
        <p:spPr>
          <a:xfrm>
            <a:off x="1264382" y="1527619"/>
            <a:ext cx="10186236" cy="3231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Τίτλος: "</a:t>
            </a:r>
            <a:r>
              <a:rPr kumimoji="0" lang="en-US" sz="2100" b="1" i="0" u="none" strike="noStrike" kern="0" cap="none" spc="0" normalizeH="0" baseline="0" noProof="0" dirty="0">
                <a:ln>
                  <a:noFill/>
                </a:ln>
                <a:solidFill>
                  <a:srgbClr val="38BDF8"/>
                </a:solidFill>
                <a:effectLst/>
                <a:uLnTx/>
                <a:uFillTx/>
                <a:latin typeface="Urbanist"/>
                <a:ea typeface="Urbanist"/>
                <a:cs typeface="Urbanist"/>
                <a:sym typeface="Urbanist"/>
              </a:rPr>
              <a:t>The Piraeus AIS dataset for large-scale maritime data analytics".</a:t>
            </a:r>
          </a:p>
        </p:txBody>
      </p:sp>
      <p:pic>
        <p:nvPicPr>
          <p:cNvPr id="131" name="Google Shape;131;p15" descr="image.png">
            <a:extLst>
              <a:ext uri="{FF2B5EF4-FFF2-40B4-BE49-F238E27FC236}">
                <a16:creationId xmlns:a16="http://schemas.microsoft.com/office/drawing/2014/main" id="{9ED3888A-BCF6-B749-52A9-289D68A8C431}"/>
              </a:ext>
            </a:extLst>
          </p:cNvPr>
          <p:cNvPicPr preferRelativeResize="0"/>
          <p:nvPr/>
        </p:nvPicPr>
        <p:blipFill rotWithShape="1">
          <a:blip r:embed="rId3">
            <a:alphaModFix/>
          </a:blip>
          <a:srcRect/>
          <a:stretch/>
        </p:blipFill>
        <p:spPr>
          <a:xfrm>
            <a:off x="656750" y="1498702"/>
            <a:ext cx="428625" cy="381000"/>
          </a:xfrm>
          <a:prstGeom prst="rect">
            <a:avLst/>
          </a:prstGeom>
          <a:noFill/>
          <a:ln>
            <a:noFill/>
          </a:ln>
        </p:spPr>
      </p:pic>
      <p:sp>
        <p:nvSpPr>
          <p:cNvPr id="139" name="Google Shape;139;p15">
            <a:extLst>
              <a:ext uri="{FF2B5EF4-FFF2-40B4-BE49-F238E27FC236}">
                <a16:creationId xmlns:a16="http://schemas.microsoft.com/office/drawing/2014/main" id="{CCDE9F0F-8430-88A8-0AF8-D326D5BCDC15}"/>
              </a:ext>
            </a:extLst>
          </p:cNvPr>
          <p:cNvSpPr txBox="1"/>
          <p:nvPr/>
        </p:nvSpPr>
        <p:spPr>
          <a:xfrm>
            <a:off x="656750" y="627310"/>
            <a:ext cx="11401500" cy="4848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Σχετικές εργασίες</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7" name="TextBox 6">
            <a:extLst>
              <a:ext uri="{FF2B5EF4-FFF2-40B4-BE49-F238E27FC236}">
                <a16:creationId xmlns:a16="http://schemas.microsoft.com/office/drawing/2014/main" id="{149580D6-DE6F-548A-9C79-C603D67F1367}"/>
              </a:ext>
            </a:extLst>
          </p:cNvPr>
          <p:cNvSpPr txBox="1"/>
          <p:nvPr/>
        </p:nvSpPr>
        <p:spPr>
          <a:xfrm>
            <a:off x="1957387" y="2064830"/>
            <a:ext cx="8277225" cy="4029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Συγγραφείς: </a:t>
            </a:r>
            <a:r>
              <a:rPr kumimoji="0" lang="en-US"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Andreas Tritsarolis, Yannis Kontoulis </a:t>
            </a:r>
            <a:r>
              <a:rPr kumimoji="0" 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και </a:t>
            </a:r>
            <a:r>
              <a:rPr kumimoji="0" lang="en-US"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Yannis Theodoridis.</a:t>
            </a:r>
            <a:endParaRPr kumimoji="0" 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endParaRPr>
          </a:p>
        </p:txBody>
      </p:sp>
      <p:sp>
        <p:nvSpPr>
          <p:cNvPr id="10" name="Rectangle 2">
            <a:extLst>
              <a:ext uri="{FF2B5EF4-FFF2-40B4-BE49-F238E27FC236}">
                <a16:creationId xmlns:a16="http://schemas.microsoft.com/office/drawing/2014/main" id="{34DCF217-9B85-C0A9-279C-72B90465C117}"/>
              </a:ext>
            </a:extLst>
          </p:cNvPr>
          <p:cNvSpPr>
            <a:spLocks noChangeArrowheads="1"/>
          </p:cNvSpPr>
          <p:nvPr/>
        </p:nvSpPr>
        <p:spPr bwMode="auto">
          <a:xfrm>
            <a:off x="502116" y="2694782"/>
            <a:ext cx="11187766" cy="3390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 typeface="Arial"/>
              <a:buNone/>
              <a:tabLst/>
              <a:defRPr/>
            </a:pPr>
            <a:endPar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Παρουσιάζεται ένα εκτενές, δημόσια διαθέσιμο dataset AIS για την ευρύτερη περιοχή του λιμένα Πειραιά.</a:t>
            </a:r>
          </a:p>
          <a:p>
            <a:pPr marL="457200" marR="0" lvl="0" indent="-457200" algn="l" defTabSz="914400" rtl="0" eaLnBrk="0" fontAlgn="base" latinLnBrk="0" hangingPunct="0">
              <a:lnSpc>
                <a:spcPct val="200000"/>
              </a:lnSpc>
              <a:spcBef>
                <a:spcPct val="0"/>
              </a:spcBef>
              <a:spcAft>
                <a:spcPct val="0"/>
              </a:spcAft>
              <a:buClrTx/>
              <a:buSzTx/>
              <a:buFont typeface="+mj-lt"/>
              <a:buAutoNum type="arabicPeriod"/>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Καλύπτει χρονική περίοδο άνω των 2,5 ετών.</a:t>
            </a:r>
          </a:p>
          <a:p>
            <a:pPr marL="457200" marR="0" lvl="0" indent="-457200" algn="l" defTabSz="914400" rtl="0" eaLnBrk="0" fontAlgn="base" latinLnBrk="0" hangingPunct="0">
              <a:lnSpc>
                <a:spcPct val="200000"/>
              </a:lnSpc>
              <a:spcBef>
                <a:spcPct val="0"/>
              </a:spcBef>
              <a:spcAft>
                <a:spcPct val="0"/>
              </a:spcAft>
              <a:buClrTx/>
              <a:buSzTx/>
              <a:buFont typeface="+mj-lt"/>
              <a:buAutoNum type="arabicPeriod"/>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Αποτελεί σημαντική βάση για αναλύσεις Big Data στη ναυτιλία.</a:t>
            </a:r>
          </a:p>
          <a:p>
            <a:pPr marL="457200" marR="0" lvl="0" indent="-457200" algn="l" defTabSz="914400" rtl="0" eaLnBrk="0" fontAlgn="base" latinLnBrk="0" hangingPunct="0">
              <a:lnSpc>
                <a:spcPct val="200000"/>
              </a:lnSpc>
              <a:spcBef>
                <a:spcPct val="0"/>
              </a:spcBef>
              <a:spcAft>
                <a:spcPct val="0"/>
              </a:spcAft>
              <a:buClrTx/>
              <a:buSzTx/>
              <a:buFont typeface="+mj-lt"/>
              <a:buAutoNum type="arabicPeriod"/>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Υποστηρίζει μοντελοποίηση συμπεριφοράς πλοίων, διαχείριση κυκλοφορίας και ενίσχυση ασφάλειας ναυσιπλοΐας.</a:t>
            </a:r>
          </a:p>
        </p:txBody>
      </p:sp>
    </p:spTree>
    <p:extLst>
      <p:ext uri="{BB962C8B-B14F-4D97-AF65-F5344CB8AC3E}">
        <p14:creationId xmlns:p14="http://schemas.microsoft.com/office/powerpoint/2010/main" val="1649631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5"/>
        <p:cNvGrpSpPr/>
        <p:nvPr/>
      </p:nvGrpSpPr>
      <p:grpSpPr>
        <a:xfrm>
          <a:off x="0" y="0"/>
          <a:ext cx="0" cy="0"/>
          <a:chOff x="0" y="0"/>
          <a:chExt cx="0" cy="0"/>
        </a:xfrm>
      </p:grpSpPr>
      <p:sp>
        <p:nvSpPr>
          <p:cNvPr id="129" name="Google Shape;129;p15"/>
          <p:cNvSpPr txBox="1"/>
          <p:nvPr/>
        </p:nvSpPr>
        <p:spPr>
          <a:xfrm>
            <a:off x="1264382" y="863939"/>
            <a:ext cx="10186236"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l-GR" sz="2100" b="1" i="0" u="none" strike="noStrike" cap="none" dirty="0">
                <a:solidFill>
                  <a:srgbClr val="38BDF8"/>
                </a:solidFill>
                <a:latin typeface="Urbanist"/>
                <a:ea typeface="Urbanist"/>
                <a:cs typeface="Urbanist"/>
                <a:sym typeface="Urbanist"/>
              </a:rPr>
              <a:t>Τίτλος: "</a:t>
            </a:r>
            <a:r>
              <a:rPr lang="en-US" sz="2100" b="1" i="0" u="none" strike="noStrike" cap="none" dirty="0">
                <a:solidFill>
                  <a:srgbClr val="38BDF8"/>
                </a:solidFill>
                <a:latin typeface="Urbanist"/>
                <a:ea typeface="Urbanist"/>
                <a:cs typeface="Urbanist"/>
                <a:sym typeface="Urbanist"/>
              </a:rPr>
              <a:t>The Piraeus AIS dataset for large-scale maritime data analytics".</a:t>
            </a:r>
          </a:p>
        </p:txBody>
      </p:sp>
      <p:pic>
        <p:nvPicPr>
          <p:cNvPr id="131" name="Google Shape;131;p15" descr="image.png"/>
          <p:cNvPicPr preferRelativeResize="0"/>
          <p:nvPr/>
        </p:nvPicPr>
        <p:blipFill rotWithShape="1">
          <a:blip r:embed="rId3">
            <a:alphaModFix/>
          </a:blip>
          <a:srcRect/>
          <a:stretch/>
        </p:blipFill>
        <p:spPr>
          <a:xfrm>
            <a:off x="656750" y="863939"/>
            <a:ext cx="428625" cy="381000"/>
          </a:xfrm>
          <a:prstGeom prst="rect">
            <a:avLst/>
          </a:prstGeom>
          <a:noFill/>
          <a:ln>
            <a:noFill/>
          </a:ln>
        </p:spPr>
      </p:pic>
      <p:sp>
        <p:nvSpPr>
          <p:cNvPr id="139" name="Google Shape;139;p15"/>
          <p:cNvSpPr txBox="1"/>
          <p:nvPr/>
        </p:nvSpPr>
        <p:spPr>
          <a:xfrm>
            <a:off x="656750" y="246310"/>
            <a:ext cx="114015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l-GR" sz="3150" b="1" i="0" u="none" strike="noStrike" cap="none" dirty="0">
                <a:solidFill>
                  <a:srgbClr val="2DD4BF"/>
                </a:solidFill>
                <a:latin typeface="Poppins"/>
                <a:ea typeface="Poppins"/>
                <a:cs typeface="Poppins"/>
                <a:sym typeface="Poppins"/>
              </a:rPr>
              <a:t>Σχετικές εργασίες</a:t>
            </a:r>
            <a:endParaRPr dirty="0"/>
          </a:p>
        </p:txBody>
      </p:sp>
      <p:sp>
        <p:nvSpPr>
          <p:cNvPr id="7" name="TextBox 6">
            <a:extLst>
              <a:ext uri="{FF2B5EF4-FFF2-40B4-BE49-F238E27FC236}">
                <a16:creationId xmlns:a16="http://schemas.microsoft.com/office/drawing/2014/main" id="{14F89BA2-EEF8-7C26-A75C-0AF8C89B10EB}"/>
              </a:ext>
            </a:extLst>
          </p:cNvPr>
          <p:cNvSpPr txBox="1"/>
          <p:nvPr/>
        </p:nvSpPr>
        <p:spPr>
          <a:xfrm>
            <a:off x="1957387" y="1374198"/>
            <a:ext cx="8277225" cy="402925"/>
          </a:xfrm>
          <a:prstGeom prst="rect">
            <a:avLst/>
          </a:prstGeom>
          <a:noFill/>
        </p:spPr>
        <p:txBody>
          <a:bodyPr wrap="square">
            <a:spAutoFit/>
          </a:bodyPr>
          <a:lstStyle/>
          <a:p>
            <a:r>
              <a:rPr lang="el-GR" sz="2000" dirty="0">
                <a:solidFill>
                  <a:schemeClr val="accent1"/>
                </a:solidFill>
                <a:latin typeface="Urbanist" panose="020B0604020202020204" charset="0"/>
                <a:ea typeface="Urbanist" panose="020B0604020202020204" charset="0"/>
                <a:cs typeface="Urbanist" panose="020B0604020202020204" charset="0"/>
              </a:rPr>
              <a:t>Συγγραφείς: </a:t>
            </a:r>
            <a:r>
              <a:rPr lang="en-US" sz="2000" dirty="0">
                <a:solidFill>
                  <a:schemeClr val="accent1"/>
                </a:solidFill>
                <a:latin typeface="Urbanist" panose="020B0604020202020204" charset="0"/>
                <a:ea typeface="Urbanist" panose="020B0604020202020204" charset="0"/>
                <a:cs typeface="Urbanist" panose="020B0604020202020204" charset="0"/>
              </a:rPr>
              <a:t>Andreas Tritsarolis, Yannis Kontoulis </a:t>
            </a:r>
            <a:r>
              <a:rPr lang="el-GR" sz="2000" dirty="0">
                <a:solidFill>
                  <a:schemeClr val="accent1"/>
                </a:solidFill>
                <a:latin typeface="Urbanist" panose="020B0604020202020204" charset="0"/>
                <a:ea typeface="Urbanist" panose="020B0604020202020204" charset="0"/>
                <a:cs typeface="Urbanist" panose="020B0604020202020204" charset="0"/>
              </a:rPr>
              <a:t>και </a:t>
            </a:r>
            <a:r>
              <a:rPr lang="en-US" sz="2000" dirty="0">
                <a:solidFill>
                  <a:schemeClr val="accent1"/>
                </a:solidFill>
                <a:latin typeface="Urbanist" panose="020B0604020202020204" charset="0"/>
                <a:ea typeface="Urbanist" panose="020B0604020202020204" charset="0"/>
                <a:cs typeface="Urbanist" panose="020B0604020202020204" charset="0"/>
              </a:rPr>
              <a:t>Yannis Theodoridis.</a:t>
            </a:r>
            <a:endParaRPr lang="el-GR" sz="2000" dirty="0">
              <a:solidFill>
                <a:schemeClr val="accent1"/>
              </a:solidFill>
              <a:latin typeface="Urbanist" panose="020B0604020202020204" charset="0"/>
              <a:ea typeface="Urbanist" panose="020B0604020202020204" charset="0"/>
              <a:cs typeface="Urbanist" panose="020B0604020202020204" charset="0"/>
            </a:endParaRPr>
          </a:p>
        </p:txBody>
      </p:sp>
      <p:sp>
        <p:nvSpPr>
          <p:cNvPr id="11" name="Rectangle 3">
            <a:extLst>
              <a:ext uri="{FF2B5EF4-FFF2-40B4-BE49-F238E27FC236}">
                <a16:creationId xmlns:a16="http://schemas.microsoft.com/office/drawing/2014/main" id="{6BBFB96B-6128-B146-45B4-978CB8E2F34C}"/>
              </a:ext>
            </a:extLst>
          </p:cNvPr>
          <p:cNvSpPr>
            <a:spLocks noChangeArrowheads="1"/>
          </p:cNvSpPr>
          <p:nvPr/>
        </p:nvSpPr>
        <p:spPr bwMode="auto">
          <a:xfrm>
            <a:off x="571890" y="1964217"/>
            <a:ext cx="11048217" cy="4314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l-GR" altLang="el-GR" sz="2000" b="0"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Περιλαμβάνει πάνω από </a:t>
            </a:r>
            <a:r>
              <a:rPr kumimoji="0" lang="el-GR" altLang="el-GR" sz="2000" b="1"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244 εκατομμύρια</a:t>
            </a:r>
            <a:r>
              <a:rPr kumimoji="0" lang="el-GR" altLang="el-GR" sz="2000" b="0"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 εγγραφές AIS (υψηλή πυκνότητα δεδομένων).</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l-GR" altLang="el-GR" sz="2000" b="0"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Οι ερευνητές το χαρακτηρίζουν ως το μεγαλύτερο και πυκνότερο ανοικτό dataset του είδους του, </a:t>
            </a:r>
            <a:endParaRPr lang="el-GR" altLang="el-GR" sz="2000" dirty="0">
              <a:solidFill>
                <a:schemeClr val="accent1"/>
              </a:solidFill>
              <a:latin typeface="Urbanist" panose="020B0604020202020204" charset="0"/>
              <a:ea typeface="Urbanist" panose="020B0604020202020204" charset="0"/>
              <a:cs typeface="Urbanist" panose="020B0604020202020204" charset="0"/>
            </a:endParaRPr>
          </a:p>
          <a:p>
            <a:pPr marR="0" lvl="0" algn="l" defTabSz="914400" rtl="0" eaLnBrk="0" fontAlgn="base" latinLnBrk="0" hangingPunct="0">
              <a:lnSpc>
                <a:spcPct val="100000"/>
              </a:lnSpc>
              <a:spcBef>
                <a:spcPct val="0"/>
              </a:spcBef>
              <a:spcAft>
                <a:spcPct val="0"/>
              </a:spcAft>
              <a:buClrTx/>
              <a:buSzTx/>
              <a:tabLst/>
            </a:pPr>
            <a:r>
              <a:rPr lang="el-GR" altLang="el-GR" sz="2000" dirty="0">
                <a:solidFill>
                  <a:schemeClr val="accent1"/>
                </a:solidFill>
                <a:latin typeface="Urbanist" panose="020B0604020202020204" charset="0"/>
                <a:ea typeface="Urbanist" panose="020B0604020202020204" charset="0"/>
                <a:cs typeface="Urbanist" panose="020B0604020202020204" charset="0"/>
              </a:rPr>
              <a:t>        </a:t>
            </a:r>
            <a:r>
              <a:rPr kumimoji="0" lang="el-GR" altLang="el-GR" sz="2000" b="0"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κατά τον χρόνο δημοσίευσης.</a:t>
            </a:r>
          </a:p>
          <a:p>
            <a:pPr marL="457200" marR="0" lvl="0" indent="-4572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l-GR" altLang="el-GR" sz="2000" b="0"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Περιλαμβάνει όχι μόνο θέσεις πλοίων, αλλά και:</a:t>
            </a:r>
          </a:p>
          <a:p>
            <a:pPr marL="457200" marR="0" lvl="0" indent="-4572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l-GR" altLang="el-GR" sz="2000" b="0"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Γεωγραφικές πληροφορίες</a:t>
            </a:r>
          </a:p>
          <a:p>
            <a:pPr marL="457200" marR="0" lvl="0" indent="-4572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lang="el-GR" altLang="el-GR" sz="2000" dirty="0">
                <a:solidFill>
                  <a:schemeClr val="accent1"/>
                </a:solidFill>
                <a:latin typeface="Urbanist" panose="020B0604020202020204" charset="0"/>
                <a:ea typeface="Urbanist" panose="020B0604020202020204" charset="0"/>
                <a:cs typeface="Urbanist" panose="020B0604020202020204" charset="0"/>
              </a:rPr>
              <a:t>Δ</a:t>
            </a:r>
            <a:r>
              <a:rPr kumimoji="0" lang="el-GR" altLang="el-GR" sz="2000" b="0"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εδομένα καιρού</a:t>
            </a:r>
          </a:p>
          <a:p>
            <a:pPr marL="457200" marR="0" lvl="0" indent="-4572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lang="el-GR" altLang="el-GR" sz="2000" dirty="0">
                <a:solidFill>
                  <a:schemeClr val="accent1"/>
                </a:solidFill>
                <a:latin typeface="Urbanist" panose="020B0604020202020204" charset="0"/>
                <a:ea typeface="Urbanist" panose="020B0604020202020204" charset="0"/>
                <a:cs typeface="Urbanist" panose="020B0604020202020204" charset="0"/>
              </a:rPr>
              <a:t>Π</a:t>
            </a:r>
            <a:r>
              <a:rPr kumimoji="0" lang="el-GR" altLang="el-GR" sz="2000" b="0"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εριλήψεις τροχιών (trajectory synopses)</a:t>
            </a:r>
          </a:p>
          <a:p>
            <a:pPr marL="457200" marR="0" lvl="0" indent="-4572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l-GR" altLang="el-GR" sz="2000" b="0" i="0" u="none" strike="noStrike" cap="none" normalizeH="0" baseline="0" dirty="0">
                <a:ln>
                  <a:noFill/>
                </a:ln>
                <a:solidFill>
                  <a:schemeClr val="accent1"/>
                </a:solidFill>
                <a:effectLst/>
                <a:latin typeface="Urbanist" panose="020B0604020202020204" charset="0"/>
                <a:ea typeface="Urbanist" panose="020B0604020202020204" charset="0"/>
                <a:cs typeface="Urbanist" panose="020B0604020202020204" charset="0"/>
              </a:rPr>
              <a:t>Παρέχει ολοκληρωμένο πλαίσιο για προχωρημένη έρευνα στις θαλάσσιες μεταφορές.</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5">
          <a:extLst>
            <a:ext uri="{FF2B5EF4-FFF2-40B4-BE49-F238E27FC236}">
              <a16:creationId xmlns:a16="http://schemas.microsoft.com/office/drawing/2014/main" id="{03A6A642-508A-9676-A3F7-9591C2BCB204}"/>
            </a:ext>
          </a:extLst>
        </p:cNvPr>
        <p:cNvGrpSpPr/>
        <p:nvPr/>
      </p:nvGrpSpPr>
      <p:grpSpPr>
        <a:xfrm>
          <a:off x="0" y="0"/>
          <a:ext cx="0" cy="0"/>
          <a:chOff x="0" y="0"/>
          <a:chExt cx="0" cy="0"/>
        </a:xfrm>
      </p:grpSpPr>
      <p:sp>
        <p:nvSpPr>
          <p:cNvPr id="129" name="Google Shape;129;p15">
            <a:extLst>
              <a:ext uri="{FF2B5EF4-FFF2-40B4-BE49-F238E27FC236}">
                <a16:creationId xmlns:a16="http://schemas.microsoft.com/office/drawing/2014/main" id="{98F6ABB3-7287-F154-F7E2-CA6AAEC9DDB2}"/>
              </a:ext>
            </a:extLst>
          </p:cNvPr>
          <p:cNvSpPr txBox="1"/>
          <p:nvPr/>
        </p:nvSpPr>
        <p:spPr>
          <a:xfrm>
            <a:off x="1264382" y="863939"/>
            <a:ext cx="10186236" cy="3231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Τίτλος: "</a:t>
            </a:r>
            <a:r>
              <a:rPr kumimoji="0" lang="en-US" sz="2100" b="1" i="0" u="none" strike="noStrike" kern="0" cap="none" spc="0" normalizeH="0" baseline="0" noProof="0" dirty="0">
                <a:ln>
                  <a:noFill/>
                </a:ln>
                <a:solidFill>
                  <a:srgbClr val="38BDF8"/>
                </a:solidFill>
                <a:effectLst/>
                <a:uLnTx/>
                <a:uFillTx/>
                <a:latin typeface="Urbanist"/>
                <a:ea typeface="Urbanist"/>
                <a:cs typeface="Urbanist"/>
                <a:sym typeface="Urbanist"/>
              </a:rPr>
              <a:t>The Piraeus AIS dataset for large-scale maritime data analytics".</a:t>
            </a:r>
          </a:p>
        </p:txBody>
      </p:sp>
      <p:pic>
        <p:nvPicPr>
          <p:cNvPr id="131" name="Google Shape;131;p15" descr="image.png">
            <a:extLst>
              <a:ext uri="{FF2B5EF4-FFF2-40B4-BE49-F238E27FC236}">
                <a16:creationId xmlns:a16="http://schemas.microsoft.com/office/drawing/2014/main" id="{ABA35EAF-C6C9-2BDF-5706-1C9E1D133A0A}"/>
              </a:ext>
            </a:extLst>
          </p:cNvPr>
          <p:cNvPicPr preferRelativeResize="0"/>
          <p:nvPr/>
        </p:nvPicPr>
        <p:blipFill rotWithShape="1">
          <a:blip r:embed="rId3">
            <a:alphaModFix/>
          </a:blip>
          <a:srcRect/>
          <a:stretch/>
        </p:blipFill>
        <p:spPr>
          <a:xfrm>
            <a:off x="656750" y="863939"/>
            <a:ext cx="428625" cy="381000"/>
          </a:xfrm>
          <a:prstGeom prst="rect">
            <a:avLst/>
          </a:prstGeom>
          <a:noFill/>
          <a:ln>
            <a:noFill/>
          </a:ln>
        </p:spPr>
      </p:pic>
      <p:sp>
        <p:nvSpPr>
          <p:cNvPr id="139" name="Google Shape;139;p15">
            <a:extLst>
              <a:ext uri="{FF2B5EF4-FFF2-40B4-BE49-F238E27FC236}">
                <a16:creationId xmlns:a16="http://schemas.microsoft.com/office/drawing/2014/main" id="{20D634E4-26B5-B5D7-3B11-0D54D8AD0DB5}"/>
              </a:ext>
            </a:extLst>
          </p:cNvPr>
          <p:cNvSpPr txBox="1"/>
          <p:nvPr/>
        </p:nvSpPr>
        <p:spPr>
          <a:xfrm>
            <a:off x="656750" y="246310"/>
            <a:ext cx="11401500" cy="4848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Σχετικές εργασίες</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7" name="TextBox 6">
            <a:extLst>
              <a:ext uri="{FF2B5EF4-FFF2-40B4-BE49-F238E27FC236}">
                <a16:creationId xmlns:a16="http://schemas.microsoft.com/office/drawing/2014/main" id="{BD0DAA5E-BFD2-9712-291D-8F0F5F362D13}"/>
              </a:ext>
            </a:extLst>
          </p:cNvPr>
          <p:cNvSpPr txBox="1"/>
          <p:nvPr/>
        </p:nvSpPr>
        <p:spPr>
          <a:xfrm>
            <a:off x="1957387" y="1374198"/>
            <a:ext cx="8277225" cy="4029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Συγγραφείς: </a:t>
            </a:r>
            <a:r>
              <a:rPr kumimoji="0" lang="en-US"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Andreas Tritsarolis, Yannis Kontoulis </a:t>
            </a:r>
            <a:r>
              <a:rPr kumimoji="0" 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και </a:t>
            </a:r>
            <a:r>
              <a:rPr kumimoji="0" lang="en-US"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Yannis Theodoridis.</a:t>
            </a:r>
            <a:endParaRPr kumimoji="0" 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endParaRPr>
          </a:p>
        </p:txBody>
      </p:sp>
      <p:sp>
        <p:nvSpPr>
          <p:cNvPr id="11" name="Rectangle 3">
            <a:extLst>
              <a:ext uri="{FF2B5EF4-FFF2-40B4-BE49-F238E27FC236}">
                <a16:creationId xmlns:a16="http://schemas.microsoft.com/office/drawing/2014/main" id="{66C93BE4-E5C2-6DAA-9F70-35F80CC25FAE}"/>
              </a:ext>
            </a:extLst>
          </p:cNvPr>
          <p:cNvSpPr>
            <a:spLocks noChangeArrowheads="1"/>
          </p:cNvSpPr>
          <p:nvPr/>
        </p:nvSpPr>
        <p:spPr bwMode="auto">
          <a:xfrm>
            <a:off x="571890" y="1964217"/>
            <a:ext cx="11048217" cy="4314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Περιλαμβάνει πάνω από </a:t>
            </a:r>
            <a:r>
              <a:rPr kumimoji="0" lang="el-GR" altLang="el-GR" sz="2000" b="1"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244 εκατομμύρια</a:t>
            </a: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 εγγραφές AIS (υψηλή πυκνότητα δεδομένων).</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Οι ερευνητές το χαρακτηρίζουν ως το μεγαλύτερο και πυκνότερο ανοικτό dataset του είδους του, </a:t>
            </a:r>
          </a:p>
          <a:p>
            <a:pPr marL="0" marR="0" lvl="0" indent="0" algn="l" defTabSz="914400" rtl="0" eaLnBrk="0" fontAlgn="base" latinLnBrk="0" hangingPunct="0">
              <a:lnSpc>
                <a:spcPct val="100000"/>
              </a:lnSpc>
              <a:spcBef>
                <a:spcPct val="0"/>
              </a:spcBef>
              <a:spcAft>
                <a:spcPct val="0"/>
              </a:spcAft>
              <a:buClrTx/>
              <a:buSzTx/>
              <a:buFont typeface="Arial"/>
              <a:buNone/>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        κατά τον χρόνο δημοσίευσης.</a:t>
            </a:r>
          </a:p>
          <a:p>
            <a:pPr marL="457200" marR="0" lvl="0" indent="-457200" algn="l" defTabSz="914400" rtl="0" eaLnBrk="0" fontAlgn="base" latinLnBrk="0" hangingPunct="0">
              <a:lnSpc>
                <a:spcPct val="200000"/>
              </a:lnSpc>
              <a:spcBef>
                <a:spcPct val="0"/>
              </a:spcBef>
              <a:spcAft>
                <a:spcPct val="0"/>
              </a:spcAft>
              <a:buClrTx/>
              <a:buSzTx/>
              <a:buFont typeface="Arial" panose="020B0604020202020204" pitchFamily="34" charset="0"/>
              <a:buChar char="•"/>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Περιλαμβάνει όχι μόνο θέσεις πλοίων, αλλά και:</a:t>
            </a:r>
          </a:p>
          <a:p>
            <a:pPr marR="0" lvl="0" algn="l" defTabSz="914400" rtl="0" eaLnBrk="0" fontAlgn="base" latinLnBrk="0" hangingPunct="0">
              <a:lnSpc>
                <a:spcPct val="200000"/>
              </a:lnSpc>
              <a:spcBef>
                <a:spcPct val="0"/>
              </a:spcBef>
              <a:spcAft>
                <a:spcPct val="0"/>
              </a:spcAft>
              <a:buClrTx/>
              <a:buSzTx/>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	1. Γεωγραφικές πληροφορίες</a:t>
            </a:r>
            <a:endParaRPr lang="el-GR" altLang="el-GR" sz="2000" dirty="0">
              <a:solidFill>
                <a:srgbClr val="4F81BD"/>
              </a:solidFill>
              <a:latin typeface="Urbanist" panose="020B0604020202020204" charset="0"/>
              <a:ea typeface="Urbanist" panose="020B0604020202020204" charset="0"/>
              <a:cs typeface="Urbanist" panose="020B0604020202020204" charset="0"/>
            </a:endParaRPr>
          </a:p>
          <a:p>
            <a:pPr marR="0" lvl="0" algn="l" defTabSz="914400" rtl="0" eaLnBrk="0" fontAlgn="base" latinLnBrk="0" hangingPunct="0">
              <a:lnSpc>
                <a:spcPct val="200000"/>
              </a:lnSpc>
              <a:spcBef>
                <a:spcPct val="0"/>
              </a:spcBef>
              <a:spcAft>
                <a:spcPct val="0"/>
              </a:spcAft>
              <a:buClrTx/>
              <a:buSzTx/>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	2. Δεδομένα καιρού</a:t>
            </a:r>
            <a:endParaRPr lang="el-GR" altLang="el-GR" sz="2000" dirty="0">
              <a:solidFill>
                <a:srgbClr val="4F81BD"/>
              </a:solidFill>
              <a:latin typeface="Urbanist" panose="020B0604020202020204" charset="0"/>
              <a:ea typeface="Urbanist" panose="020B0604020202020204" charset="0"/>
              <a:cs typeface="Urbanist" panose="020B0604020202020204" charset="0"/>
            </a:endParaRPr>
          </a:p>
          <a:p>
            <a:pPr marR="0" lvl="0" algn="l" defTabSz="914400" rtl="0" eaLnBrk="0" fontAlgn="base" latinLnBrk="0" hangingPunct="0">
              <a:lnSpc>
                <a:spcPct val="200000"/>
              </a:lnSpc>
              <a:spcBef>
                <a:spcPct val="0"/>
              </a:spcBef>
              <a:spcAft>
                <a:spcPct val="0"/>
              </a:spcAft>
              <a:buClrTx/>
              <a:buSzTx/>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	</a:t>
            </a:r>
            <a:r>
              <a:rPr lang="el-GR" altLang="el-GR" sz="2000" dirty="0">
                <a:solidFill>
                  <a:srgbClr val="4F81BD"/>
                </a:solidFill>
                <a:latin typeface="Urbanist" panose="020B0604020202020204" charset="0"/>
                <a:ea typeface="Urbanist" panose="020B0604020202020204" charset="0"/>
                <a:cs typeface="Urbanist" panose="020B0604020202020204" charset="0"/>
              </a:rPr>
              <a:t>3. </a:t>
            </a: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Περιλήψεις τροχιών (trajectory synopses)</a:t>
            </a:r>
          </a:p>
          <a:p>
            <a:pPr marL="457200" marR="0" lvl="0" indent="-457200" algn="l" defTabSz="914400" rtl="0" eaLnBrk="0" fontAlgn="base" latinLnBrk="0" hangingPunct="0">
              <a:lnSpc>
                <a:spcPct val="200000"/>
              </a:lnSpc>
              <a:spcBef>
                <a:spcPct val="0"/>
              </a:spcBef>
              <a:spcAft>
                <a:spcPct val="0"/>
              </a:spcAft>
              <a:buClrTx/>
              <a:buSzTx/>
              <a:buFont typeface="Arial" panose="020B0604020202020204" pitchFamily="34" charset="0"/>
              <a:buChar char="•"/>
              <a:tabLst/>
              <a:defRPr/>
            </a:pPr>
            <a:r>
              <a:rPr kumimoji="0" lang="el-GR" altLang="el-GR" sz="2000" b="0" i="0" u="none" strike="noStrike" kern="0" cap="none" spc="0" normalizeH="0" baseline="0" noProof="0" dirty="0">
                <a:ln>
                  <a:noFill/>
                </a:ln>
                <a:solidFill>
                  <a:srgbClr val="4F81BD"/>
                </a:solidFill>
                <a:effectLst/>
                <a:uLnTx/>
                <a:uFillTx/>
                <a:latin typeface="Urbanist" panose="020B0604020202020204" charset="0"/>
                <a:ea typeface="Urbanist" panose="020B0604020202020204" charset="0"/>
                <a:cs typeface="Urbanist" panose="020B0604020202020204" charset="0"/>
                <a:sym typeface="Arial"/>
              </a:rPr>
              <a:t>Παρέχει ολοκληρωμένο πλαίσιο για προχωρημένη έρευνα στις θαλάσσιες μεταφορές.</a:t>
            </a:r>
          </a:p>
        </p:txBody>
      </p:sp>
    </p:spTree>
    <p:extLst>
      <p:ext uri="{BB962C8B-B14F-4D97-AF65-F5344CB8AC3E}">
        <p14:creationId xmlns:p14="http://schemas.microsoft.com/office/powerpoint/2010/main" val="2725341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4">
          <a:extLst>
            <a:ext uri="{FF2B5EF4-FFF2-40B4-BE49-F238E27FC236}">
              <a16:creationId xmlns:a16="http://schemas.microsoft.com/office/drawing/2014/main" id="{632F3800-7462-CC7F-0A31-CBCF201E616A}"/>
            </a:ext>
          </a:extLst>
        </p:cNvPr>
        <p:cNvGrpSpPr/>
        <p:nvPr/>
      </p:nvGrpSpPr>
      <p:grpSpPr>
        <a:xfrm>
          <a:off x="0" y="0"/>
          <a:ext cx="0" cy="0"/>
          <a:chOff x="0" y="0"/>
          <a:chExt cx="0" cy="0"/>
        </a:xfrm>
      </p:grpSpPr>
      <p:sp>
        <p:nvSpPr>
          <p:cNvPr id="148" name="Google Shape;148;p16">
            <a:extLst>
              <a:ext uri="{FF2B5EF4-FFF2-40B4-BE49-F238E27FC236}">
                <a16:creationId xmlns:a16="http://schemas.microsoft.com/office/drawing/2014/main" id="{816EB6A6-E02A-1166-FA16-2847563C09BF}"/>
              </a:ext>
            </a:extLst>
          </p:cNvPr>
          <p:cNvSpPr txBox="1"/>
          <p:nvPr/>
        </p:nvSpPr>
        <p:spPr>
          <a:xfrm>
            <a:off x="495299" y="1658869"/>
            <a:ext cx="5600700" cy="3231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sz="2100" b="1" dirty="0">
                <a:solidFill>
                  <a:srgbClr val="38BDF8"/>
                </a:solidFill>
                <a:latin typeface="Urbanist"/>
                <a:ea typeface="Urbanist"/>
                <a:cs typeface="Urbanist"/>
                <a:sym typeface="Urbanist"/>
              </a:rPr>
              <a:t>Υλοποίηση </a:t>
            </a:r>
            <a:r>
              <a:rPr lang="en-US" sz="2100" b="1" dirty="0">
                <a:solidFill>
                  <a:srgbClr val="38BDF8"/>
                </a:solidFill>
                <a:latin typeface="Urbanist"/>
                <a:ea typeface="Urbanist"/>
                <a:cs typeface="Urbanist"/>
                <a:sym typeface="Urbanist"/>
              </a:rPr>
              <a:t>script .</a:t>
            </a:r>
            <a:r>
              <a:rPr lang="en-US" sz="2100" b="1" dirty="0" err="1">
                <a:solidFill>
                  <a:srgbClr val="38BDF8"/>
                </a:solidFill>
                <a:latin typeface="Urbanist"/>
                <a:ea typeface="Urbanist"/>
                <a:cs typeface="Urbanist"/>
                <a:sym typeface="Urbanist"/>
              </a:rPr>
              <a:t>ipynb</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61" name="Google Shape;161;p16">
            <a:extLst>
              <a:ext uri="{FF2B5EF4-FFF2-40B4-BE49-F238E27FC236}">
                <a16:creationId xmlns:a16="http://schemas.microsoft.com/office/drawing/2014/main" id="{64AE9B4B-C76C-E587-E585-07AA594FA5E2}"/>
              </a:ext>
            </a:extLst>
          </p:cNvPr>
          <p:cNvSpPr txBox="1"/>
          <p:nvPr/>
        </p:nvSpPr>
        <p:spPr>
          <a:xfrm>
            <a:off x="790575" y="964727"/>
            <a:ext cx="11401425" cy="48474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ΠΡΟΕΠΕΞΕΡΓΑΣΙΑ &amp; ΜΕΤΑΦΟΡΤΩΣΗ</a:t>
            </a:r>
            <a:endParaRPr kumimoji="0" lang="el-GR"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 name="Google Shape;161;p16">
            <a:extLst>
              <a:ext uri="{FF2B5EF4-FFF2-40B4-BE49-F238E27FC236}">
                <a16:creationId xmlns:a16="http://schemas.microsoft.com/office/drawing/2014/main" id="{E40F4C22-DCBA-985E-152B-FD9ED96461F0}"/>
              </a:ext>
            </a:extLst>
          </p:cNvPr>
          <p:cNvSpPr txBox="1"/>
          <p:nvPr/>
        </p:nvSpPr>
        <p:spPr>
          <a:xfrm>
            <a:off x="395287" y="209394"/>
            <a:ext cx="11401425" cy="48474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Η ΕΡΓΑΣΙΑ ΜΑΣ</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TextBox 3">
            <a:extLst>
              <a:ext uri="{FF2B5EF4-FFF2-40B4-BE49-F238E27FC236}">
                <a16:creationId xmlns:a16="http://schemas.microsoft.com/office/drawing/2014/main" id="{1FFB7A3B-3C49-C9AE-51C1-F47BF3A55F6C}"/>
              </a:ext>
            </a:extLst>
          </p:cNvPr>
          <p:cNvSpPr txBox="1"/>
          <p:nvPr/>
        </p:nvSpPr>
        <p:spPr>
          <a:xfrm>
            <a:off x="42863" y="2334815"/>
            <a:ext cx="6096000" cy="3908762"/>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l-GR" sz="1600" dirty="0">
                <a:solidFill>
                  <a:schemeClr val="bg2">
                    <a:lumMod val="60000"/>
                    <a:lumOff val="40000"/>
                  </a:schemeClr>
                </a:solidFill>
                <a:latin typeface="Lato" panose="020F0502020204030204" pitchFamily="34" charset="0"/>
              </a:rPr>
              <a:t>Αυτό το </a:t>
            </a:r>
            <a:r>
              <a:rPr lang="en-US" sz="1600" dirty="0">
                <a:solidFill>
                  <a:schemeClr val="bg2">
                    <a:lumMod val="60000"/>
                    <a:lumOff val="40000"/>
                  </a:schemeClr>
                </a:solidFill>
                <a:latin typeface="Lato" panose="020F0502020204030204" pitchFamily="34" charset="0"/>
              </a:rPr>
              <a:t>script </a:t>
            </a:r>
            <a:r>
              <a:rPr lang="el-GR" sz="1600" b="0" i="0" u="none" strike="noStrike" dirty="0">
                <a:solidFill>
                  <a:schemeClr val="bg2">
                    <a:lumMod val="60000"/>
                    <a:lumOff val="40000"/>
                  </a:schemeClr>
                </a:solidFill>
                <a:effectLst/>
                <a:latin typeface="Lato" panose="020F0502020204030204" pitchFamily="34" charset="0"/>
              </a:rPr>
              <a:t>υλοποιεί ένα πλήρες Pipeline δεδομένων για την ανάλυση των δεδομένων που επιλέξαμε να επεξεργαστούμε.</a:t>
            </a:r>
            <a:endParaRPr lang="el-GR" sz="1600" dirty="0">
              <a:solidFill>
                <a:schemeClr val="bg2">
                  <a:lumMod val="60000"/>
                  <a:lumOff val="40000"/>
                </a:schemeClr>
              </a:solidFill>
            </a:endParaRPr>
          </a:p>
          <a:p>
            <a:pPr marL="285750" indent="-285750" rtl="0">
              <a:lnSpc>
                <a:spcPct val="150000"/>
              </a:lnSpc>
              <a:buFont typeface="Arial" panose="020B0604020202020204" pitchFamily="34" charset="0"/>
              <a:buChar char="•"/>
            </a:pPr>
            <a:r>
              <a:rPr lang="el-GR" sz="1600" b="0" i="0" u="none" strike="noStrike" dirty="0">
                <a:solidFill>
                  <a:schemeClr val="bg2">
                    <a:lumMod val="60000"/>
                    <a:lumOff val="40000"/>
                  </a:schemeClr>
                </a:solidFill>
                <a:effectLst/>
                <a:latin typeface="Lato" panose="020F0502020204030204" pitchFamily="34" charset="0"/>
              </a:rPr>
              <a:t>Αυτοματοποιημένη επεξεργασία (ETL) μεγάλου όγκου δεδομένων AIS.</a:t>
            </a:r>
            <a:endParaRPr lang="el-GR" sz="1600" dirty="0">
              <a:solidFill>
                <a:schemeClr val="bg2">
                  <a:lumMod val="60000"/>
                  <a:lumOff val="40000"/>
                </a:schemeClr>
              </a:solidFill>
            </a:endParaRPr>
          </a:p>
          <a:p>
            <a:pPr marL="285750" indent="-285750" rtl="0">
              <a:lnSpc>
                <a:spcPct val="150000"/>
              </a:lnSpc>
              <a:buFont typeface="Arial" panose="020B0604020202020204" pitchFamily="34" charset="0"/>
              <a:buChar char="•"/>
            </a:pPr>
            <a:r>
              <a:rPr lang="el-GR" sz="1600" b="0" i="0" u="none" strike="noStrike" dirty="0">
                <a:solidFill>
                  <a:schemeClr val="bg2">
                    <a:lumMod val="60000"/>
                    <a:lumOff val="40000"/>
                  </a:schemeClr>
                </a:solidFill>
                <a:effectLst/>
                <a:latin typeface="Lato" panose="020F0502020204030204" pitchFamily="34" charset="0"/>
              </a:rPr>
              <a:t>Ενοποίηση δυναμικών και στατικών στοιχείων πλοίων.</a:t>
            </a:r>
            <a:endParaRPr lang="el-GR" sz="1600" dirty="0">
              <a:solidFill>
                <a:schemeClr val="bg2">
                  <a:lumMod val="60000"/>
                  <a:lumOff val="40000"/>
                </a:schemeClr>
              </a:solidFill>
            </a:endParaRPr>
          </a:p>
          <a:p>
            <a:pPr marL="285750" indent="-285750" rtl="0">
              <a:lnSpc>
                <a:spcPct val="150000"/>
              </a:lnSpc>
              <a:buFont typeface="Arial" panose="020B0604020202020204" pitchFamily="34" charset="0"/>
              <a:buChar char="•"/>
            </a:pPr>
            <a:r>
              <a:rPr lang="el-GR" sz="1600" b="0" i="0" u="none" strike="noStrike" dirty="0">
                <a:solidFill>
                  <a:schemeClr val="bg2">
                    <a:lumMod val="60000"/>
                    <a:lumOff val="40000"/>
                  </a:schemeClr>
                </a:solidFill>
                <a:effectLst/>
                <a:latin typeface="Lato" panose="020F0502020204030204" pitchFamily="34" charset="0"/>
              </a:rPr>
              <a:t>Εμπλουτισμός των δεδομένων με μετεωρολογικές παραμέτρους από τη NOAA.</a:t>
            </a:r>
            <a:endParaRPr lang="el-GR" sz="1600" dirty="0">
              <a:solidFill>
                <a:schemeClr val="bg2">
                  <a:lumMod val="60000"/>
                  <a:lumOff val="40000"/>
                </a:schemeClr>
              </a:solidFill>
            </a:endParaRPr>
          </a:p>
          <a:p>
            <a:pPr marL="285750" indent="-285750" rtl="0">
              <a:lnSpc>
                <a:spcPct val="150000"/>
              </a:lnSpc>
              <a:buFont typeface="Arial" panose="020B0604020202020204" pitchFamily="34" charset="0"/>
              <a:buChar char="•"/>
            </a:pPr>
            <a:r>
              <a:rPr lang="el-GR" sz="1600" b="0" i="0" u="none" strike="noStrike" dirty="0">
                <a:solidFill>
                  <a:schemeClr val="bg2">
                    <a:lumMod val="60000"/>
                    <a:lumOff val="40000"/>
                  </a:schemeClr>
                </a:solidFill>
                <a:effectLst/>
                <a:latin typeface="Lato" panose="020F0502020204030204" pitchFamily="34" charset="0"/>
              </a:rPr>
              <a:t>Προετοιμασία για αποθήκευση σε σχεσιακή βάση δεδομένων.</a:t>
            </a:r>
            <a:endParaRPr lang="el-GR" sz="1600" b="0" dirty="0">
              <a:solidFill>
                <a:schemeClr val="bg2">
                  <a:lumMod val="60000"/>
                  <a:lumOff val="40000"/>
                </a:schemeClr>
              </a:solidFill>
              <a:effectLst/>
            </a:endParaRPr>
          </a:p>
          <a:p>
            <a:pPr>
              <a:buNone/>
            </a:pPr>
            <a:br>
              <a:rPr lang="el-GR" sz="1600" dirty="0">
                <a:solidFill>
                  <a:schemeClr val="bg2">
                    <a:lumMod val="60000"/>
                    <a:lumOff val="40000"/>
                  </a:schemeClr>
                </a:solidFill>
              </a:rPr>
            </a:br>
            <a:endParaRPr lang="el-GR" sz="1600" dirty="0">
              <a:solidFill>
                <a:schemeClr val="bg2">
                  <a:lumMod val="60000"/>
                  <a:lumOff val="40000"/>
                </a:schemeClr>
              </a:solidFill>
            </a:endParaRPr>
          </a:p>
        </p:txBody>
      </p:sp>
      <p:pic>
        <p:nvPicPr>
          <p:cNvPr id="3074" name="Picture 2">
            <a:extLst>
              <a:ext uri="{FF2B5EF4-FFF2-40B4-BE49-F238E27FC236}">
                <a16:creationId xmlns:a16="http://schemas.microsoft.com/office/drawing/2014/main" id="{2032E315-FA9B-E06E-34CA-D633A2313F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0611" y="2334815"/>
            <a:ext cx="4528386" cy="3301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989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4"/>
        <p:cNvGrpSpPr/>
        <p:nvPr/>
      </p:nvGrpSpPr>
      <p:grpSpPr>
        <a:xfrm>
          <a:off x="0" y="0"/>
          <a:ext cx="0" cy="0"/>
          <a:chOff x="0" y="0"/>
          <a:chExt cx="0" cy="0"/>
        </a:xfrm>
      </p:grpSpPr>
      <p:sp>
        <p:nvSpPr>
          <p:cNvPr id="161" name="Google Shape;161;p16"/>
          <p:cNvSpPr txBox="1"/>
          <p:nvPr/>
        </p:nvSpPr>
        <p:spPr>
          <a:xfrm>
            <a:off x="395286" y="916601"/>
            <a:ext cx="11401425"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l-GR" sz="3150" b="1" i="0" u="none" strike="noStrike" cap="none" dirty="0">
                <a:solidFill>
                  <a:srgbClr val="2DD4BF"/>
                </a:solidFill>
                <a:latin typeface="Poppins"/>
                <a:ea typeface="Poppins"/>
                <a:cs typeface="Poppins"/>
                <a:sym typeface="Poppins"/>
              </a:rPr>
              <a:t>ΠΗΓΕΣ ΔΕΔΟΜΕΝΩΝ</a:t>
            </a:r>
          </a:p>
        </p:txBody>
      </p:sp>
      <p:sp>
        <p:nvSpPr>
          <p:cNvPr id="2" name="Google Shape;161;p16">
            <a:extLst>
              <a:ext uri="{FF2B5EF4-FFF2-40B4-BE49-F238E27FC236}">
                <a16:creationId xmlns:a16="http://schemas.microsoft.com/office/drawing/2014/main" id="{455637A1-FA3E-B1D3-6248-D1A596E19529}"/>
              </a:ext>
            </a:extLst>
          </p:cNvPr>
          <p:cNvSpPr txBox="1"/>
          <p:nvPr/>
        </p:nvSpPr>
        <p:spPr>
          <a:xfrm>
            <a:off x="395285" y="241478"/>
            <a:ext cx="11401425"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l-GR" sz="3150" b="1" i="0" u="none" strike="noStrike" cap="none" dirty="0">
                <a:solidFill>
                  <a:srgbClr val="2DD4BF"/>
                </a:solidFill>
                <a:latin typeface="Poppins"/>
                <a:ea typeface="Poppins"/>
                <a:cs typeface="Poppins"/>
                <a:sym typeface="Poppins"/>
              </a:rPr>
              <a:t>Η ΕΡΓΑΣΙΑ ΜΑΣ</a:t>
            </a:r>
            <a:endParaRPr dirty="0"/>
          </a:p>
        </p:txBody>
      </p:sp>
      <p:pic>
        <p:nvPicPr>
          <p:cNvPr id="5122" name="Picture 2">
            <a:extLst>
              <a:ext uri="{FF2B5EF4-FFF2-40B4-BE49-F238E27FC236}">
                <a16:creationId xmlns:a16="http://schemas.microsoft.com/office/drawing/2014/main" id="{06AF4FAA-B4E0-9A37-D76D-0481A756FD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5" y="2229603"/>
            <a:ext cx="2822658" cy="279189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F4660E09-19F8-8565-F748-659B115A7F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5151" y="2447025"/>
            <a:ext cx="542925" cy="4857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7D28C5-5840-3F98-A865-BAD576DCB123}"/>
              </a:ext>
            </a:extLst>
          </p:cNvPr>
          <p:cNvSpPr txBox="1"/>
          <p:nvPr/>
        </p:nvSpPr>
        <p:spPr>
          <a:xfrm>
            <a:off x="547308" y="3305266"/>
            <a:ext cx="2518610" cy="1600438"/>
          </a:xfrm>
          <a:prstGeom prst="rect">
            <a:avLst/>
          </a:prstGeom>
          <a:noFill/>
        </p:spPr>
        <p:txBody>
          <a:bodyPr wrap="square">
            <a:spAutoFit/>
          </a:bodyPr>
          <a:lstStyle/>
          <a:p>
            <a:pPr algn="ctr" rtl="0">
              <a:buNone/>
            </a:pPr>
            <a:r>
              <a:rPr lang="el-GR" sz="1400" b="0" i="0" u="none" strike="noStrike" dirty="0">
                <a:solidFill>
                  <a:srgbClr val="334155"/>
                </a:solidFill>
                <a:effectLst/>
                <a:latin typeface="Lato" panose="020F0502020204030203" pitchFamily="34" charset="0"/>
              </a:rPr>
              <a:t>Δεδομένα AIS (Static &amp; Dynamic) από το λιμάνι του Πειραιά. </a:t>
            </a:r>
          </a:p>
          <a:p>
            <a:pPr algn="ctr" rtl="0">
              <a:buNone/>
            </a:pPr>
            <a:r>
              <a:rPr lang="el-GR" sz="1400" b="1" i="0" u="sng" strike="noStrike" dirty="0">
                <a:solidFill>
                  <a:srgbClr val="334155"/>
                </a:solidFill>
                <a:effectLst/>
                <a:latin typeface="Lato" panose="020F0502020204030203" pitchFamily="34" charset="0"/>
              </a:rPr>
              <a:t>Επιλογή Δεκεμβρίου 2018 για βέλτιστη επεξεργασία.</a:t>
            </a:r>
            <a:endParaRPr lang="el-GR" b="1" u="sng" dirty="0">
              <a:effectLst/>
            </a:endParaRPr>
          </a:p>
          <a:p>
            <a:pPr>
              <a:buNone/>
            </a:pPr>
            <a:br>
              <a:rPr lang="el-GR" dirty="0"/>
            </a:br>
            <a:endParaRPr lang="el-GR" dirty="0"/>
          </a:p>
        </p:txBody>
      </p:sp>
      <p:pic>
        <p:nvPicPr>
          <p:cNvPr id="7" name="Picture 2">
            <a:extLst>
              <a:ext uri="{FF2B5EF4-FFF2-40B4-BE49-F238E27FC236}">
                <a16:creationId xmlns:a16="http://schemas.microsoft.com/office/drawing/2014/main" id="{C693AF4F-7925-2BDE-C1A1-EEF5330089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659" y="2229602"/>
            <a:ext cx="2822658" cy="279189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DB26C7B1-86D2-0839-E67C-239EB2385A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2034" y="2229602"/>
            <a:ext cx="2822658" cy="2791893"/>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9B672707-84C5-69CF-2C18-738C6B3622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7872" y="2447025"/>
            <a:ext cx="476250" cy="4857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2E70376-459B-D2E7-1B4B-312886655A76}"/>
              </a:ext>
            </a:extLst>
          </p:cNvPr>
          <p:cNvSpPr txBox="1"/>
          <p:nvPr/>
        </p:nvSpPr>
        <p:spPr>
          <a:xfrm>
            <a:off x="4880998" y="3305266"/>
            <a:ext cx="2277979" cy="1815882"/>
          </a:xfrm>
          <a:prstGeom prst="rect">
            <a:avLst/>
          </a:prstGeom>
          <a:noFill/>
        </p:spPr>
        <p:txBody>
          <a:bodyPr wrap="square">
            <a:spAutoFit/>
          </a:bodyPr>
          <a:lstStyle/>
          <a:p>
            <a:pPr algn="ctr" rtl="0">
              <a:buNone/>
            </a:pPr>
            <a:r>
              <a:rPr lang="el-GR" sz="1400" b="0" i="0" u="none" strike="noStrike" dirty="0">
                <a:solidFill>
                  <a:srgbClr val="334155"/>
                </a:solidFill>
                <a:effectLst/>
                <a:latin typeface="Lato" panose="020F0502020204030203" pitchFamily="34" charset="0"/>
              </a:rPr>
              <a:t>Μετεωρολογικά δεδομένα από το National Oceanic and Atmospheric Administration (ΝΟΑΑ) </a:t>
            </a:r>
            <a:r>
              <a:rPr lang="el-GR" b="1" u="sng" dirty="0">
                <a:solidFill>
                  <a:srgbClr val="334155"/>
                </a:solidFill>
                <a:latin typeface="Lato" panose="020F0502020204030203" pitchFamily="34" charset="0"/>
              </a:rPr>
              <a:t>ΜΟΝΟ</a:t>
            </a:r>
            <a:r>
              <a:rPr lang="el-GR" dirty="0">
                <a:solidFill>
                  <a:srgbClr val="334155"/>
                </a:solidFill>
                <a:latin typeface="Lato" panose="020F0502020204030203" pitchFamily="34" charset="0"/>
              </a:rPr>
              <a:t> για Δεκέμβριο του 2018</a:t>
            </a:r>
            <a:r>
              <a:rPr lang="el-GR" sz="1400" b="0" i="0" u="none" strike="noStrike" dirty="0">
                <a:solidFill>
                  <a:srgbClr val="334155"/>
                </a:solidFill>
                <a:effectLst/>
                <a:latin typeface="Lato" panose="020F0502020204030203" pitchFamily="34" charset="0"/>
              </a:rPr>
              <a:t>.</a:t>
            </a:r>
            <a:endParaRPr lang="el-GR" b="0" dirty="0">
              <a:effectLst/>
            </a:endParaRPr>
          </a:p>
          <a:p>
            <a:pPr>
              <a:buNone/>
            </a:pPr>
            <a:br>
              <a:rPr lang="el-GR" dirty="0"/>
            </a:br>
            <a:endParaRPr lang="el-GR" dirty="0"/>
          </a:p>
        </p:txBody>
      </p:sp>
      <p:pic>
        <p:nvPicPr>
          <p:cNvPr id="5130" name="Picture 10">
            <a:extLst>
              <a:ext uri="{FF2B5EF4-FFF2-40B4-BE49-F238E27FC236}">
                <a16:creationId xmlns:a16="http://schemas.microsoft.com/office/drawing/2014/main" id="{B722EF15-3468-E065-FCB9-9158019415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1900" y="2447025"/>
            <a:ext cx="542925" cy="4857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D1E70FC-257C-6B86-FC00-41754ECB30AF}"/>
              </a:ext>
            </a:extLst>
          </p:cNvPr>
          <p:cNvSpPr txBox="1"/>
          <p:nvPr/>
        </p:nvSpPr>
        <p:spPr>
          <a:xfrm>
            <a:off x="8974057" y="3305266"/>
            <a:ext cx="2518610" cy="1815882"/>
          </a:xfrm>
          <a:prstGeom prst="rect">
            <a:avLst/>
          </a:prstGeom>
          <a:noFill/>
        </p:spPr>
        <p:txBody>
          <a:bodyPr wrap="square">
            <a:spAutoFit/>
          </a:bodyPr>
          <a:lstStyle/>
          <a:p>
            <a:pPr algn="ctr" rtl="0">
              <a:buNone/>
            </a:pPr>
            <a:r>
              <a:rPr lang="el-GR" sz="1400" b="0" i="0" u="none" strike="noStrike" dirty="0">
                <a:solidFill>
                  <a:srgbClr val="334155"/>
                </a:solidFill>
                <a:effectLst/>
                <a:latin typeface="Lato" panose="020F0502020204030203" pitchFamily="34" charset="0"/>
              </a:rPr>
              <a:t>Γεωγραφικά όρια και σταθμοί καιρού που χρησιμοποιούνται για τον χωρικό συσχετισμό.</a:t>
            </a:r>
            <a:endParaRPr lang="el-GR" b="0" dirty="0">
              <a:effectLst/>
            </a:endParaRPr>
          </a:p>
          <a:p>
            <a:pPr algn="ctr"/>
            <a:r>
              <a:rPr lang="el-GR" b="1" u="sng" dirty="0">
                <a:solidFill>
                  <a:srgbClr val="334155"/>
                </a:solidFill>
                <a:latin typeface="Lato" panose="020F0502020204030203" pitchFamily="34" charset="0"/>
              </a:rPr>
              <a:t>ΜΟΝΟ</a:t>
            </a:r>
            <a:r>
              <a:rPr lang="el-GR" dirty="0">
                <a:solidFill>
                  <a:srgbClr val="334155"/>
                </a:solidFill>
                <a:latin typeface="Lato" panose="020F0502020204030203" pitchFamily="34" charset="0"/>
              </a:rPr>
              <a:t> για Δεκέμβριο του 2018.</a:t>
            </a:r>
            <a:endParaRPr lang="el-GR" dirty="0"/>
          </a:p>
          <a:p>
            <a:pPr>
              <a:buNone/>
            </a:pPr>
            <a:br>
              <a:rPr lang="el-GR" dirty="0"/>
            </a:br>
            <a:endParaRPr lang="el-G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4">
          <a:extLst>
            <a:ext uri="{FF2B5EF4-FFF2-40B4-BE49-F238E27FC236}">
              <a16:creationId xmlns:a16="http://schemas.microsoft.com/office/drawing/2014/main" id="{6164C5B2-E628-A460-7DAE-45D2C820CE07}"/>
            </a:ext>
          </a:extLst>
        </p:cNvPr>
        <p:cNvGrpSpPr/>
        <p:nvPr/>
      </p:nvGrpSpPr>
      <p:grpSpPr>
        <a:xfrm>
          <a:off x="0" y="0"/>
          <a:ext cx="0" cy="0"/>
          <a:chOff x="0" y="0"/>
          <a:chExt cx="0" cy="0"/>
        </a:xfrm>
      </p:grpSpPr>
      <p:sp>
        <p:nvSpPr>
          <p:cNvPr id="161" name="Google Shape;161;p16">
            <a:extLst>
              <a:ext uri="{FF2B5EF4-FFF2-40B4-BE49-F238E27FC236}">
                <a16:creationId xmlns:a16="http://schemas.microsoft.com/office/drawing/2014/main" id="{B824BE9C-BC38-7499-E678-F7AC84EB3E23}"/>
              </a:ext>
            </a:extLst>
          </p:cNvPr>
          <p:cNvSpPr txBox="1"/>
          <p:nvPr/>
        </p:nvSpPr>
        <p:spPr>
          <a:xfrm>
            <a:off x="395286" y="916601"/>
            <a:ext cx="11401425" cy="48474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ΕΝΟΠΟΙΗΣΗ ΔΕΔΟΜΕΝΩΝ</a:t>
            </a:r>
          </a:p>
        </p:txBody>
      </p:sp>
      <p:sp>
        <p:nvSpPr>
          <p:cNvPr id="2" name="Google Shape;161;p16">
            <a:extLst>
              <a:ext uri="{FF2B5EF4-FFF2-40B4-BE49-F238E27FC236}">
                <a16:creationId xmlns:a16="http://schemas.microsoft.com/office/drawing/2014/main" id="{E7F702D4-F4B4-A7A1-6A61-33FA23641FBB}"/>
              </a:ext>
            </a:extLst>
          </p:cNvPr>
          <p:cNvSpPr txBox="1"/>
          <p:nvPr/>
        </p:nvSpPr>
        <p:spPr>
          <a:xfrm>
            <a:off x="395285" y="241478"/>
            <a:ext cx="11401425" cy="48474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Η ΕΡΓΑΣΙΑ ΜΑΣ</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3" name="Google Shape;168;p17" descr="image.png">
            <a:extLst>
              <a:ext uri="{FF2B5EF4-FFF2-40B4-BE49-F238E27FC236}">
                <a16:creationId xmlns:a16="http://schemas.microsoft.com/office/drawing/2014/main" id="{C7924B89-F920-7C9A-C91C-470B7E3CD7AE}"/>
              </a:ext>
            </a:extLst>
          </p:cNvPr>
          <p:cNvPicPr preferRelativeResize="0"/>
          <p:nvPr/>
        </p:nvPicPr>
        <p:blipFill rotWithShape="1">
          <a:blip r:embed="rId3">
            <a:alphaModFix/>
          </a:blip>
          <a:srcRect/>
          <a:stretch/>
        </p:blipFill>
        <p:spPr>
          <a:xfrm>
            <a:off x="571500" y="2218580"/>
            <a:ext cx="10802352" cy="3733800"/>
          </a:xfrm>
          <a:prstGeom prst="rect">
            <a:avLst/>
          </a:prstGeom>
          <a:noFill/>
          <a:ln>
            <a:noFill/>
          </a:ln>
        </p:spPr>
      </p:pic>
      <p:sp>
        <p:nvSpPr>
          <p:cNvPr id="5" name="TextBox 4">
            <a:extLst>
              <a:ext uri="{FF2B5EF4-FFF2-40B4-BE49-F238E27FC236}">
                <a16:creationId xmlns:a16="http://schemas.microsoft.com/office/drawing/2014/main" id="{C0EDF134-F11E-40B4-BB37-D96C1E8B776B}"/>
              </a:ext>
            </a:extLst>
          </p:cNvPr>
          <p:cNvSpPr txBox="1"/>
          <p:nvPr/>
        </p:nvSpPr>
        <p:spPr>
          <a:xfrm>
            <a:off x="2555708" y="2408430"/>
            <a:ext cx="6833936" cy="4670509"/>
          </a:xfrm>
          <a:prstGeom prst="rect">
            <a:avLst/>
          </a:prstGeom>
          <a:noFill/>
        </p:spPr>
        <p:txBody>
          <a:bodyPr wrap="square">
            <a:spAutoFit/>
          </a:bodyPr>
          <a:lstStyle/>
          <a:p>
            <a:pPr>
              <a:lnSpc>
                <a:spcPct val="150000"/>
              </a:lnSpc>
            </a:pPr>
            <a:r>
              <a:rPr lang="el-GR" sz="1700" dirty="0">
                <a:solidFill>
                  <a:schemeClr val="bg1"/>
                </a:solidFill>
                <a:latin typeface="Urbanist" panose="020B0604020202020204" charset="0"/>
                <a:ea typeface="Urbanist" panose="020B0604020202020204" charset="0"/>
                <a:cs typeface="Urbanist" panose="020B0604020202020204" charset="0"/>
              </a:rPr>
              <a:t>Η σύνδεση των δεδομένων πραγματοποιείται σε πολλαπλά επίπεδα για τη δημιουργία ενός ενιαίου συνόλου.</a:t>
            </a:r>
          </a:p>
          <a:p>
            <a:pPr>
              <a:lnSpc>
                <a:spcPct val="150000"/>
              </a:lnSpc>
            </a:pPr>
            <a:endParaRPr lang="el-GR" sz="1700" dirty="0">
              <a:solidFill>
                <a:schemeClr val="bg1"/>
              </a:solidFill>
              <a:latin typeface="Urbanist" panose="020B0604020202020204" charset="0"/>
              <a:ea typeface="Urbanist" panose="020B0604020202020204" charset="0"/>
              <a:cs typeface="Urbanist" panose="020B0604020202020204" charset="0"/>
            </a:endParaRPr>
          </a:p>
          <a:p>
            <a:pPr marL="285750" indent="-285750">
              <a:lnSpc>
                <a:spcPct val="150000"/>
              </a:lnSpc>
              <a:buFont typeface="Wingdings" panose="05000000000000000000" pitchFamily="2" charset="2"/>
              <a:buChar char="è"/>
            </a:pPr>
            <a:r>
              <a:rPr lang="el-GR" sz="1700" b="1" dirty="0">
                <a:solidFill>
                  <a:schemeClr val="bg1"/>
                </a:solidFill>
                <a:latin typeface="Urbanist" panose="020B0604020202020204" charset="0"/>
                <a:ea typeface="Urbanist" panose="020B0604020202020204" charset="0"/>
                <a:cs typeface="Urbanist" panose="020B0604020202020204" charset="0"/>
              </a:rPr>
              <a:t>Dynamic + Static:</a:t>
            </a:r>
            <a:r>
              <a:rPr lang="el-GR" sz="1700" dirty="0">
                <a:solidFill>
                  <a:schemeClr val="bg1"/>
                </a:solidFill>
                <a:latin typeface="Urbanist" panose="020B0604020202020204" charset="0"/>
                <a:ea typeface="Urbanist" panose="020B0604020202020204" charset="0"/>
                <a:cs typeface="Urbanist" panose="020B0604020202020204" charset="0"/>
              </a:rPr>
              <a:t> Σύνδεση μέσω του </a:t>
            </a:r>
            <a:r>
              <a:rPr lang="el-GR" sz="1700" b="1" u="sng" dirty="0">
                <a:solidFill>
                  <a:schemeClr val="bg1"/>
                </a:solidFill>
                <a:latin typeface="Urbanist" panose="020B0604020202020204" charset="0"/>
                <a:ea typeface="Urbanist" panose="020B0604020202020204" charset="0"/>
                <a:cs typeface="Urbanist" panose="020B0604020202020204" charset="0"/>
              </a:rPr>
              <a:t>vessel_id </a:t>
            </a:r>
            <a:r>
              <a:rPr lang="el-GR" sz="1700" dirty="0">
                <a:solidFill>
                  <a:schemeClr val="bg1"/>
                </a:solidFill>
                <a:latin typeface="Urbanist" panose="020B0604020202020204" charset="0"/>
                <a:ea typeface="Urbanist" panose="020B0604020202020204" charset="0"/>
                <a:cs typeface="Urbanist" panose="020B0604020202020204" charset="0"/>
              </a:rPr>
              <a:t>για τον προσδιορισμό του τύπου και της σημαίας του πλοίου.</a:t>
            </a:r>
          </a:p>
          <a:p>
            <a:pPr marL="285750" indent="-285750">
              <a:lnSpc>
                <a:spcPct val="150000"/>
              </a:lnSpc>
              <a:buFont typeface="Wingdings" panose="05000000000000000000" pitchFamily="2" charset="2"/>
              <a:buChar char="è"/>
            </a:pPr>
            <a:endParaRPr lang="el-GR" sz="1700" dirty="0">
              <a:solidFill>
                <a:schemeClr val="bg1"/>
              </a:solidFill>
              <a:latin typeface="Urbanist" panose="020B0604020202020204" charset="0"/>
              <a:ea typeface="Urbanist" panose="020B0604020202020204" charset="0"/>
              <a:cs typeface="Urbanist" panose="020B0604020202020204" charset="0"/>
            </a:endParaRPr>
          </a:p>
          <a:p>
            <a:pPr marL="285750" indent="-285750">
              <a:lnSpc>
                <a:spcPct val="150000"/>
              </a:lnSpc>
              <a:buFont typeface="Wingdings" panose="05000000000000000000" pitchFamily="2" charset="2"/>
              <a:buChar char="è"/>
            </a:pPr>
            <a:r>
              <a:rPr lang="el-GR" sz="1700" b="1" dirty="0">
                <a:solidFill>
                  <a:schemeClr val="bg1"/>
                </a:solidFill>
                <a:latin typeface="Urbanist" panose="020B0604020202020204" charset="0"/>
                <a:ea typeface="Urbanist" panose="020B0604020202020204" charset="0"/>
                <a:cs typeface="Urbanist" panose="020B0604020202020204" charset="0"/>
              </a:rPr>
              <a:t> AIS + Weather:</a:t>
            </a:r>
            <a:r>
              <a:rPr lang="el-GR" sz="1700" dirty="0">
                <a:solidFill>
                  <a:schemeClr val="bg1"/>
                </a:solidFill>
                <a:latin typeface="Urbanist" panose="020B0604020202020204" charset="0"/>
                <a:ea typeface="Urbanist" panose="020B0604020202020204" charset="0"/>
                <a:cs typeface="Urbanist" panose="020B0604020202020204" charset="0"/>
              </a:rPr>
              <a:t> Σύνδεση μέσω χωροχρονικής ανάλυσης (όχι απλό Join).</a:t>
            </a:r>
          </a:p>
          <a:p>
            <a:pPr>
              <a:lnSpc>
                <a:spcPct val="150000"/>
              </a:lnSpc>
            </a:pPr>
            <a:endParaRPr lang="el-GR" sz="1700" dirty="0">
              <a:solidFill>
                <a:schemeClr val="bg1"/>
              </a:solidFill>
              <a:latin typeface="Urbanist" panose="020B0604020202020204" charset="0"/>
              <a:ea typeface="Urbanist" panose="020B0604020202020204" charset="0"/>
              <a:cs typeface="Urbanist" panose="020B0604020202020204" charset="0"/>
            </a:endParaRPr>
          </a:p>
          <a:p>
            <a:br>
              <a:rPr lang="el-GR" sz="1700" dirty="0">
                <a:solidFill>
                  <a:schemeClr val="bg1"/>
                </a:solidFill>
                <a:latin typeface="Urbanist" panose="020B0604020202020204" charset="0"/>
                <a:ea typeface="Urbanist" panose="020B0604020202020204" charset="0"/>
                <a:cs typeface="Urbanist" panose="020B0604020202020204" charset="0"/>
              </a:rPr>
            </a:br>
            <a:endParaRPr lang="el-GR" sz="1700" dirty="0">
              <a:solidFill>
                <a:schemeClr val="bg1"/>
              </a:solidFill>
              <a:latin typeface="Urbanist" panose="020B0604020202020204" charset="0"/>
              <a:ea typeface="Urbanist" panose="020B0604020202020204" charset="0"/>
              <a:cs typeface="Urbanist" panose="020B060402020202020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l-GR" sz="1700" b="0" i="0" u="none" strike="noStrike" kern="0" cap="none" spc="0" normalizeH="0" baseline="0" noProof="0" dirty="0">
                <a:ln>
                  <a:noFill/>
                </a:ln>
                <a:solidFill>
                  <a:schemeClr val="bg1"/>
                </a:solidFill>
                <a:effectLst/>
                <a:uLnTx/>
                <a:uFillTx/>
                <a:latin typeface="Urbanist" panose="020B0604020202020204" charset="0"/>
                <a:ea typeface="Urbanist" panose="020B0604020202020204" charset="0"/>
                <a:cs typeface="Urbanist" panose="020B0604020202020204" charset="0"/>
                <a:sym typeface="Arial"/>
              </a:rPr>
            </a:br>
            <a:endParaRPr kumimoji="0" lang="el-GR" sz="1700" b="0" i="0" u="none" strike="noStrike" kern="0" cap="none" spc="0" normalizeH="0" baseline="0" noProof="0" dirty="0">
              <a:ln>
                <a:noFill/>
              </a:ln>
              <a:solidFill>
                <a:schemeClr val="bg1"/>
              </a:solidFill>
              <a:effectLst/>
              <a:uLnTx/>
              <a:uFillTx/>
              <a:latin typeface="Urbanist" panose="020B0604020202020204" charset="0"/>
              <a:ea typeface="Urbanist" panose="020B0604020202020204" charset="0"/>
              <a:cs typeface="Urbanist" panose="020B0604020202020204" charset="0"/>
              <a:sym typeface="Arial"/>
            </a:endParaRPr>
          </a:p>
        </p:txBody>
      </p:sp>
    </p:spTree>
    <p:extLst>
      <p:ext uri="{BB962C8B-B14F-4D97-AF65-F5344CB8AC3E}">
        <p14:creationId xmlns:p14="http://schemas.microsoft.com/office/powerpoint/2010/main" val="1902404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6"/>
        <p:cNvGrpSpPr/>
        <p:nvPr/>
      </p:nvGrpSpPr>
      <p:grpSpPr>
        <a:xfrm>
          <a:off x="0" y="0"/>
          <a:ext cx="0" cy="0"/>
          <a:chOff x="0" y="0"/>
          <a:chExt cx="0" cy="0"/>
        </a:xfrm>
      </p:grpSpPr>
      <p:pic>
        <p:nvPicPr>
          <p:cNvPr id="169" name="Google Shape;169;p17" descr="image.png"/>
          <p:cNvPicPr preferRelativeResize="0"/>
          <p:nvPr/>
        </p:nvPicPr>
        <p:blipFill rotWithShape="1">
          <a:blip r:embed="rId3">
            <a:alphaModFix/>
          </a:blip>
          <a:srcRect/>
          <a:stretch/>
        </p:blipFill>
        <p:spPr>
          <a:xfrm>
            <a:off x="571500" y="2218579"/>
            <a:ext cx="11049000" cy="3735885"/>
          </a:xfrm>
          <a:prstGeom prst="rect">
            <a:avLst/>
          </a:prstGeom>
          <a:noFill/>
          <a:ln>
            <a:noFill/>
          </a:ln>
        </p:spPr>
      </p:pic>
      <p:sp>
        <p:nvSpPr>
          <p:cNvPr id="173" name="Google Shape;173;p17"/>
          <p:cNvSpPr txBox="1"/>
          <p:nvPr/>
        </p:nvSpPr>
        <p:spPr>
          <a:xfrm>
            <a:off x="4091464" y="2475755"/>
            <a:ext cx="4980622"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err="1">
                <a:solidFill>
                  <a:srgbClr val="38BDF8"/>
                </a:solidFill>
                <a:latin typeface="Urbanist"/>
                <a:ea typeface="Urbanist"/>
                <a:cs typeface="Urbanist"/>
                <a:sym typeface="Urbanist"/>
              </a:rPr>
              <a:t>Στοιχεί</a:t>
            </a:r>
            <a:r>
              <a:rPr lang="en-US" sz="2100" b="1" i="0" u="none" strike="noStrike" cap="none" dirty="0">
                <a:solidFill>
                  <a:srgbClr val="38BDF8"/>
                </a:solidFill>
                <a:latin typeface="Urbanist"/>
                <a:ea typeface="Urbanist"/>
                <a:cs typeface="Urbanist"/>
                <a:sym typeface="Urbanist"/>
              </a:rPr>
              <a:t>α Εμπλουτισμού</a:t>
            </a:r>
            <a:endParaRPr dirty="0"/>
          </a:p>
        </p:txBody>
      </p:sp>
      <p:sp>
        <p:nvSpPr>
          <p:cNvPr id="180" name="Google Shape;180;p17"/>
          <p:cNvSpPr txBox="1"/>
          <p:nvPr/>
        </p:nvSpPr>
        <p:spPr>
          <a:xfrm>
            <a:off x="3312146" y="3046445"/>
            <a:ext cx="4743450" cy="467820"/>
          </a:xfrm>
          <a:prstGeom prst="rect">
            <a:avLst/>
          </a:prstGeom>
          <a:noFill/>
          <a:ln>
            <a:noFill/>
          </a:ln>
        </p:spPr>
        <p:txBody>
          <a:bodyPr spcFirstLastPara="1" wrap="square" lIns="219075" tIns="0" rIns="0" bIns="0" anchor="t" anchorCtr="0">
            <a:spAutoFit/>
          </a:bodyPr>
          <a:lstStyle/>
          <a:p>
            <a:pPr marL="0" marR="0" lvl="0" indent="0" algn="l" rtl="0">
              <a:lnSpc>
                <a:spcPct val="160000"/>
              </a:lnSpc>
              <a:spcBef>
                <a:spcPts val="0"/>
              </a:spcBef>
              <a:spcAft>
                <a:spcPts val="0"/>
              </a:spcAft>
              <a:buNone/>
            </a:pPr>
            <a:r>
              <a:rPr lang="en-US" sz="1900" b="1" i="0" u="none" strike="noStrike" cap="none" dirty="0" err="1">
                <a:solidFill>
                  <a:srgbClr val="CBD5E1"/>
                </a:solidFill>
                <a:latin typeface="Urbanist"/>
                <a:ea typeface="Urbanist"/>
                <a:cs typeface="Urbanist"/>
                <a:sym typeface="Urbanist"/>
              </a:rPr>
              <a:t>Στ</a:t>
            </a:r>
            <a:r>
              <a:rPr lang="en-US" sz="1900" b="1" i="0" u="none" strike="noStrike" cap="none" dirty="0">
                <a:solidFill>
                  <a:srgbClr val="CBD5E1"/>
                </a:solidFill>
                <a:latin typeface="Urbanist"/>
                <a:ea typeface="Urbanist"/>
                <a:cs typeface="Urbanist"/>
                <a:sym typeface="Urbanist"/>
              </a:rPr>
              <a:t>ατικά:</a:t>
            </a:r>
            <a:r>
              <a:rPr lang="en-US" sz="1900" b="0" i="0" u="none" strike="noStrike" cap="none" dirty="0">
                <a:solidFill>
                  <a:srgbClr val="CBD5E1"/>
                </a:solidFill>
                <a:latin typeface="Urbanist"/>
                <a:ea typeface="Urbanist"/>
                <a:cs typeface="Urbanist"/>
                <a:sym typeface="Urbanist"/>
              </a:rPr>
              <a:t> vessel_id, country, shiptype</a:t>
            </a:r>
            <a:endParaRPr sz="1900" dirty="0"/>
          </a:p>
        </p:txBody>
      </p:sp>
      <p:sp>
        <p:nvSpPr>
          <p:cNvPr id="181" name="Google Shape;181;p17"/>
          <p:cNvSpPr txBox="1"/>
          <p:nvPr/>
        </p:nvSpPr>
        <p:spPr>
          <a:xfrm>
            <a:off x="3312146" y="3506677"/>
            <a:ext cx="4743450" cy="467820"/>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900" b="1" i="0" u="none" strike="noStrike" cap="none" dirty="0" err="1">
                <a:solidFill>
                  <a:srgbClr val="CBD5E1"/>
                </a:solidFill>
                <a:latin typeface="Urbanist"/>
                <a:ea typeface="Urbanist"/>
                <a:cs typeface="Urbanist"/>
                <a:sym typeface="Urbanist"/>
              </a:rPr>
              <a:t>Χρονικά</a:t>
            </a:r>
            <a:r>
              <a:rPr lang="en-US" sz="1900" b="1" i="0" u="none" strike="noStrike" cap="none" dirty="0">
                <a:solidFill>
                  <a:srgbClr val="CBD5E1"/>
                </a:solidFill>
                <a:latin typeface="Urbanist"/>
                <a:ea typeface="Urbanist"/>
                <a:cs typeface="Urbanist"/>
                <a:sym typeface="Urbanist"/>
              </a:rPr>
              <a:t>:</a:t>
            </a:r>
            <a:r>
              <a:rPr lang="en-US" sz="1900" b="0" i="0" u="none" strike="noStrike" cap="none" dirty="0">
                <a:solidFill>
                  <a:srgbClr val="CBD5E1"/>
                </a:solidFill>
                <a:latin typeface="Urbanist"/>
                <a:ea typeface="Urbanist"/>
                <a:cs typeface="Urbanist"/>
                <a:sym typeface="Urbanist"/>
              </a:rPr>
              <a:t> </a:t>
            </a:r>
            <a:r>
              <a:rPr lang="en-US" sz="1900" b="0" i="0" u="none" strike="noStrike" cap="none" dirty="0" err="1">
                <a:solidFill>
                  <a:srgbClr val="CBD5E1"/>
                </a:solidFill>
                <a:latin typeface="Urbanist"/>
                <a:ea typeface="Urbanist"/>
                <a:cs typeface="Urbanist"/>
                <a:sym typeface="Urbanist"/>
              </a:rPr>
              <a:t>start_time</a:t>
            </a:r>
            <a:r>
              <a:rPr lang="en-US" sz="1900" b="0" i="0" u="none" strike="noStrike" cap="none" dirty="0">
                <a:solidFill>
                  <a:srgbClr val="CBD5E1"/>
                </a:solidFill>
                <a:latin typeface="Urbanist"/>
                <a:ea typeface="Urbanist"/>
                <a:cs typeface="Urbanist"/>
                <a:sym typeface="Urbanist"/>
              </a:rPr>
              <a:t>, </a:t>
            </a:r>
            <a:r>
              <a:rPr lang="en-US" sz="1900" b="0" i="0" u="none" strike="noStrike" cap="none" dirty="0" err="1">
                <a:solidFill>
                  <a:srgbClr val="CBD5E1"/>
                </a:solidFill>
                <a:latin typeface="Urbanist"/>
                <a:ea typeface="Urbanist"/>
                <a:cs typeface="Urbanist"/>
                <a:sym typeface="Urbanist"/>
              </a:rPr>
              <a:t>end_time</a:t>
            </a:r>
            <a:endParaRPr sz="1900" dirty="0"/>
          </a:p>
        </p:txBody>
      </p:sp>
      <p:sp>
        <p:nvSpPr>
          <p:cNvPr id="182" name="Google Shape;182;p17"/>
          <p:cNvSpPr txBox="1"/>
          <p:nvPr/>
        </p:nvSpPr>
        <p:spPr>
          <a:xfrm>
            <a:off x="3231208" y="4193372"/>
            <a:ext cx="4743450" cy="467820"/>
          </a:xfrm>
          <a:prstGeom prst="rect">
            <a:avLst/>
          </a:prstGeom>
          <a:noFill/>
          <a:ln>
            <a:noFill/>
          </a:ln>
        </p:spPr>
        <p:txBody>
          <a:bodyPr spcFirstLastPara="1" wrap="square" lIns="238125" tIns="0" rIns="0" bIns="0" anchor="t" anchorCtr="0">
            <a:spAutoFit/>
          </a:bodyPr>
          <a:lstStyle/>
          <a:p>
            <a:pPr marL="0" marR="0" lvl="0" indent="0" algn="l" rtl="0">
              <a:lnSpc>
                <a:spcPct val="160000"/>
              </a:lnSpc>
              <a:spcBef>
                <a:spcPts val="0"/>
              </a:spcBef>
              <a:spcAft>
                <a:spcPts val="0"/>
              </a:spcAft>
              <a:buNone/>
            </a:pPr>
            <a:r>
              <a:rPr lang="en-US" sz="1900" b="1" i="0" u="none" strike="noStrike" cap="none" dirty="0">
                <a:solidFill>
                  <a:srgbClr val="CBD5E1"/>
                </a:solidFill>
                <a:latin typeface="Urbanist"/>
                <a:ea typeface="Urbanist"/>
                <a:cs typeface="Urbanist"/>
                <a:sym typeface="Urbanist"/>
              </a:rPr>
              <a:t>Κα</a:t>
            </a:r>
            <a:r>
              <a:rPr lang="en-US" sz="1900" b="1" i="0" u="none" strike="noStrike" cap="none" dirty="0" err="1">
                <a:solidFill>
                  <a:srgbClr val="CBD5E1"/>
                </a:solidFill>
                <a:latin typeface="Urbanist"/>
                <a:ea typeface="Urbanist"/>
                <a:cs typeface="Urbanist"/>
                <a:sym typeface="Urbanist"/>
              </a:rPr>
              <a:t>ιρικά</a:t>
            </a:r>
            <a:r>
              <a:rPr lang="en-US" sz="1900" b="1" i="0" u="none" strike="noStrike" cap="none" dirty="0">
                <a:solidFill>
                  <a:srgbClr val="CBD5E1"/>
                </a:solidFill>
                <a:latin typeface="Urbanist"/>
                <a:ea typeface="Urbanist"/>
                <a:cs typeface="Urbanist"/>
                <a:sym typeface="Urbanist"/>
              </a:rPr>
              <a:t>:</a:t>
            </a:r>
            <a:r>
              <a:rPr lang="en-US" sz="1900" b="0" i="0" u="none" strike="noStrike" cap="none" dirty="0">
                <a:solidFill>
                  <a:srgbClr val="CBD5E1"/>
                </a:solidFill>
                <a:latin typeface="Urbanist"/>
                <a:ea typeface="Urbanist"/>
                <a:cs typeface="Urbanist"/>
                <a:sym typeface="Urbanist"/>
              </a:rPr>
              <a:t> temp, pressure, </a:t>
            </a:r>
            <a:r>
              <a:rPr lang="en-US" sz="1900" b="0" i="0" u="none" strike="noStrike" cap="none" dirty="0" err="1">
                <a:solidFill>
                  <a:srgbClr val="CBD5E1"/>
                </a:solidFill>
                <a:latin typeface="Urbanist"/>
                <a:ea typeface="Urbanist"/>
                <a:cs typeface="Urbanist"/>
                <a:sym typeface="Urbanist"/>
              </a:rPr>
              <a:t>wind_speed</a:t>
            </a:r>
            <a:endParaRPr sz="1900" dirty="0"/>
          </a:p>
        </p:txBody>
      </p:sp>
      <p:sp>
        <p:nvSpPr>
          <p:cNvPr id="183" name="Google Shape;183;p17"/>
          <p:cNvSpPr txBox="1"/>
          <p:nvPr/>
        </p:nvSpPr>
        <p:spPr>
          <a:xfrm>
            <a:off x="3343503" y="4631122"/>
            <a:ext cx="4743450" cy="467820"/>
          </a:xfrm>
          <a:prstGeom prst="rect">
            <a:avLst/>
          </a:prstGeom>
          <a:noFill/>
          <a:ln>
            <a:noFill/>
          </a:ln>
        </p:spPr>
        <p:txBody>
          <a:bodyPr spcFirstLastPara="1" wrap="square" lIns="142875" tIns="0" rIns="0" bIns="0" anchor="t" anchorCtr="0">
            <a:spAutoFit/>
          </a:bodyPr>
          <a:lstStyle/>
          <a:p>
            <a:pPr marL="0" marR="0" lvl="0" indent="0" algn="l" rtl="0">
              <a:lnSpc>
                <a:spcPct val="160000"/>
              </a:lnSpc>
              <a:spcBef>
                <a:spcPts val="0"/>
              </a:spcBef>
              <a:spcAft>
                <a:spcPts val="0"/>
              </a:spcAft>
              <a:buNone/>
            </a:pPr>
            <a:r>
              <a:rPr lang="en-US" sz="1900" b="1" i="0" u="none" strike="noStrike" cap="none" dirty="0" err="1">
                <a:solidFill>
                  <a:srgbClr val="CBD5E1"/>
                </a:solidFill>
                <a:latin typeface="Urbanist"/>
                <a:ea typeface="Urbanist"/>
                <a:cs typeface="Urbanist"/>
                <a:sym typeface="Urbanist"/>
              </a:rPr>
              <a:t>Χωρικά</a:t>
            </a:r>
            <a:r>
              <a:rPr lang="en-US" sz="1900" b="1" i="0" u="none" strike="noStrike" cap="none" dirty="0">
                <a:solidFill>
                  <a:srgbClr val="CBD5E1"/>
                </a:solidFill>
                <a:latin typeface="Urbanist"/>
                <a:ea typeface="Urbanist"/>
                <a:cs typeface="Urbanist"/>
                <a:sym typeface="Urbanist"/>
              </a:rPr>
              <a:t>:</a:t>
            </a:r>
            <a:r>
              <a:rPr lang="en-US" sz="1900" b="0" i="0" u="none" strike="noStrike" cap="none" dirty="0">
                <a:solidFill>
                  <a:srgbClr val="CBD5E1"/>
                </a:solidFill>
                <a:latin typeface="Urbanist"/>
                <a:ea typeface="Urbanist"/>
                <a:cs typeface="Urbanist"/>
                <a:sym typeface="Urbanist"/>
              </a:rPr>
              <a:t> </a:t>
            </a:r>
            <a:r>
              <a:rPr lang="en-US" sz="1900" b="0" i="0" u="none" strike="noStrike" cap="none" dirty="0" err="1">
                <a:solidFill>
                  <a:srgbClr val="CBD5E1"/>
                </a:solidFill>
                <a:latin typeface="Urbanist"/>
                <a:ea typeface="Urbanist"/>
                <a:cs typeface="Urbanist"/>
                <a:sym typeface="Urbanist"/>
              </a:rPr>
              <a:t>GeoJSON</a:t>
            </a:r>
            <a:r>
              <a:rPr lang="en-US" sz="1900" b="0" i="0" u="none" strike="noStrike" cap="none" dirty="0">
                <a:solidFill>
                  <a:srgbClr val="CBD5E1"/>
                </a:solidFill>
                <a:latin typeface="Urbanist"/>
                <a:ea typeface="Urbanist"/>
                <a:cs typeface="Urbanist"/>
                <a:sym typeface="Urbanist"/>
              </a:rPr>
              <a:t> Points</a:t>
            </a:r>
            <a:endParaRPr sz="1900" dirty="0"/>
          </a:p>
        </p:txBody>
      </p:sp>
      <p:pic>
        <p:nvPicPr>
          <p:cNvPr id="184" name="Google Shape;184;p17" descr="image.png"/>
          <p:cNvPicPr preferRelativeResize="0"/>
          <p:nvPr/>
        </p:nvPicPr>
        <p:blipFill rotWithShape="1">
          <a:blip r:embed="rId4">
            <a:alphaModFix/>
          </a:blip>
          <a:srcRect/>
          <a:stretch/>
        </p:blipFill>
        <p:spPr>
          <a:xfrm>
            <a:off x="2944707" y="3125126"/>
            <a:ext cx="286250" cy="323500"/>
          </a:xfrm>
          <a:prstGeom prst="rect">
            <a:avLst/>
          </a:prstGeom>
          <a:noFill/>
          <a:ln>
            <a:noFill/>
          </a:ln>
        </p:spPr>
      </p:pic>
      <p:pic>
        <p:nvPicPr>
          <p:cNvPr id="185" name="Google Shape;185;p17" descr="image.png"/>
          <p:cNvPicPr preferRelativeResize="0"/>
          <p:nvPr/>
        </p:nvPicPr>
        <p:blipFill rotWithShape="1">
          <a:blip r:embed="rId5">
            <a:alphaModFix/>
          </a:blip>
          <a:srcRect/>
          <a:stretch/>
        </p:blipFill>
        <p:spPr>
          <a:xfrm>
            <a:off x="2968770" y="3634045"/>
            <a:ext cx="238124" cy="267439"/>
          </a:xfrm>
          <a:prstGeom prst="rect">
            <a:avLst/>
          </a:prstGeom>
          <a:noFill/>
          <a:ln>
            <a:noFill/>
          </a:ln>
        </p:spPr>
      </p:pic>
      <p:pic>
        <p:nvPicPr>
          <p:cNvPr id="186" name="Google Shape;186;p17" descr="image.png"/>
          <p:cNvPicPr preferRelativeResize="0"/>
          <p:nvPr/>
        </p:nvPicPr>
        <p:blipFill rotWithShape="1">
          <a:blip r:embed="rId6">
            <a:alphaModFix/>
          </a:blip>
          <a:srcRect/>
          <a:stretch/>
        </p:blipFill>
        <p:spPr>
          <a:xfrm>
            <a:off x="2968770" y="4272323"/>
            <a:ext cx="286250" cy="304800"/>
          </a:xfrm>
          <a:prstGeom prst="rect">
            <a:avLst/>
          </a:prstGeom>
          <a:noFill/>
          <a:ln>
            <a:noFill/>
          </a:ln>
        </p:spPr>
      </p:pic>
      <p:pic>
        <p:nvPicPr>
          <p:cNvPr id="187" name="Google Shape;187;p17" descr="image.png"/>
          <p:cNvPicPr preferRelativeResize="0"/>
          <p:nvPr/>
        </p:nvPicPr>
        <p:blipFill rotWithShape="1">
          <a:blip r:embed="rId7">
            <a:alphaModFix/>
          </a:blip>
          <a:srcRect/>
          <a:stretch/>
        </p:blipFill>
        <p:spPr>
          <a:xfrm>
            <a:off x="2992583" y="4782207"/>
            <a:ext cx="238625" cy="304800"/>
          </a:xfrm>
          <a:prstGeom prst="rect">
            <a:avLst/>
          </a:prstGeom>
          <a:noFill/>
          <a:ln>
            <a:noFill/>
          </a:ln>
        </p:spPr>
      </p:pic>
      <p:sp>
        <p:nvSpPr>
          <p:cNvPr id="188" name="Google Shape;188;p17"/>
          <p:cNvSpPr txBox="1"/>
          <p:nvPr/>
        </p:nvSpPr>
        <p:spPr>
          <a:xfrm>
            <a:off x="762000" y="903535"/>
            <a:ext cx="11401425"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l-GR" sz="3150" b="1" i="0" u="none" strike="noStrike" cap="none" dirty="0">
                <a:solidFill>
                  <a:srgbClr val="2DD4BF"/>
                </a:solidFill>
                <a:latin typeface="Poppins"/>
                <a:ea typeface="Poppins"/>
                <a:cs typeface="Poppins"/>
                <a:sym typeface="Poppins"/>
              </a:rPr>
              <a:t>Βήματα Υλοποίησης &amp; Επεξεργασίας Δεδομένων</a:t>
            </a:r>
            <a:endParaRPr dirty="0"/>
          </a:p>
        </p:txBody>
      </p:sp>
      <p:sp>
        <p:nvSpPr>
          <p:cNvPr id="189" name="Google Shape;189;p17"/>
          <p:cNvSpPr/>
          <p:nvPr/>
        </p:nvSpPr>
        <p:spPr>
          <a:xfrm>
            <a:off x="571500" y="903535"/>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6">
          <a:extLst>
            <a:ext uri="{FF2B5EF4-FFF2-40B4-BE49-F238E27FC236}">
              <a16:creationId xmlns:a16="http://schemas.microsoft.com/office/drawing/2014/main" id="{8F798C27-D61D-32A6-5FE8-D59CB9929E7C}"/>
            </a:ext>
          </a:extLst>
        </p:cNvPr>
        <p:cNvGrpSpPr/>
        <p:nvPr/>
      </p:nvGrpSpPr>
      <p:grpSpPr>
        <a:xfrm>
          <a:off x="0" y="0"/>
          <a:ext cx="0" cy="0"/>
          <a:chOff x="0" y="0"/>
          <a:chExt cx="0" cy="0"/>
        </a:xfrm>
      </p:grpSpPr>
      <p:pic>
        <p:nvPicPr>
          <p:cNvPr id="169" name="Google Shape;169;p17" descr="image.png">
            <a:extLst>
              <a:ext uri="{FF2B5EF4-FFF2-40B4-BE49-F238E27FC236}">
                <a16:creationId xmlns:a16="http://schemas.microsoft.com/office/drawing/2014/main" id="{53C5C010-0764-3FBE-A38A-D99E8097F08B}"/>
              </a:ext>
            </a:extLst>
          </p:cNvPr>
          <p:cNvPicPr preferRelativeResize="0"/>
          <p:nvPr/>
        </p:nvPicPr>
        <p:blipFill rotWithShape="1">
          <a:blip r:embed="rId3">
            <a:alphaModFix/>
          </a:blip>
          <a:srcRect/>
          <a:stretch/>
        </p:blipFill>
        <p:spPr>
          <a:xfrm>
            <a:off x="571500" y="1042737"/>
            <a:ext cx="11049000" cy="5815263"/>
          </a:xfrm>
          <a:prstGeom prst="rect">
            <a:avLst/>
          </a:prstGeom>
          <a:noFill/>
          <a:ln>
            <a:noFill/>
          </a:ln>
        </p:spPr>
      </p:pic>
      <p:sp>
        <p:nvSpPr>
          <p:cNvPr id="188" name="Google Shape;188;p17">
            <a:extLst>
              <a:ext uri="{FF2B5EF4-FFF2-40B4-BE49-F238E27FC236}">
                <a16:creationId xmlns:a16="http://schemas.microsoft.com/office/drawing/2014/main" id="{70FE9024-F7AE-A929-6ABD-D71FC95450B0}"/>
              </a:ext>
            </a:extLst>
          </p:cNvPr>
          <p:cNvSpPr txBox="1"/>
          <p:nvPr/>
        </p:nvSpPr>
        <p:spPr>
          <a:xfrm>
            <a:off x="762000" y="418787"/>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Βήματα Υλοποίησης &amp; Επεξεργασίας Δεδομένων</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9" name="Google Shape;189;p17">
            <a:extLst>
              <a:ext uri="{FF2B5EF4-FFF2-40B4-BE49-F238E27FC236}">
                <a16:creationId xmlns:a16="http://schemas.microsoft.com/office/drawing/2014/main" id="{5730D3FA-79FA-39BF-C09B-EB415C7DC991}"/>
              </a:ext>
            </a:extLst>
          </p:cNvPr>
          <p:cNvSpPr/>
          <p:nvPr/>
        </p:nvSpPr>
        <p:spPr>
          <a:xfrm>
            <a:off x="613611" y="303460"/>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 name="TextBox 2">
            <a:extLst>
              <a:ext uri="{FF2B5EF4-FFF2-40B4-BE49-F238E27FC236}">
                <a16:creationId xmlns:a16="http://schemas.microsoft.com/office/drawing/2014/main" id="{5266F466-E66B-3B3C-286E-04A8E2B92F50}"/>
              </a:ext>
            </a:extLst>
          </p:cNvPr>
          <p:cNvSpPr txBox="1"/>
          <p:nvPr/>
        </p:nvSpPr>
        <p:spPr>
          <a:xfrm>
            <a:off x="762000" y="1249628"/>
            <a:ext cx="10643937" cy="5401479"/>
          </a:xfrm>
          <a:prstGeom prst="rect">
            <a:avLst/>
          </a:prstGeom>
          <a:noFill/>
        </p:spPr>
        <p:txBody>
          <a:bodyPr wrap="square">
            <a:spAutoFit/>
          </a:bodyPr>
          <a:lstStyle/>
          <a:p>
            <a:pPr>
              <a:buFont typeface="Arial" panose="020B0604020202020204" pitchFamily="34" charset="0"/>
              <a:buChar char="•"/>
            </a:pPr>
            <a:endParaRPr lang="el-GR" sz="1900" u="sng" dirty="0">
              <a:solidFill>
                <a:schemeClr val="bg1"/>
              </a:solidFill>
              <a:latin typeface="Urbanist" panose="020B0604020202020204" charset="0"/>
              <a:ea typeface="Urbanist" panose="020B0604020202020204" charset="0"/>
              <a:cs typeface="Urbanist" panose="020B0604020202020204" charset="0"/>
            </a:endParaRPr>
          </a:p>
          <a:p>
            <a:pPr>
              <a:buFont typeface="Arial" panose="020B0604020202020204" pitchFamily="34" charset="0"/>
              <a:buChar char="•"/>
            </a:pPr>
            <a:endParaRPr lang="el-GR" sz="2100" u="sng" dirty="0">
              <a:solidFill>
                <a:schemeClr val="bg1"/>
              </a:solidFill>
              <a:latin typeface="Urbanist" panose="020B0604020202020204" charset="0"/>
              <a:ea typeface="Urbanist" panose="020B0604020202020204" charset="0"/>
              <a:cs typeface="Urbanist" panose="020B0604020202020204" charset="0"/>
            </a:endParaRPr>
          </a:p>
          <a:p>
            <a:pPr marL="457200" indent="-457200">
              <a:buFont typeface="+mj-lt"/>
              <a:buAutoNum type="arabicPeriod"/>
            </a:pPr>
            <a:r>
              <a:rPr lang="el-GR" sz="2100" u="sng" dirty="0">
                <a:solidFill>
                  <a:schemeClr val="bg1"/>
                </a:solidFill>
                <a:latin typeface="Urbanist" panose="020B0604020202020204" charset="0"/>
                <a:ea typeface="Urbanist" panose="020B0604020202020204" charset="0"/>
                <a:cs typeface="Urbanist" panose="020B0604020202020204" charset="0"/>
              </a:rPr>
              <a:t>Περιβάλλον Εκτέλεσης</a:t>
            </a:r>
            <a:r>
              <a:rPr lang="el-GR" sz="2100" dirty="0">
                <a:solidFill>
                  <a:schemeClr val="bg1"/>
                </a:solidFill>
                <a:latin typeface="Urbanist" panose="020B0604020202020204" charset="0"/>
                <a:ea typeface="Urbanist" panose="020B0604020202020204" charset="0"/>
                <a:cs typeface="Urbanist" panose="020B0604020202020204" charset="0"/>
              </a:rPr>
              <a:t>: Ανάπτυξη και πλήρης εκτέλεση του script επεξεργασίας σε περιβάλλον Google </a:t>
            </a:r>
            <a:r>
              <a:rPr lang="el-GR" sz="2100" dirty="0" err="1">
                <a:solidFill>
                  <a:schemeClr val="bg1"/>
                </a:solidFill>
                <a:latin typeface="Urbanist" panose="020B0604020202020204" charset="0"/>
                <a:ea typeface="Urbanist" panose="020B0604020202020204" charset="0"/>
                <a:cs typeface="Urbanist" panose="020B0604020202020204" charset="0"/>
              </a:rPr>
              <a:t>Colab</a:t>
            </a:r>
            <a:r>
              <a:rPr lang="el-GR" sz="2100" dirty="0">
                <a:solidFill>
                  <a:schemeClr val="bg1"/>
                </a:solidFill>
                <a:latin typeface="Urbanist" panose="020B0604020202020204" charset="0"/>
                <a:ea typeface="Urbanist" panose="020B0604020202020204" charset="0"/>
                <a:cs typeface="Urbanist" panose="020B0604020202020204" charset="0"/>
              </a:rPr>
              <a:t>.</a:t>
            </a:r>
          </a:p>
          <a:p>
            <a:pPr marL="457200" indent="-457200">
              <a:buFont typeface="+mj-lt"/>
              <a:buAutoNum type="arabicPeriod"/>
            </a:pPr>
            <a:endParaRPr lang="el-GR" sz="2100" dirty="0">
              <a:solidFill>
                <a:schemeClr val="bg1"/>
              </a:solidFill>
              <a:latin typeface="Urbanist" panose="020B0604020202020204" charset="0"/>
              <a:ea typeface="Urbanist" panose="020B0604020202020204" charset="0"/>
              <a:cs typeface="Urbanist" panose="020B0604020202020204" charset="0"/>
            </a:endParaRPr>
          </a:p>
          <a:p>
            <a:pPr marL="457200" indent="-457200">
              <a:buFont typeface="+mj-lt"/>
              <a:buAutoNum type="arabicPeriod"/>
            </a:pPr>
            <a:r>
              <a:rPr lang="el-GR" sz="2100" u="sng" dirty="0">
                <a:solidFill>
                  <a:schemeClr val="bg1"/>
                </a:solidFill>
                <a:latin typeface="Urbanist" panose="020B0604020202020204" charset="0"/>
                <a:ea typeface="Urbanist" panose="020B0604020202020204" charset="0"/>
                <a:cs typeface="Urbanist" panose="020B0604020202020204" charset="0"/>
              </a:rPr>
              <a:t>Ενοποίηση Δεδομένων AIS</a:t>
            </a:r>
            <a:r>
              <a:rPr lang="el-GR" sz="2100" dirty="0">
                <a:solidFill>
                  <a:schemeClr val="bg1"/>
                </a:solidFill>
                <a:latin typeface="Urbanist" panose="020B0604020202020204" charset="0"/>
                <a:ea typeface="Urbanist" panose="020B0604020202020204" charset="0"/>
                <a:cs typeface="Urbanist" panose="020B0604020202020204" charset="0"/>
              </a:rPr>
              <a:t>: Συνδυασμός των δυναμικών δεδομένων (θέση, ταχύτητα, πορεία, χρονική σήμανση) με τα στατικά χαρακτηριστικά των πλοίων (vessel_id, χώρα, τύπος πλοίου) μέσω κοινού αναγνωριστικού.</a:t>
            </a:r>
          </a:p>
          <a:p>
            <a:pPr marL="457200" indent="-457200">
              <a:buFont typeface="+mj-lt"/>
              <a:buAutoNum type="arabicPeriod"/>
            </a:pPr>
            <a:endParaRPr lang="el-GR" sz="2100" dirty="0">
              <a:solidFill>
                <a:schemeClr val="bg1"/>
              </a:solidFill>
              <a:latin typeface="Urbanist" panose="020B0604020202020204" charset="0"/>
              <a:ea typeface="Urbanist" panose="020B0604020202020204" charset="0"/>
              <a:cs typeface="Urbanist" panose="020B0604020202020204" charset="0"/>
            </a:endParaRPr>
          </a:p>
          <a:p>
            <a:pPr marL="457200" indent="-457200">
              <a:buFont typeface="+mj-lt"/>
              <a:buAutoNum type="arabicPeriod"/>
            </a:pPr>
            <a:r>
              <a:rPr lang="el-GR" sz="2100" u="sng" dirty="0">
                <a:solidFill>
                  <a:schemeClr val="bg1"/>
                </a:solidFill>
                <a:latin typeface="Urbanist" panose="020B0604020202020204" charset="0"/>
                <a:ea typeface="Urbanist" panose="020B0604020202020204" charset="0"/>
                <a:cs typeface="Urbanist" panose="020B0604020202020204" charset="0"/>
              </a:rPr>
              <a:t>Χωροχρονικός Εμπλουτισμός</a:t>
            </a:r>
            <a:r>
              <a:rPr lang="el-GR" sz="2100" dirty="0">
                <a:solidFill>
                  <a:schemeClr val="bg1"/>
                </a:solidFill>
                <a:latin typeface="Urbanist" panose="020B0604020202020204" charset="0"/>
                <a:ea typeface="Urbanist" panose="020B0604020202020204" charset="0"/>
                <a:cs typeface="Urbanist" panose="020B0604020202020204" charset="0"/>
              </a:rPr>
              <a:t>: Ενσωμάτωση μετεωρολογικών πληροφοριών από το dataset της NOAA με τη χρήση του αλγορίθμου nearest-neighbor για τη γεωγραφική προσέγγιση.</a:t>
            </a:r>
          </a:p>
          <a:p>
            <a:pPr marL="457200" indent="-457200">
              <a:buFont typeface="+mj-lt"/>
              <a:buAutoNum type="arabicPeriod"/>
            </a:pPr>
            <a:endParaRPr lang="el-GR" sz="1900" dirty="0">
              <a:solidFill>
                <a:schemeClr val="bg1"/>
              </a:solidFill>
              <a:latin typeface="Urbanist" panose="020B0604020202020204" charset="0"/>
              <a:ea typeface="Urbanist" panose="020B0604020202020204" charset="0"/>
              <a:cs typeface="Urbanist" panose="020B0604020202020204" charset="0"/>
            </a:endParaRPr>
          </a:p>
          <a:p>
            <a:pPr marL="457200" indent="-457200">
              <a:buFont typeface="+mj-lt"/>
              <a:buAutoNum type="arabicPeriod"/>
            </a:pPr>
            <a:endParaRPr lang="el-GR" sz="1900" dirty="0">
              <a:solidFill>
                <a:schemeClr val="bg1"/>
              </a:solidFill>
              <a:latin typeface="Urbanist" panose="020B0604020202020204" charset="0"/>
              <a:ea typeface="Urbanist" panose="020B0604020202020204" charset="0"/>
              <a:cs typeface="Urbanist" panose="020B0604020202020204" charset="0"/>
            </a:endParaRPr>
          </a:p>
          <a:p>
            <a:pPr marL="457200" indent="-457200">
              <a:buFont typeface="+mj-lt"/>
              <a:buAutoNum type="arabicPeriod"/>
            </a:pPr>
            <a:endParaRPr lang="el-GR" sz="1900" dirty="0">
              <a:solidFill>
                <a:schemeClr val="bg1"/>
              </a:solidFill>
              <a:latin typeface="Urbanist" panose="020B0604020202020204" charset="0"/>
              <a:ea typeface="Urbanist" panose="020B0604020202020204" charset="0"/>
              <a:cs typeface="Urbanist" panose="020B0604020202020204" charset="0"/>
            </a:endParaRPr>
          </a:p>
          <a:p>
            <a:r>
              <a:rPr lang="el-GR" sz="2000" i="1" dirty="0">
                <a:solidFill>
                  <a:schemeClr val="bg1"/>
                </a:solidFill>
              </a:rPr>
              <a:t>Nearest-neighbor: για κάθε εγγραφή AIS επιλέγεται το χωρικά πλησιέστερο σημείο  (στην αντίστοιχη ώρα) και αντιστοιχίζονται οι καιρικές τιμές.</a:t>
            </a:r>
            <a:endParaRPr lang="el-GR" sz="1900" i="1" dirty="0">
              <a:solidFill>
                <a:schemeClr val="bg1"/>
              </a:solidFill>
              <a:latin typeface="Urbanist" panose="020B0604020202020204" charset="0"/>
              <a:ea typeface="Urbanist" panose="020B0604020202020204" charset="0"/>
              <a:cs typeface="Urbanist" panose="020B0604020202020204" charset="0"/>
            </a:endParaRPr>
          </a:p>
          <a:p>
            <a:endParaRPr lang="el-GR" sz="1900" dirty="0">
              <a:solidFill>
                <a:schemeClr val="bg1"/>
              </a:solidFill>
              <a:latin typeface="Urbanist" panose="020B0604020202020204" charset="0"/>
              <a:ea typeface="Urbanist" panose="020B0604020202020204" charset="0"/>
              <a:cs typeface="Urbanist" panose="020B0604020202020204" charset="0"/>
            </a:endParaRPr>
          </a:p>
        </p:txBody>
      </p:sp>
    </p:spTree>
    <p:extLst>
      <p:ext uri="{BB962C8B-B14F-4D97-AF65-F5344CB8AC3E}">
        <p14:creationId xmlns:p14="http://schemas.microsoft.com/office/powerpoint/2010/main" val="869052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6">
          <a:extLst>
            <a:ext uri="{FF2B5EF4-FFF2-40B4-BE49-F238E27FC236}">
              <a16:creationId xmlns:a16="http://schemas.microsoft.com/office/drawing/2014/main" id="{AC7D7A10-B798-3D6C-51C4-1A34C45A27BA}"/>
            </a:ext>
          </a:extLst>
        </p:cNvPr>
        <p:cNvGrpSpPr/>
        <p:nvPr/>
      </p:nvGrpSpPr>
      <p:grpSpPr>
        <a:xfrm>
          <a:off x="0" y="0"/>
          <a:ext cx="0" cy="0"/>
          <a:chOff x="0" y="0"/>
          <a:chExt cx="0" cy="0"/>
        </a:xfrm>
      </p:grpSpPr>
      <p:pic>
        <p:nvPicPr>
          <p:cNvPr id="169" name="Google Shape;169;p17" descr="image.png">
            <a:extLst>
              <a:ext uri="{FF2B5EF4-FFF2-40B4-BE49-F238E27FC236}">
                <a16:creationId xmlns:a16="http://schemas.microsoft.com/office/drawing/2014/main" id="{CA882111-830B-79D1-62AD-781E9B1B3D3A}"/>
              </a:ext>
            </a:extLst>
          </p:cNvPr>
          <p:cNvPicPr preferRelativeResize="0"/>
          <p:nvPr/>
        </p:nvPicPr>
        <p:blipFill rotWithShape="1">
          <a:blip r:embed="rId3">
            <a:alphaModFix/>
          </a:blip>
          <a:srcRect/>
          <a:stretch/>
        </p:blipFill>
        <p:spPr>
          <a:xfrm>
            <a:off x="571500" y="1042737"/>
            <a:ext cx="11049000" cy="5815263"/>
          </a:xfrm>
          <a:prstGeom prst="rect">
            <a:avLst/>
          </a:prstGeom>
          <a:noFill/>
          <a:ln>
            <a:noFill/>
          </a:ln>
        </p:spPr>
      </p:pic>
      <p:sp>
        <p:nvSpPr>
          <p:cNvPr id="188" name="Google Shape;188;p17">
            <a:extLst>
              <a:ext uri="{FF2B5EF4-FFF2-40B4-BE49-F238E27FC236}">
                <a16:creationId xmlns:a16="http://schemas.microsoft.com/office/drawing/2014/main" id="{757AD465-3F9E-E2B0-4966-B0CC2D78D89E}"/>
              </a:ext>
            </a:extLst>
          </p:cNvPr>
          <p:cNvSpPr txBox="1"/>
          <p:nvPr/>
        </p:nvSpPr>
        <p:spPr>
          <a:xfrm>
            <a:off x="762000" y="418787"/>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Βήματα Υλοποίησης &amp; Επεξεργασίας Δεδομένων</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9" name="Google Shape;189;p17">
            <a:extLst>
              <a:ext uri="{FF2B5EF4-FFF2-40B4-BE49-F238E27FC236}">
                <a16:creationId xmlns:a16="http://schemas.microsoft.com/office/drawing/2014/main" id="{C0D17B7D-992E-9554-327A-CFBBDABD2935}"/>
              </a:ext>
            </a:extLst>
          </p:cNvPr>
          <p:cNvSpPr/>
          <p:nvPr/>
        </p:nvSpPr>
        <p:spPr>
          <a:xfrm>
            <a:off x="613611" y="303460"/>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 name="TextBox 2">
            <a:extLst>
              <a:ext uri="{FF2B5EF4-FFF2-40B4-BE49-F238E27FC236}">
                <a16:creationId xmlns:a16="http://schemas.microsoft.com/office/drawing/2014/main" id="{40A43A94-E38F-F160-C57D-5FF57E8D8692}"/>
              </a:ext>
            </a:extLst>
          </p:cNvPr>
          <p:cNvSpPr txBox="1"/>
          <p:nvPr/>
        </p:nvSpPr>
        <p:spPr>
          <a:xfrm>
            <a:off x="761999" y="1347537"/>
            <a:ext cx="10643937" cy="458587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l-GR" sz="1900" b="0" i="0" u="none"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tabLst/>
              <a:defRPr/>
            </a:pPr>
            <a:r>
              <a:rPr kumimoji="0" lang="el-GR" sz="2100" b="0" i="0"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4.  </a:t>
            </a:r>
            <a:r>
              <a:rPr kumimoji="0" lang="el-GR" sz="2100" b="0" i="0" u="sng"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Χρονική Ευθυγράμμιση</a:t>
            </a:r>
            <a:r>
              <a:rPr kumimoji="0" lang="el-GR" sz="2100" b="0" i="0" u="none"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 Συγχρονισμός των δεδομένων κίνησης και καιρού σε ωριαία βάση, διασφαλίζοντας ότι κάθε στίγμα αντιστοιχεί στις καιρικές συνθήκες της συγκεκριμένης ώρας.</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l-GR" sz="2100" b="0" i="0" u="none"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l-GR" sz="2100" dirty="0">
              <a:solidFill>
                <a:srgbClr val="FFFFFF"/>
              </a:solidFill>
              <a:latin typeface="Urbanist" panose="020B0604020202020204" charset="0"/>
              <a:ea typeface="Urbanist" panose="020B0604020202020204" charset="0"/>
              <a:cs typeface="Urbanist" panose="020B060402020202020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l-GR" sz="2100" b="0" i="0" u="none"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tabLst/>
              <a:defRPr/>
            </a:pPr>
            <a:r>
              <a:rPr kumimoji="0" lang="el-GR" sz="2100" b="0" i="0"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5. </a:t>
            </a:r>
            <a:r>
              <a:rPr kumimoji="0" lang="el-GR" sz="2100" b="0" i="0" u="sng"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Έλεγχος</a:t>
            </a:r>
            <a:r>
              <a:rPr kumimoji="0" lang="el-GR" sz="2100" b="0" i="0" u="none"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 Παράλληλη καταγραφή και αποθήκευση της χωρικής απόστασης από το πλησιέστερο σημείο καιρού, επιτρέποντας την αξιολόγηση της ακρίβειας της αντιστοίχισης.</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l-GR" sz="2100" b="0" i="0" u="none"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l-GR" sz="2100" dirty="0">
              <a:solidFill>
                <a:srgbClr val="FFFFFF"/>
              </a:solidFill>
              <a:latin typeface="Urbanist" panose="020B0604020202020204" charset="0"/>
              <a:ea typeface="Urbanist" panose="020B0604020202020204" charset="0"/>
              <a:cs typeface="Urbanist" panose="020B060402020202020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l-GR" sz="2100" b="0" i="0" u="none"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tabLst/>
              <a:defRPr/>
            </a:pPr>
            <a:r>
              <a:rPr kumimoji="0" lang="el-GR" sz="2100" b="0" i="0"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6.  </a:t>
            </a:r>
            <a:r>
              <a:rPr kumimoji="0" lang="el-GR" sz="2100" b="0" i="0" u="sng"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Τελικό Dataset</a:t>
            </a:r>
            <a:r>
              <a:rPr kumimoji="0" lang="el-GR" sz="2100" b="0" i="0" u="none"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 Παραγωγή ενός ενιαίου, εμπλουτισμένου αρχείου CSV, το οποίο αποτελεί το τελικό σύνολο δεδομένων (dataset) προς εισαγωγή στη βάση δεδομένων. </a:t>
            </a:r>
            <a:r>
              <a:rPr kumimoji="0" lang="el-GR" sz="2100" b="1" i="0" u="sng"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Το </a:t>
            </a:r>
            <a:r>
              <a:rPr kumimoji="0" lang="en-US" sz="2100" b="1" i="0" u="sng"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rPr>
              <a:t>ais_dec2018_enriched.csv</a:t>
            </a:r>
            <a:endParaRPr kumimoji="0" lang="el-GR" sz="2100" b="1" i="0" u="sng" strike="noStrike" kern="0" cap="none" spc="0" normalizeH="0" baseline="0" noProof="0" dirty="0">
              <a:ln>
                <a:noFill/>
              </a:ln>
              <a:solidFill>
                <a:srgbClr val="FFFFFF"/>
              </a:solidFill>
              <a:effectLst/>
              <a:uLnTx/>
              <a:uFillTx/>
              <a:latin typeface="Urbanist" panose="020B0604020202020204" charset="0"/>
              <a:ea typeface="Urbanist" panose="020B0604020202020204" charset="0"/>
              <a:cs typeface="Urbanist" panose="020B0604020202020204" charset="0"/>
              <a:sym typeface="Arial"/>
            </a:endParaRPr>
          </a:p>
        </p:txBody>
      </p:sp>
    </p:spTree>
    <p:extLst>
      <p:ext uri="{BB962C8B-B14F-4D97-AF65-F5344CB8AC3E}">
        <p14:creationId xmlns:p14="http://schemas.microsoft.com/office/powerpoint/2010/main" val="2584616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p:cNvGrpSpPr/>
        <p:nvPr/>
      </p:nvGrpSpPr>
      <p:grpSpPr>
        <a:xfrm>
          <a:off x="0" y="0"/>
          <a:ext cx="0" cy="0"/>
          <a:chOff x="0" y="0"/>
          <a:chExt cx="0" cy="0"/>
        </a:xfrm>
      </p:grpSpPr>
      <p:pic>
        <p:nvPicPr>
          <p:cNvPr id="194" name="Google Shape;194;p18" descr="image.png"/>
          <p:cNvPicPr preferRelativeResize="0"/>
          <p:nvPr/>
        </p:nvPicPr>
        <p:blipFill rotWithShape="1">
          <a:blip r:embed="rId3">
            <a:alphaModFix/>
          </a:blip>
          <a:srcRect/>
          <a:stretch/>
        </p:blipFill>
        <p:spPr>
          <a:xfrm>
            <a:off x="0" y="71120"/>
            <a:ext cx="12192000" cy="6858000"/>
          </a:xfrm>
          <a:prstGeom prst="rect">
            <a:avLst/>
          </a:prstGeom>
          <a:noFill/>
          <a:ln>
            <a:noFill/>
          </a:ln>
        </p:spPr>
      </p:pic>
      <p:sp>
        <p:nvSpPr>
          <p:cNvPr id="196" name="Google Shape;196;p18"/>
          <p:cNvSpPr txBox="1"/>
          <p:nvPr/>
        </p:nvSpPr>
        <p:spPr>
          <a:xfrm>
            <a:off x="4711700" y="2180844"/>
            <a:ext cx="560070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l-GR" sz="2100" b="1" i="0" u="none" strike="noStrike" cap="none" dirty="0">
                <a:solidFill>
                  <a:srgbClr val="38BDF8"/>
                </a:solidFill>
                <a:latin typeface="Urbanist"/>
                <a:ea typeface="Urbanist"/>
                <a:cs typeface="Urbanist"/>
                <a:sym typeface="Urbanist"/>
              </a:rPr>
              <a:t>Τι είναι μία τροχιά;</a:t>
            </a:r>
            <a:endParaRPr dirty="0"/>
          </a:p>
        </p:txBody>
      </p:sp>
      <p:sp>
        <p:nvSpPr>
          <p:cNvPr id="197" name="Google Shape;197;p18"/>
          <p:cNvSpPr txBox="1"/>
          <p:nvPr/>
        </p:nvSpPr>
        <p:spPr>
          <a:xfrm>
            <a:off x="2639060" y="2893066"/>
            <a:ext cx="6913880" cy="184665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l-GR" sz="1500" b="0" i="0" u="none" strike="noStrike" cap="none" dirty="0">
                <a:solidFill>
                  <a:srgbClr val="CBD5E1"/>
                </a:solidFill>
                <a:latin typeface="Urbanist"/>
                <a:ea typeface="Urbanist"/>
                <a:cs typeface="Urbanist"/>
                <a:sym typeface="Urbanist"/>
              </a:rPr>
              <a:t>Στην εργασία μας, τροχιά ορίζεται ως η χρονικά διατεταγμένη ακολουθία χωρικών σημείων που περιγράφει τη συνεχή κίνηση ενός πλοίου σε συγκεκριμένο χρονικό διάστημα και αποθηκεύεται ως ένα ενιαίο document στη MongoDB.</a:t>
            </a:r>
            <a:r>
              <a:rPr lang="en-US" sz="1500" b="0" i="0" u="none" strike="noStrike" cap="none" dirty="0">
                <a:solidFill>
                  <a:srgbClr val="CBD5E1"/>
                </a:solidFill>
                <a:latin typeface="Urbanist"/>
                <a:ea typeface="Urbanist"/>
                <a:cs typeface="Urbanist"/>
                <a:sym typeface="Urbanist"/>
              </a:rPr>
              <a:t> </a:t>
            </a:r>
          </a:p>
          <a:p>
            <a:pPr marL="0" marR="0" lvl="0" indent="0" algn="l" rtl="0">
              <a:lnSpc>
                <a:spcPct val="160000"/>
              </a:lnSpc>
              <a:spcBef>
                <a:spcPts val="0"/>
              </a:spcBef>
              <a:spcAft>
                <a:spcPts val="0"/>
              </a:spcAft>
              <a:buNone/>
            </a:pPr>
            <a:r>
              <a:rPr lang="el-GR" sz="1500" b="0" i="0" u="none" strike="noStrike" cap="none" dirty="0">
                <a:solidFill>
                  <a:srgbClr val="CBD5E1"/>
                </a:solidFill>
                <a:latin typeface="Urbanist"/>
                <a:ea typeface="Urbanist"/>
                <a:cs typeface="Urbanist"/>
                <a:sym typeface="Urbanist"/>
              </a:rPr>
              <a:t>Είναι ένα </a:t>
            </a:r>
            <a:r>
              <a:rPr lang="en-US" sz="1500" b="0" i="0" u="none" strike="noStrike" cap="none" dirty="0">
                <a:solidFill>
                  <a:srgbClr val="CBD5E1"/>
                </a:solidFill>
                <a:latin typeface="Urbanist"/>
                <a:ea typeface="Urbanist"/>
                <a:cs typeface="Urbanist"/>
                <a:sym typeface="Urbanist"/>
              </a:rPr>
              <a:t>object </a:t>
            </a:r>
            <a:r>
              <a:rPr lang="el-GR" sz="1500" b="0" i="0" u="none" strike="noStrike" cap="none" dirty="0">
                <a:solidFill>
                  <a:srgbClr val="CBD5E1"/>
                </a:solidFill>
                <a:latin typeface="Urbanist"/>
                <a:ea typeface="Urbanist"/>
                <a:cs typeface="Urbanist"/>
                <a:sym typeface="Urbanist"/>
              </a:rPr>
              <a:t>δηλαδή που αποθηκεύεται στη βάση μας και</a:t>
            </a:r>
            <a:r>
              <a:rPr lang="en-US" sz="1500" b="0" i="0" u="none" strike="noStrike" cap="none" dirty="0">
                <a:solidFill>
                  <a:srgbClr val="CBD5E1"/>
                </a:solidFill>
                <a:latin typeface="Urbanist"/>
                <a:ea typeface="Urbanist"/>
                <a:cs typeface="Urbanist"/>
                <a:sym typeface="Urbanist"/>
              </a:rPr>
              <a:t> περιέχει την ιστορικότητα της κίνησης</a:t>
            </a:r>
            <a:r>
              <a:rPr lang="el-GR" sz="1500" b="0" i="0" u="none" strike="noStrike" cap="none" dirty="0">
                <a:solidFill>
                  <a:srgbClr val="CBD5E1"/>
                </a:solidFill>
                <a:latin typeface="Urbanist"/>
                <a:ea typeface="Urbanist"/>
                <a:cs typeface="Urbanist"/>
                <a:sym typeface="Urbanist"/>
              </a:rPr>
              <a:t> για κάθε πλοίο.</a:t>
            </a:r>
            <a:endParaRPr dirty="0"/>
          </a:p>
        </p:txBody>
      </p:sp>
      <p:sp>
        <p:nvSpPr>
          <p:cNvPr id="200" name="Google Shape;200;p18"/>
          <p:cNvSpPr txBox="1"/>
          <p:nvPr/>
        </p:nvSpPr>
        <p:spPr>
          <a:xfrm>
            <a:off x="760412" y="740583"/>
            <a:ext cx="11401425"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l-GR" sz="3150" b="1" i="0" u="none" strike="noStrike" cap="none" dirty="0">
                <a:solidFill>
                  <a:srgbClr val="2DD4BF"/>
                </a:solidFill>
                <a:latin typeface="Poppins"/>
                <a:ea typeface="Poppins"/>
                <a:cs typeface="Poppins"/>
                <a:sym typeface="Poppins"/>
              </a:rPr>
              <a:t>Η ΤΡΟΧΙΑ </a:t>
            </a:r>
            <a:r>
              <a:rPr lang="en-US" sz="3150" b="1" i="0" u="none" strike="noStrike" cap="none" dirty="0">
                <a:solidFill>
                  <a:srgbClr val="2DD4BF"/>
                </a:solidFill>
                <a:latin typeface="Poppins"/>
                <a:ea typeface="Poppins"/>
                <a:cs typeface="Poppins"/>
                <a:sym typeface="Poppins"/>
              </a:rPr>
              <a:t>(JSON SCHEMA)</a:t>
            </a:r>
            <a:endParaRPr dirty="0"/>
          </a:p>
        </p:txBody>
      </p:sp>
      <p:sp>
        <p:nvSpPr>
          <p:cNvPr id="201" name="Google Shape;201;p18"/>
          <p:cNvSpPr/>
          <p:nvPr/>
        </p:nvSpPr>
        <p:spPr>
          <a:xfrm>
            <a:off x="581660" y="682919"/>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a:extLst>
            <a:ext uri="{FF2B5EF4-FFF2-40B4-BE49-F238E27FC236}">
              <a16:creationId xmlns:a16="http://schemas.microsoft.com/office/drawing/2014/main" id="{1681C34B-DE3C-A898-DC8F-CA2434578725}"/>
            </a:ext>
          </a:extLst>
        </p:cNvPr>
        <p:cNvGrpSpPr/>
        <p:nvPr/>
      </p:nvGrpSpPr>
      <p:grpSpPr>
        <a:xfrm>
          <a:off x="0" y="0"/>
          <a:ext cx="0" cy="0"/>
          <a:chOff x="0" y="0"/>
          <a:chExt cx="0" cy="0"/>
        </a:xfrm>
      </p:grpSpPr>
      <p:pic>
        <p:nvPicPr>
          <p:cNvPr id="194" name="Google Shape;194;p18" descr="image.png">
            <a:extLst>
              <a:ext uri="{FF2B5EF4-FFF2-40B4-BE49-F238E27FC236}">
                <a16:creationId xmlns:a16="http://schemas.microsoft.com/office/drawing/2014/main" id="{0F5CAC72-0255-02BE-386A-C20B7835EC47}"/>
              </a:ext>
            </a:extLst>
          </p:cNvPr>
          <p:cNvPicPr preferRelativeResize="0"/>
          <p:nvPr/>
        </p:nvPicPr>
        <p:blipFill rotWithShape="1">
          <a:blip r:embed="rId3">
            <a:alphaModFix/>
          </a:blip>
          <a:srcRect/>
          <a:stretch/>
        </p:blipFill>
        <p:spPr>
          <a:xfrm>
            <a:off x="0" y="71120"/>
            <a:ext cx="12192000" cy="6858000"/>
          </a:xfrm>
          <a:prstGeom prst="rect">
            <a:avLst/>
          </a:prstGeom>
          <a:noFill/>
          <a:ln>
            <a:noFill/>
          </a:ln>
        </p:spPr>
      </p:pic>
      <p:sp>
        <p:nvSpPr>
          <p:cNvPr id="196" name="Google Shape;196;p18">
            <a:extLst>
              <a:ext uri="{FF2B5EF4-FFF2-40B4-BE49-F238E27FC236}">
                <a16:creationId xmlns:a16="http://schemas.microsoft.com/office/drawing/2014/main" id="{2CD30174-1CD1-B8D1-82CF-74F53C957208}"/>
              </a:ext>
            </a:extLst>
          </p:cNvPr>
          <p:cNvSpPr txBox="1"/>
          <p:nvPr/>
        </p:nvSpPr>
        <p:spPr>
          <a:xfrm>
            <a:off x="4843780" y="1449324"/>
            <a:ext cx="5600700" cy="3238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sz="2100" b="1" dirty="0">
                <a:solidFill>
                  <a:srgbClr val="38BDF8"/>
                </a:solidFill>
                <a:latin typeface="Urbanist"/>
                <a:ea typeface="Urbanist"/>
                <a:cs typeface="Urbanist"/>
                <a:sym typeface="Urbanist"/>
              </a:rPr>
              <a:t>Πως μοιάζει </a:t>
            </a: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μία τροχιά;</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0" name="Google Shape;200;p18">
            <a:extLst>
              <a:ext uri="{FF2B5EF4-FFF2-40B4-BE49-F238E27FC236}">
                <a16:creationId xmlns:a16="http://schemas.microsoft.com/office/drawing/2014/main" id="{B8602EDB-E876-E392-1081-EF4D67BA9854}"/>
              </a:ext>
            </a:extLst>
          </p:cNvPr>
          <p:cNvSpPr txBox="1"/>
          <p:nvPr/>
        </p:nvSpPr>
        <p:spPr>
          <a:xfrm>
            <a:off x="760412" y="740583"/>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Η ΤΡΟΧΙΑ </a:t>
            </a:r>
            <a:r>
              <a:rPr kumimoji="0" lang="en-US" sz="3150" b="1" i="0" u="none" strike="noStrike" kern="0" cap="none" spc="0" normalizeH="0" baseline="0" noProof="0" dirty="0">
                <a:ln>
                  <a:noFill/>
                </a:ln>
                <a:solidFill>
                  <a:srgbClr val="2DD4BF"/>
                </a:solidFill>
                <a:effectLst/>
                <a:uLnTx/>
                <a:uFillTx/>
                <a:latin typeface="Poppins"/>
                <a:ea typeface="Poppins"/>
                <a:cs typeface="Poppins"/>
                <a:sym typeface="Poppins"/>
              </a:rPr>
              <a:t>(JSON SCHEMA)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1" name="Google Shape;201;p18">
            <a:extLst>
              <a:ext uri="{FF2B5EF4-FFF2-40B4-BE49-F238E27FC236}">
                <a16:creationId xmlns:a16="http://schemas.microsoft.com/office/drawing/2014/main" id="{A0A07431-DC35-84D7-4EAC-7AB187D5CE9E}"/>
              </a:ext>
            </a:extLst>
          </p:cNvPr>
          <p:cNvSpPr/>
          <p:nvPr/>
        </p:nvSpPr>
        <p:spPr>
          <a:xfrm>
            <a:off x="581660" y="682919"/>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 name="Εικόνα 2" descr="Εικόνα που περιέχει κείμενο, στιγμιότυπο οθόνης, λογισμικό, λογισμικό πολυμέσων&#10;&#10;Το περιεχόμενο που δημιουργείται από AI ενδέχεται να είναι εσφαλμένο.">
            <a:extLst>
              <a:ext uri="{FF2B5EF4-FFF2-40B4-BE49-F238E27FC236}">
                <a16:creationId xmlns:a16="http://schemas.microsoft.com/office/drawing/2014/main" id="{C1DA993C-EC44-24DF-CB9C-5D6D2E70B481}"/>
              </a:ext>
            </a:extLst>
          </p:cNvPr>
          <p:cNvPicPr>
            <a:picLocks noChangeAspect="1"/>
          </p:cNvPicPr>
          <p:nvPr/>
        </p:nvPicPr>
        <p:blipFill>
          <a:blip r:embed="rId4"/>
          <a:stretch>
            <a:fillRect/>
          </a:stretch>
        </p:blipFill>
        <p:spPr>
          <a:xfrm>
            <a:off x="5846759" y="2133600"/>
            <a:ext cx="6119105" cy="4135120"/>
          </a:xfrm>
          <a:prstGeom prst="rect">
            <a:avLst/>
          </a:prstGeom>
        </p:spPr>
      </p:pic>
      <p:sp>
        <p:nvSpPr>
          <p:cNvPr id="5" name="TextBox 4">
            <a:extLst>
              <a:ext uri="{FF2B5EF4-FFF2-40B4-BE49-F238E27FC236}">
                <a16:creationId xmlns:a16="http://schemas.microsoft.com/office/drawing/2014/main" id="{688B270E-A1B7-C703-B3D8-EEB005BAEF3D}"/>
              </a:ext>
            </a:extLst>
          </p:cNvPr>
          <p:cNvSpPr txBox="1"/>
          <p:nvPr/>
        </p:nvSpPr>
        <p:spPr>
          <a:xfrm>
            <a:off x="123030" y="2539166"/>
            <a:ext cx="5600700" cy="3323987"/>
          </a:xfrm>
          <a:prstGeom prst="rect">
            <a:avLst/>
          </a:prstGeom>
          <a:noFill/>
        </p:spPr>
        <p:txBody>
          <a:bodyPr wrap="square">
            <a:spAutoFit/>
          </a:bodyPr>
          <a:lstStyle/>
          <a:p>
            <a:pPr>
              <a:buNone/>
            </a:pPr>
            <a:r>
              <a:rPr lang="el-GR" dirty="0">
                <a:solidFill>
                  <a:schemeClr val="tx2"/>
                </a:solidFill>
              </a:rPr>
              <a:t>Κάθε τροχιά αποθηκεύεται ως ένα document στη MongoDB και περιλαμβάνει δύο διακριτά επίπεδα πληροφορίας.</a:t>
            </a:r>
          </a:p>
          <a:p>
            <a:pPr>
              <a:buNone/>
            </a:pPr>
            <a:r>
              <a:rPr lang="el-GR" dirty="0">
                <a:solidFill>
                  <a:schemeClr val="tx2"/>
                </a:solidFill>
              </a:rPr>
              <a:t>Στο </a:t>
            </a:r>
            <a:r>
              <a:rPr lang="el-GR" b="1" u="sng" dirty="0">
                <a:solidFill>
                  <a:schemeClr val="tx2"/>
                </a:solidFill>
              </a:rPr>
              <a:t>document-</a:t>
            </a:r>
            <a:r>
              <a:rPr lang="el-GR" b="1" u="sng" dirty="0" err="1">
                <a:solidFill>
                  <a:schemeClr val="tx2"/>
                </a:solidFill>
              </a:rPr>
              <a:t>level</a:t>
            </a:r>
            <a:r>
              <a:rPr lang="el-GR" dirty="0">
                <a:solidFill>
                  <a:schemeClr val="tx2"/>
                </a:solidFill>
              </a:rPr>
              <a:t> αποθηκεύονται τα σταθερά μεταδεδομένα της τροχιάς, όπως το vessel_id, η χώρα και ο τύπος του πλοίου, καθώς και το χρονικό εύρος της τροχιάς μέσω των πεδίων start_time και end_time.</a:t>
            </a:r>
          </a:p>
          <a:p>
            <a:pPr>
              <a:buNone/>
            </a:pPr>
            <a:endParaRPr lang="el-GR" dirty="0">
              <a:solidFill>
                <a:schemeClr val="tx2"/>
              </a:solidFill>
            </a:endParaRPr>
          </a:p>
          <a:p>
            <a:pPr>
              <a:buNone/>
            </a:pPr>
            <a:r>
              <a:rPr lang="el-GR" dirty="0">
                <a:solidFill>
                  <a:schemeClr val="tx2"/>
                </a:solidFill>
              </a:rPr>
              <a:t>Τα πεδία αυτά προέρχονται από τα στατικά AIS δεδομένα και συνοψίζουν πληροφορία κοινή για όλα τα σημεία της τροχιάς, επιτρέποντας γρήγορα φίλτρα και χρονικά ερωτήματα σε επίπεδο document.</a:t>
            </a:r>
          </a:p>
          <a:p>
            <a:pPr>
              <a:buNone/>
            </a:pPr>
            <a:br>
              <a:rPr lang="el-GR" dirty="0"/>
            </a:br>
            <a:endParaRPr lang="el-GR" dirty="0"/>
          </a:p>
          <a:p>
            <a:pPr>
              <a:buNone/>
            </a:pPr>
            <a:br>
              <a:rPr lang="el-GR" dirty="0"/>
            </a:br>
            <a:endParaRPr lang="el-GR" dirty="0"/>
          </a:p>
        </p:txBody>
      </p:sp>
    </p:spTree>
    <p:extLst>
      <p:ext uri="{BB962C8B-B14F-4D97-AF65-F5344CB8AC3E}">
        <p14:creationId xmlns:p14="http://schemas.microsoft.com/office/powerpoint/2010/main" val="3205426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a:extLst>
            <a:ext uri="{FF2B5EF4-FFF2-40B4-BE49-F238E27FC236}">
              <a16:creationId xmlns:a16="http://schemas.microsoft.com/office/drawing/2014/main" id="{BEA10496-BBC2-9761-BF8F-8C8F06F160BB}"/>
            </a:ext>
          </a:extLst>
        </p:cNvPr>
        <p:cNvGrpSpPr/>
        <p:nvPr/>
      </p:nvGrpSpPr>
      <p:grpSpPr>
        <a:xfrm>
          <a:off x="0" y="0"/>
          <a:ext cx="0" cy="0"/>
          <a:chOff x="0" y="0"/>
          <a:chExt cx="0" cy="0"/>
        </a:xfrm>
      </p:grpSpPr>
      <p:pic>
        <p:nvPicPr>
          <p:cNvPr id="194" name="Google Shape;194;p18" descr="image.png">
            <a:extLst>
              <a:ext uri="{FF2B5EF4-FFF2-40B4-BE49-F238E27FC236}">
                <a16:creationId xmlns:a16="http://schemas.microsoft.com/office/drawing/2014/main" id="{4D08CFDD-A46C-84F1-EAF5-C0337F116E2B}"/>
              </a:ext>
            </a:extLst>
          </p:cNvPr>
          <p:cNvPicPr preferRelativeResize="0"/>
          <p:nvPr/>
        </p:nvPicPr>
        <p:blipFill rotWithShape="1">
          <a:blip r:embed="rId3">
            <a:alphaModFix/>
          </a:blip>
          <a:srcRect/>
          <a:stretch/>
        </p:blipFill>
        <p:spPr>
          <a:xfrm>
            <a:off x="0" y="71120"/>
            <a:ext cx="12192000" cy="6858000"/>
          </a:xfrm>
          <a:prstGeom prst="rect">
            <a:avLst/>
          </a:prstGeom>
          <a:noFill/>
          <a:ln>
            <a:noFill/>
          </a:ln>
        </p:spPr>
      </p:pic>
      <p:sp>
        <p:nvSpPr>
          <p:cNvPr id="196" name="Google Shape;196;p18">
            <a:extLst>
              <a:ext uri="{FF2B5EF4-FFF2-40B4-BE49-F238E27FC236}">
                <a16:creationId xmlns:a16="http://schemas.microsoft.com/office/drawing/2014/main" id="{FB818D08-EB20-FDC0-5406-E6A031FE48A1}"/>
              </a:ext>
            </a:extLst>
          </p:cNvPr>
          <p:cNvSpPr txBox="1"/>
          <p:nvPr/>
        </p:nvSpPr>
        <p:spPr>
          <a:xfrm>
            <a:off x="4843780" y="1449324"/>
            <a:ext cx="5600700" cy="3238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Πως μοιάζει μία τροχιά;</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0" name="Google Shape;200;p18">
            <a:extLst>
              <a:ext uri="{FF2B5EF4-FFF2-40B4-BE49-F238E27FC236}">
                <a16:creationId xmlns:a16="http://schemas.microsoft.com/office/drawing/2014/main" id="{89BB72B4-4507-7FF9-B2FE-7684ECDA371F}"/>
              </a:ext>
            </a:extLst>
          </p:cNvPr>
          <p:cNvSpPr txBox="1"/>
          <p:nvPr/>
        </p:nvSpPr>
        <p:spPr>
          <a:xfrm>
            <a:off x="760412" y="740583"/>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Η ΤΡΟΧΙΑ </a:t>
            </a:r>
            <a:r>
              <a:rPr kumimoji="0" lang="en-US" sz="3150" b="1" i="0" u="none" strike="noStrike" kern="0" cap="none" spc="0" normalizeH="0" baseline="0" noProof="0" dirty="0">
                <a:ln>
                  <a:noFill/>
                </a:ln>
                <a:solidFill>
                  <a:srgbClr val="2DD4BF"/>
                </a:solidFill>
                <a:effectLst/>
                <a:uLnTx/>
                <a:uFillTx/>
                <a:latin typeface="Poppins"/>
                <a:ea typeface="Poppins"/>
                <a:cs typeface="Poppins"/>
                <a:sym typeface="Poppins"/>
              </a:rPr>
              <a:t>(JSON SCHEMA)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1" name="Google Shape;201;p18">
            <a:extLst>
              <a:ext uri="{FF2B5EF4-FFF2-40B4-BE49-F238E27FC236}">
                <a16:creationId xmlns:a16="http://schemas.microsoft.com/office/drawing/2014/main" id="{E0B925CA-E1D2-907E-0574-6682EA46445D}"/>
              </a:ext>
            </a:extLst>
          </p:cNvPr>
          <p:cNvSpPr/>
          <p:nvPr/>
        </p:nvSpPr>
        <p:spPr>
          <a:xfrm>
            <a:off x="581660" y="682919"/>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 name="Εικόνα 2" descr="Εικόνα που περιέχει κείμενο, στιγμιότυπο οθόνης, λογισμικό, λογισμικό πολυμέσων&#10;&#10;Το περιεχόμενο που δημιουργείται από AI ενδέχεται να είναι εσφαλμένο.">
            <a:extLst>
              <a:ext uri="{FF2B5EF4-FFF2-40B4-BE49-F238E27FC236}">
                <a16:creationId xmlns:a16="http://schemas.microsoft.com/office/drawing/2014/main" id="{873282AE-F2E2-D3CB-F50E-EE9901721B00}"/>
              </a:ext>
            </a:extLst>
          </p:cNvPr>
          <p:cNvPicPr>
            <a:picLocks noChangeAspect="1"/>
          </p:cNvPicPr>
          <p:nvPr/>
        </p:nvPicPr>
        <p:blipFill>
          <a:blip r:embed="rId4"/>
          <a:stretch>
            <a:fillRect/>
          </a:stretch>
        </p:blipFill>
        <p:spPr>
          <a:xfrm>
            <a:off x="5846759" y="2133600"/>
            <a:ext cx="6119105" cy="4135120"/>
          </a:xfrm>
          <a:prstGeom prst="rect">
            <a:avLst/>
          </a:prstGeom>
        </p:spPr>
      </p:pic>
      <p:sp>
        <p:nvSpPr>
          <p:cNvPr id="5" name="TextBox 4">
            <a:extLst>
              <a:ext uri="{FF2B5EF4-FFF2-40B4-BE49-F238E27FC236}">
                <a16:creationId xmlns:a16="http://schemas.microsoft.com/office/drawing/2014/main" id="{541486FC-1EFA-A8E2-C609-8F95F489E8CF}"/>
              </a:ext>
            </a:extLst>
          </p:cNvPr>
          <p:cNvSpPr txBox="1"/>
          <p:nvPr/>
        </p:nvSpPr>
        <p:spPr>
          <a:xfrm>
            <a:off x="123030" y="2630606"/>
            <a:ext cx="5600700" cy="2677656"/>
          </a:xfrm>
          <a:prstGeom prst="rect">
            <a:avLst/>
          </a:prstGeom>
          <a:noFill/>
        </p:spPr>
        <p:txBody>
          <a:bodyPr wrap="square">
            <a:spAutoFit/>
          </a:bodyPr>
          <a:lstStyle/>
          <a:p>
            <a:r>
              <a:rPr lang="el-GR" dirty="0">
                <a:solidFill>
                  <a:schemeClr val="tx2"/>
                </a:solidFill>
              </a:rPr>
              <a:t>Στο </a:t>
            </a:r>
            <a:r>
              <a:rPr lang="el-GR" b="1" u="sng" dirty="0">
                <a:solidFill>
                  <a:schemeClr val="tx2"/>
                </a:solidFill>
              </a:rPr>
              <a:t>point-level</a:t>
            </a:r>
            <a:r>
              <a:rPr lang="el-GR" dirty="0">
                <a:solidFill>
                  <a:schemeClr val="tx2"/>
                </a:solidFill>
              </a:rPr>
              <a:t>, κάθε τροχιά περιλαμβάνει έναν πίνακα points, όπου κάθε στοιχείο αντιστοιχεί σε μία καταγραφή AIS. Κάθε σημείο περιέχει τον χρόνο καταγραφής, τη γεωγραφική θέση του πλοίου σε μορφή GeoJSON Point, τις βασικές δυναμικές παραμέτρους κίνησης (speed, course, heading), καθώς και ένα ενσωματωμένο αντικείμενο weather με τις βασικές μετεωρολογικές μεταβλητές που προέκυψαν από τον χωροχρονικό εμπλουτισμό.</a:t>
            </a:r>
          </a:p>
          <a:p>
            <a:endParaRPr lang="el-GR" dirty="0">
              <a:solidFill>
                <a:schemeClr val="tx2"/>
              </a:solidFill>
            </a:endParaRPr>
          </a:p>
          <a:p>
            <a:r>
              <a:rPr lang="el-GR" dirty="0">
                <a:solidFill>
                  <a:schemeClr val="tx2"/>
                </a:solidFill>
              </a:rPr>
              <a:t>Επιπλέον, αποθηκεύεται το πεδίο </a:t>
            </a:r>
            <a:r>
              <a:rPr lang="el-GR" i="1" dirty="0">
                <a:solidFill>
                  <a:schemeClr val="tx2"/>
                </a:solidFill>
              </a:rPr>
              <a:t>weather_dist_m</a:t>
            </a:r>
            <a:r>
              <a:rPr lang="el-GR" dirty="0">
                <a:solidFill>
                  <a:schemeClr val="tx2"/>
                </a:solidFill>
              </a:rPr>
              <a:t>, το οποίο εκφράζει την απόσταση από το πλησιέστερο σημείο καιρού και επιτρέπει μελλοντικό φιλτράρισμα ή αξιολόγηση της αξιοπιστίας των δεδομένων.</a:t>
            </a:r>
          </a:p>
        </p:txBody>
      </p:sp>
    </p:spTree>
    <p:extLst>
      <p:ext uri="{BB962C8B-B14F-4D97-AF65-F5344CB8AC3E}">
        <p14:creationId xmlns:p14="http://schemas.microsoft.com/office/powerpoint/2010/main" val="3612335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a:extLst>
            <a:ext uri="{FF2B5EF4-FFF2-40B4-BE49-F238E27FC236}">
              <a16:creationId xmlns:a16="http://schemas.microsoft.com/office/drawing/2014/main" id="{FDBA3F40-9FDA-C7EE-7D71-9858667BE928}"/>
            </a:ext>
          </a:extLst>
        </p:cNvPr>
        <p:cNvGrpSpPr/>
        <p:nvPr/>
      </p:nvGrpSpPr>
      <p:grpSpPr>
        <a:xfrm>
          <a:off x="0" y="0"/>
          <a:ext cx="0" cy="0"/>
          <a:chOff x="0" y="0"/>
          <a:chExt cx="0" cy="0"/>
        </a:xfrm>
      </p:grpSpPr>
      <p:sp>
        <p:nvSpPr>
          <p:cNvPr id="200" name="Google Shape;200;p18">
            <a:extLst>
              <a:ext uri="{FF2B5EF4-FFF2-40B4-BE49-F238E27FC236}">
                <a16:creationId xmlns:a16="http://schemas.microsoft.com/office/drawing/2014/main" id="{B6E72639-D8A5-F272-FD62-3530024D1D8A}"/>
              </a:ext>
            </a:extLst>
          </p:cNvPr>
          <p:cNvSpPr txBox="1"/>
          <p:nvPr/>
        </p:nvSpPr>
        <p:spPr>
          <a:xfrm>
            <a:off x="760412" y="740583"/>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a:ln>
                  <a:noFill/>
                </a:ln>
                <a:solidFill>
                  <a:srgbClr val="2DD4BF"/>
                </a:solidFill>
                <a:effectLst/>
                <a:uLnTx/>
                <a:uFillTx/>
                <a:latin typeface="Arial"/>
                <a:cs typeface="Poppins"/>
                <a:sym typeface="Poppins"/>
              </a:rPr>
              <a:t>ΕΙΣΑΓΩΓΗ ΔΕΔΟΜΕΝΩΝ ΣΤΗΝ ΒΑΣΗ</a:t>
            </a:r>
            <a:endParaRPr kumimoji="0" lang="el-GR"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1" name="Google Shape;201;p18">
            <a:extLst>
              <a:ext uri="{FF2B5EF4-FFF2-40B4-BE49-F238E27FC236}">
                <a16:creationId xmlns:a16="http://schemas.microsoft.com/office/drawing/2014/main" id="{C3D8ECED-CA9C-56EE-696F-6D61CE7884E3}"/>
              </a:ext>
            </a:extLst>
          </p:cNvPr>
          <p:cNvSpPr/>
          <p:nvPr/>
        </p:nvSpPr>
        <p:spPr>
          <a:xfrm>
            <a:off x="581660" y="682919"/>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TextBox 3">
            <a:extLst>
              <a:ext uri="{FF2B5EF4-FFF2-40B4-BE49-F238E27FC236}">
                <a16:creationId xmlns:a16="http://schemas.microsoft.com/office/drawing/2014/main" id="{61FB743C-6DE1-B037-CAB9-C1435FAA1396}"/>
              </a:ext>
            </a:extLst>
          </p:cNvPr>
          <p:cNvSpPr txBox="1"/>
          <p:nvPr/>
        </p:nvSpPr>
        <p:spPr>
          <a:xfrm>
            <a:off x="365124" y="4369241"/>
            <a:ext cx="6096000" cy="954107"/>
          </a:xfrm>
          <a:prstGeom prst="rect">
            <a:avLst/>
          </a:prstGeom>
          <a:noFill/>
        </p:spPr>
        <p:txBody>
          <a:bodyPr wrap="square">
            <a:spAutoFit/>
          </a:bodyPr>
          <a:lstStyle/>
          <a:p>
            <a:pPr rtl="0">
              <a:buNone/>
            </a:pPr>
            <a:r>
              <a:rPr lang="el-GR" sz="1400" b="1" i="0" u="none" strike="noStrike" dirty="0">
                <a:solidFill>
                  <a:srgbClr val="CCD6F6"/>
                </a:solidFill>
                <a:effectLst/>
                <a:latin typeface="+mj-lt"/>
                <a:ea typeface="ADLaM Display" panose="020F0502020204030204" pitchFamily="2" charset="0"/>
                <a:cs typeface="ADLaM Display" panose="020F0502020204030204" pitchFamily="2" charset="0"/>
              </a:rPr>
              <a:t>Βελτιστοποίηση:</a:t>
            </a:r>
            <a:r>
              <a:rPr lang="el-GR" sz="1400" b="0" i="0" u="none" strike="noStrike" dirty="0">
                <a:solidFill>
                  <a:srgbClr val="CCD6F6"/>
                </a:solidFill>
                <a:effectLst/>
                <a:latin typeface="+mj-lt"/>
                <a:ea typeface="ADLaM Display" panose="020F0502020204030204" pitchFamily="2" charset="0"/>
                <a:cs typeface="ADLaM Display" panose="020F0502020204030204" pitchFamily="2" charset="0"/>
              </a:rPr>
              <a:t> Επιλογή δεδομένων Δεκεμβρίου 2018 για τη διασφάλιση υψηλών ταχυτήτων επεξεργασίας.</a:t>
            </a:r>
            <a:endParaRPr lang="el-GR" b="0" dirty="0">
              <a:effectLst/>
              <a:latin typeface="+mj-lt"/>
              <a:ea typeface="ADLaM Display" panose="020F0502020204030204" pitchFamily="2" charset="0"/>
              <a:cs typeface="ADLaM Display" panose="020F0502020204030204" pitchFamily="2" charset="0"/>
            </a:endParaRPr>
          </a:p>
          <a:p>
            <a:pPr>
              <a:buNone/>
            </a:pPr>
            <a:br>
              <a:rPr lang="el-GR" dirty="0"/>
            </a:br>
            <a:endParaRPr lang="el-GR" dirty="0"/>
          </a:p>
        </p:txBody>
      </p:sp>
      <p:sp>
        <p:nvSpPr>
          <p:cNvPr id="7" name="TextBox 6">
            <a:extLst>
              <a:ext uri="{FF2B5EF4-FFF2-40B4-BE49-F238E27FC236}">
                <a16:creationId xmlns:a16="http://schemas.microsoft.com/office/drawing/2014/main" id="{AE5DDADA-572C-A456-5C5C-70F02867C97F}"/>
              </a:ext>
            </a:extLst>
          </p:cNvPr>
          <p:cNvSpPr txBox="1"/>
          <p:nvPr/>
        </p:nvSpPr>
        <p:spPr>
          <a:xfrm>
            <a:off x="6246812" y="4392156"/>
            <a:ext cx="6096000" cy="954107"/>
          </a:xfrm>
          <a:prstGeom prst="rect">
            <a:avLst/>
          </a:prstGeom>
          <a:noFill/>
        </p:spPr>
        <p:txBody>
          <a:bodyPr wrap="square">
            <a:spAutoFit/>
          </a:bodyPr>
          <a:lstStyle/>
          <a:p>
            <a:pPr rtl="0">
              <a:buNone/>
            </a:pPr>
            <a:r>
              <a:rPr lang="el-GR" sz="1400" b="1" i="0" u="none" strike="noStrike" dirty="0">
                <a:solidFill>
                  <a:srgbClr val="CCD6F6"/>
                </a:solidFill>
                <a:effectLst/>
                <a:latin typeface="+mj-lt"/>
              </a:rPr>
              <a:t>Εισαγωγή </a:t>
            </a:r>
            <a:r>
              <a:rPr lang="el-GR" sz="1400" b="1" i="0" u="none" strike="noStrike" dirty="0" err="1">
                <a:solidFill>
                  <a:srgbClr val="CCD6F6"/>
                </a:solidFill>
                <a:effectLst/>
                <a:latin typeface="+mj-lt"/>
              </a:rPr>
              <a:t>Dataset</a:t>
            </a:r>
            <a:r>
              <a:rPr lang="el-GR" sz="1400" b="1" i="0" u="none" strike="noStrike" dirty="0">
                <a:solidFill>
                  <a:srgbClr val="CCD6F6"/>
                </a:solidFill>
                <a:effectLst/>
                <a:latin typeface="+mj-lt"/>
              </a:rPr>
              <a:t>:</a:t>
            </a:r>
            <a:r>
              <a:rPr lang="el-GR" sz="1400" b="0" i="0" u="none" strike="noStrike" dirty="0">
                <a:solidFill>
                  <a:srgbClr val="CCD6F6"/>
                </a:solidFill>
                <a:effectLst/>
                <a:latin typeface="+mj-lt"/>
              </a:rPr>
              <a:t> Χρήση του εργαλείου </a:t>
            </a:r>
            <a:r>
              <a:rPr lang="el-GR" sz="1400" b="0" i="1" u="none" strike="noStrike" dirty="0" err="1">
                <a:solidFill>
                  <a:srgbClr val="CCD6F6"/>
                </a:solidFill>
                <a:effectLst/>
                <a:latin typeface="+mj-lt"/>
              </a:rPr>
              <a:t>mongoimport</a:t>
            </a:r>
            <a:r>
              <a:rPr lang="el-GR" sz="1400" b="0" i="0" u="none" strike="noStrike" dirty="0">
                <a:solidFill>
                  <a:srgbClr val="CCD6F6"/>
                </a:solidFill>
                <a:effectLst/>
                <a:latin typeface="+mj-lt"/>
              </a:rPr>
              <a:t> για την εισαγωγή του εμπλουτισμένου CSV στη συλλογή </a:t>
            </a:r>
            <a:r>
              <a:rPr lang="el-GR" sz="1400" b="1" i="0" u="none" strike="noStrike" dirty="0" err="1">
                <a:solidFill>
                  <a:srgbClr val="CCD6F6"/>
                </a:solidFill>
                <a:effectLst/>
                <a:latin typeface="+mj-lt"/>
              </a:rPr>
              <a:t>ais_points</a:t>
            </a:r>
            <a:r>
              <a:rPr lang="el-GR" sz="1400" b="0" i="0" u="none" strike="noStrike" dirty="0">
                <a:solidFill>
                  <a:srgbClr val="CCD6F6"/>
                </a:solidFill>
                <a:effectLst/>
                <a:latin typeface="+mj-lt"/>
              </a:rPr>
              <a:t>.</a:t>
            </a:r>
            <a:endParaRPr lang="el-GR" b="0" dirty="0">
              <a:effectLst/>
              <a:latin typeface="+mj-lt"/>
            </a:endParaRPr>
          </a:p>
          <a:p>
            <a:pPr>
              <a:buNone/>
            </a:pPr>
            <a:br>
              <a:rPr lang="el-GR" dirty="0"/>
            </a:br>
            <a:endParaRPr lang="el-GR" dirty="0"/>
          </a:p>
        </p:txBody>
      </p:sp>
      <p:sp>
        <p:nvSpPr>
          <p:cNvPr id="9" name="TextBox 8">
            <a:extLst>
              <a:ext uri="{FF2B5EF4-FFF2-40B4-BE49-F238E27FC236}">
                <a16:creationId xmlns:a16="http://schemas.microsoft.com/office/drawing/2014/main" id="{D54CB0C8-7102-CB96-8F18-9DF982BF42BC}"/>
              </a:ext>
            </a:extLst>
          </p:cNvPr>
          <p:cNvSpPr txBox="1"/>
          <p:nvPr/>
        </p:nvSpPr>
        <p:spPr>
          <a:xfrm>
            <a:off x="3198812" y="5595888"/>
            <a:ext cx="6096000" cy="954107"/>
          </a:xfrm>
          <a:prstGeom prst="rect">
            <a:avLst/>
          </a:prstGeom>
          <a:noFill/>
        </p:spPr>
        <p:txBody>
          <a:bodyPr wrap="square">
            <a:spAutoFit/>
          </a:bodyPr>
          <a:lstStyle/>
          <a:p>
            <a:pPr rtl="0">
              <a:buNone/>
            </a:pPr>
            <a:r>
              <a:rPr lang="el-GR" sz="1400" b="1" i="0" u="none" strike="noStrike" dirty="0">
                <a:solidFill>
                  <a:srgbClr val="CCD6F6"/>
                </a:solidFill>
                <a:effectLst/>
                <a:latin typeface="+mj-lt"/>
              </a:rPr>
              <a:t>Υποδομή MongoDB:</a:t>
            </a:r>
            <a:r>
              <a:rPr lang="el-GR" sz="1400" b="0" i="0" u="none" strike="noStrike" dirty="0">
                <a:solidFill>
                  <a:srgbClr val="CCD6F6"/>
                </a:solidFill>
                <a:effectLst/>
                <a:latin typeface="+mj-lt"/>
              </a:rPr>
              <a:t> Ανάπτυξη MongoDB </a:t>
            </a:r>
            <a:r>
              <a:rPr lang="el-GR" sz="1400" b="0" i="0" u="none" strike="noStrike" dirty="0" err="1">
                <a:solidFill>
                  <a:srgbClr val="CCD6F6"/>
                </a:solidFill>
                <a:effectLst/>
                <a:latin typeface="+mj-lt"/>
              </a:rPr>
              <a:t>Container</a:t>
            </a:r>
            <a:r>
              <a:rPr lang="el-GR" sz="1400" b="0" i="0" u="none" strike="noStrike" dirty="0">
                <a:solidFill>
                  <a:srgbClr val="CCD6F6"/>
                </a:solidFill>
                <a:effectLst/>
                <a:latin typeface="+mj-lt"/>
              </a:rPr>
              <a:t> (έκδοση 7) για την αποθήκευση και διαχείριση των δεδομένων.</a:t>
            </a:r>
            <a:endParaRPr lang="el-GR" b="0" dirty="0">
              <a:effectLst/>
              <a:latin typeface="+mj-lt"/>
            </a:endParaRPr>
          </a:p>
          <a:p>
            <a:pPr>
              <a:buNone/>
            </a:pPr>
            <a:br>
              <a:rPr lang="el-GR" dirty="0"/>
            </a:br>
            <a:endParaRPr lang="el-GR" dirty="0"/>
          </a:p>
        </p:txBody>
      </p:sp>
      <p:pic>
        <p:nvPicPr>
          <p:cNvPr id="11" name="Εικόνα 10" descr="Εικόνα που περιέχει κείμενο, λογισμικό, λογισμικό πολυμέσων, γραμματοσειρά&#10;&#10;Το περιεχόμενο που δημιουργείται από AI ενδέχεται να είναι εσφαλμένο.">
            <a:extLst>
              <a:ext uri="{FF2B5EF4-FFF2-40B4-BE49-F238E27FC236}">
                <a16:creationId xmlns:a16="http://schemas.microsoft.com/office/drawing/2014/main" id="{84B9C906-70E0-E95D-7E14-DAEDA57166A2}"/>
              </a:ext>
            </a:extLst>
          </p:cNvPr>
          <p:cNvPicPr>
            <a:picLocks noChangeAspect="1"/>
          </p:cNvPicPr>
          <p:nvPr/>
        </p:nvPicPr>
        <p:blipFill>
          <a:blip r:embed="rId3"/>
          <a:stretch>
            <a:fillRect/>
          </a:stretch>
        </p:blipFill>
        <p:spPr>
          <a:xfrm>
            <a:off x="2169355" y="1511737"/>
            <a:ext cx="8154914" cy="2562049"/>
          </a:xfrm>
          <a:prstGeom prst="rect">
            <a:avLst/>
          </a:prstGeom>
        </p:spPr>
      </p:pic>
    </p:spTree>
    <p:extLst>
      <p:ext uri="{BB962C8B-B14F-4D97-AF65-F5344CB8AC3E}">
        <p14:creationId xmlns:p14="http://schemas.microsoft.com/office/powerpoint/2010/main" val="3696306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a:extLst>
            <a:ext uri="{FF2B5EF4-FFF2-40B4-BE49-F238E27FC236}">
              <a16:creationId xmlns:a16="http://schemas.microsoft.com/office/drawing/2014/main" id="{9D512494-426C-8EB8-5FA7-9FE9034D2F2F}"/>
            </a:ext>
          </a:extLst>
        </p:cNvPr>
        <p:cNvGrpSpPr/>
        <p:nvPr/>
      </p:nvGrpSpPr>
      <p:grpSpPr>
        <a:xfrm>
          <a:off x="0" y="0"/>
          <a:ext cx="0" cy="0"/>
          <a:chOff x="0" y="0"/>
          <a:chExt cx="0" cy="0"/>
        </a:xfrm>
      </p:grpSpPr>
      <p:sp>
        <p:nvSpPr>
          <p:cNvPr id="200" name="Google Shape;200;p18">
            <a:extLst>
              <a:ext uri="{FF2B5EF4-FFF2-40B4-BE49-F238E27FC236}">
                <a16:creationId xmlns:a16="http://schemas.microsoft.com/office/drawing/2014/main" id="{E1B20DBB-B27C-C782-ADC4-AD6149F384CF}"/>
              </a:ext>
            </a:extLst>
          </p:cNvPr>
          <p:cNvSpPr txBox="1"/>
          <p:nvPr/>
        </p:nvSpPr>
        <p:spPr>
          <a:xfrm>
            <a:off x="760412" y="740583"/>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1" i="0" u="none" strike="noStrike" kern="0" cap="none" spc="0" normalizeH="0" baseline="0" noProof="0" dirty="0">
                <a:ln>
                  <a:noFill/>
                </a:ln>
                <a:solidFill>
                  <a:srgbClr val="2DD4BF"/>
                </a:solidFill>
                <a:effectLst/>
                <a:uLnTx/>
                <a:uFillTx/>
                <a:latin typeface="Arial"/>
                <a:cs typeface="Poppins"/>
                <a:sym typeface="Poppins"/>
              </a:rPr>
              <a:t>DOCKER &amp; CONTAINERS</a:t>
            </a:r>
            <a:endParaRPr kumimoji="0" lang="el-GR"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1" name="Google Shape;201;p18">
            <a:extLst>
              <a:ext uri="{FF2B5EF4-FFF2-40B4-BE49-F238E27FC236}">
                <a16:creationId xmlns:a16="http://schemas.microsoft.com/office/drawing/2014/main" id="{1EC8DEB4-388D-DF97-462E-882010AC76B3}"/>
              </a:ext>
            </a:extLst>
          </p:cNvPr>
          <p:cNvSpPr/>
          <p:nvPr/>
        </p:nvSpPr>
        <p:spPr>
          <a:xfrm>
            <a:off x="581660" y="682919"/>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TextBox 3">
            <a:extLst>
              <a:ext uri="{FF2B5EF4-FFF2-40B4-BE49-F238E27FC236}">
                <a16:creationId xmlns:a16="http://schemas.microsoft.com/office/drawing/2014/main" id="{28BAA34A-D794-471C-9D64-5DC7DFB01ADD}"/>
              </a:ext>
            </a:extLst>
          </p:cNvPr>
          <p:cNvSpPr txBox="1"/>
          <p:nvPr/>
        </p:nvSpPr>
        <p:spPr>
          <a:xfrm>
            <a:off x="365124" y="4369241"/>
            <a:ext cx="11401424"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Ένα </a:t>
            </a:r>
            <a:r>
              <a:rPr kumimoji="0" lang="el-GR" sz="1400" i="0" u="none" strike="noStrike" kern="0" cap="none" spc="0" normalizeH="0" baseline="0" noProof="0" dirty="0" err="1">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container</a:t>
            </a: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 είναι ένα περιβάλλον εφαρμογής </a:t>
            </a:r>
            <a:r>
              <a:rPr lang="el-GR" dirty="0">
                <a:solidFill>
                  <a:srgbClr val="CCD6F6"/>
                </a:solidFill>
                <a:ea typeface="ADLaM Display" panose="020F0502020204030204" pitchFamily="2" charset="0"/>
                <a:cs typeface="ADLaM Display" panose="020F0502020204030204" pitchFamily="2" charset="0"/>
              </a:rPr>
              <a:t>που τρέχουμε.</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dirty="0">
                <a:solidFill>
                  <a:srgbClr val="CCD6F6"/>
                </a:solidFill>
                <a:ea typeface="ADLaM Display" panose="020F0502020204030204" pitchFamily="2" charset="0"/>
                <a:cs typeface="ADLaM Display" panose="020F0502020204030204" pitchFamily="2" charset="0"/>
              </a:rPr>
              <a:t>Κάθε </a:t>
            </a:r>
            <a:r>
              <a:rPr lang="en-US" dirty="0">
                <a:solidFill>
                  <a:srgbClr val="CCD6F6"/>
                </a:solidFill>
                <a:ea typeface="ADLaM Display" panose="020F0502020204030204" pitchFamily="2" charset="0"/>
                <a:cs typeface="ADLaM Display" panose="020F0502020204030204" pitchFamily="2" charset="0"/>
              </a:rPr>
              <a:t>container </a:t>
            </a:r>
            <a:r>
              <a:rPr lang="el-GR" dirty="0">
                <a:solidFill>
                  <a:srgbClr val="CCD6F6"/>
                </a:solidFill>
                <a:ea typeface="ADLaM Display" panose="020F0502020204030204" pitchFamily="2" charset="0"/>
                <a:cs typeface="ADLaM Display" panose="020F0502020204030204" pitchFamily="2" charset="0"/>
              </a:rPr>
              <a:t>έχει </a:t>
            </a: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μέσα την εφαρμογή , τις βιβλιοθήκες της και όλες τις ρυθμίσεις, και τρέχει απομονωμένα από το υπόλοιπο σύστημα.</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l-GR" dirty="0">
              <a:solidFill>
                <a:srgbClr val="CCD6F6"/>
              </a:solidFill>
              <a:ea typeface="ADLaM Display" panose="020F0502020204030204" pitchFamily="2" charset="0"/>
              <a:cs typeface="ADLaM Display" panose="020F0502020204030204"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dirty="0">
                <a:solidFill>
                  <a:srgbClr val="CCD6F6"/>
                </a:solidFill>
                <a:ea typeface="ADLaM Display" panose="020F0502020204030204" pitchFamily="2" charset="0"/>
                <a:cs typeface="ADLaM Display" panose="020F0502020204030204" pitchFamily="2" charset="0"/>
              </a:rPr>
              <a:t>Αυτό κάνει κάθε εφαρμογή ανεξάρτητη από το μηχάνημα του καθένα και μπορεί να τρέξει οπουδήποτε.</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l-GR" dirty="0">
              <a:solidFill>
                <a:srgbClr val="CCD6F6"/>
              </a:solidFill>
              <a:ea typeface="ADLaM Display" panose="020F0502020204030204" pitchFamily="2" charset="0"/>
              <a:cs typeface="ADLaM Display" panose="020F0502020204030204"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dirty="0">
                <a:solidFill>
                  <a:srgbClr val="CCD6F6"/>
                </a:solidFill>
                <a:ea typeface="ADLaM Display" panose="020F0502020204030204" pitchFamily="2" charset="0"/>
                <a:cs typeface="ADLaM Display" panose="020F0502020204030204" pitchFamily="2" charset="0"/>
              </a:rPr>
              <a:t>Το </a:t>
            </a:r>
            <a:r>
              <a:rPr lang="en-US" dirty="0">
                <a:solidFill>
                  <a:srgbClr val="CCD6F6"/>
                </a:solidFill>
                <a:ea typeface="ADLaM Display" panose="020F0502020204030204" pitchFamily="2" charset="0"/>
                <a:cs typeface="ADLaM Display" panose="020F0502020204030204" pitchFamily="2" charset="0"/>
              </a:rPr>
              <a:t>container </a:t>
            </a:r>
            <a:r>
              <a:rPr lang="el-GR" dirty="0">
                <a:solidFill>
                  <a:srgbClr val="CCD6F6"/>
                </a:solidFill>
                <a:ea typeface="ADLaM Display" panose="020F0502020204030204" pitchFamily="2" charset="0"/>
                <a:cs typeface="ADLaM Display" panose="020F0502020204030204" pitchFamily="2" charset="0"/>
              </a:rPr>
              <a:t>μας ονομάζεται </a:t>
            </a:r>
            <a:r>
              <a:rPr lang="en-US" dirty="0">
                <a:solidFill>
                  <a:srgbClr val="CCD6F6"/>
                </a:solidFill>
                <a:ea typeface="ADLaM Display" panose="020F0502020204030204" pitchFamily="2" charset="0"/>
                <a:cs typeface="ADLaM Display" panose="020F0502020204030204" pitchFamily="2" charset="0"/>
              </a:rPr>
              <a:t>mongo-</a:t>
            </a:r>
            <a:r>
              <a:rPr lang="en-US" dirty="0" err="1">
                <a:solidFill>
                  <a:srgbClr val="CCD6F6"/>
                </a:solidFill>
                <a:ea typeface="ADLaM Display" panose="020F0502020204030204" pitchFamily="2" charset="0"/>
                <a:cs typeface="ADLaM Display" panose="020F0502020204030204" pitchFamily="2" charset="0"/>
              </a:rPr>
              <a:t>bda</a:t>
            </a:r>
            <a:r>
              <a:rPr lang="en-US" dirty="0">
                <a:solidFill>
                  <a:srgbClr val="CCD6F6"/>
                </a:solidFill>
                <a:ea typeface="ADLaM Display" panose="020F0502020204030204" pitchFamily="2" charset="0"/>
                <a:cs typeface="ADLaM Display" panose="020F0502020204030204" pitchFamily="2" charset="0"/>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dirty="0">
                <a:solidFill>
                  <a:srgbClr val="CCD6F6"/>
                </a:solidFill>
                <a:ea typeface="ADLaM Display" panose="020F0502020204030204" pitchFamily="2" charset="0"/>
                <a:cs typeface="ADLaM Display" panose="020F0502020204030204" pitchFamily="2" charset="0"/>
              </a:rPr>
              <a:t>Εκεί μέσα έχουμε τη βάση μας η οποία ονομάζεται </a:t>
            </a:r>
          </a:p>
        </p:txBody>
      </p:sp>
      <p:pic>
        <p:nvPicPr>
          <p:cNvPr id="11" name="Εικόνα 10" descr="Εικόνα που περιέχει κείμενο, λογισμικό, λογισμικό πολυμέσων, γραμματοσειρά&#10;&#10;Το περιεχόμενο που δημιουργείται από AI ενδέχεται να είναι εσφαλμένο.">
            <a:extLst>
              <a:ext uri="{FF2B5EF4-FFF2-40B4-BE49-F238E27FC236}">
                <a16:creationId xmlns:a16="http://schemas.microsoft.com/office/drawing/2014/main" id="{D0E1C946-62E9-46F1-E8FB-B1D5348EA40F}"/>
              </a:ext>
            </a:extLst>
          </p:cNvPr>
          <p:cNvPicPr>
            <a:picLocks noChangeAspect="1"/>
          </p:cNvPicPr>
          <p:nvPr/>
        </p:nvPicPr>
        <p:blipFill>
          <a:blip r:embed="rId3"/>
          <a:stretch>
            <a:fillRect/>
          </a:stretch>
        </p:blipFill>
        <p:spPr>
          <a:xfrm>
            <a:off x="2169355" y="1511737"/>
            <a:ext cx="8154914" cy="2562049"/>
          </a:xfrm>
          <a:prstGeom prst="rect">
            <a:avLst/>
          </a:prstGeom>
        </p:spPr>
      </p:pic>
    </p:spTree>
    <p:extLst>
      <p:ext uri="{BB962C8B-B14F-4D97-AF65-F5344CB8AC3E}">
        <p14:creationId xmlns:p14="http://schemas.microsoft.com/office/powerpoint/2010/main" val="2039741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a:extLst>
            <a:ext uri="{FF2B5EF4-FFF2-40B4-BE49-F238E27FC236}">
              <a16:creationId xmlns:a16="http://schemas.microsoft.com/office/drawing/2014/main" id="{BB4E634F-7F95-C4EE-F0D6-F5114BA61E74}"/>
            </a:ext>
          </a:extLst>
        </p:cNvPr>
        <p:cNvGrpSpPr/>
        <p:nvPr/>
      </p:nvGrpSpPr>
      <p:grpSpPr>
        <a:xfrm>
          <a:off x="0" y="0"/>
          <a:ext cx="0" cy="0"/>
          <a:chOff x="0" y="0"/>
          <a:chExt cx="0" cy="0"/>
        </a:xfrm>
      </p:grpSpPr>
      <p:sp>
        <p:nvSpPr>
          <p:cNvPr id="200" name="Google Shape;200;p18">
            <a:extLst>
              <a:ext uri="{FF2B5EF4-FFF2-40B4-BE49-F238E27FC236}">
                <a16:creationId xmlns:a16="http://schemas.microsoft.com/office/drawing/2014/main" id="{883812A6-2EB7-53ED-0DD9-92775DBD1626}"/>
              </a:ext>
            </a:extLst>
          </p:cNvPr>
          <p:cNvSpPr txBox="1"/>
          <p:nvPr/>
        </p:nvSpPr>
        <p:spPr>
          <a:xfrm>
            <a:off x="760412" y="740583"/>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1" i="0" u="none" strike="noStrike" kern="0" cap="none" spc="0" normalizeH="0" baseline="0" noProof="0" dirty="0">
                <a:ln>
                  <a:noFill/>
                </a:ln>
                <a:solidFill>
                  <a:srgbClr val="2DD4BF"/>
                </a:solidFill>
                <a:effectLst/>
                <a:uLnTx/>
                <a:uFillTx/>
                <a:latin typeface="Arial"/>
                <a:cs typeface="Poppins"/>
                <a:sym typeface="Poppins"/>
              </a:rPr>
              <a:t>DOCKER &amp; CONTAINERS</a:t>
            </a:r>
            <a:endParaRPr kumimoji="0" lang="el-GR"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1" name="Google Shape;201;p18">
            <a:extLst>
              <a:ext uri="{FF2B5EF4-FFF2-40B4-BE49-F238E27FC236}">
                <a16:creationId xmlns:a16="http://schemas.microsoft.com/office/drawing/2014/main" id="{CF31B0D1-A3DE-61E7-ED57-33370F81FA85}"/>
              </a:ext>
            </a:extLst>
          </p:cNvPr>
          <p:cNvSpPr/>
          <p:nvPr/>
        </p:nvSpPr>
        <p:spPr>
          <a:xfrm>
            <a:off x="581660" y="682919"/>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 name="Εικόνα 2" descr="Εικόνα που περιέχει κείμενο, στιγμιότυπο οθόνης, λογισμικό, γραμματοσειρά&#10;&#10;Το περιεχόμενο που δημιουργείται από AI ενδέχεται να είναι εσφαλμένο.">
            <a:extLst>
              <a:ext uri="{FF2B5EF4-FFF2-40B4-BE49-F238E27FC236}">
                <a16:creationId xmlns:a16="http://schemas.microsoft.com/office/drawing/2014/main" id="{5D7B1852-E431-2530-D0FD-955B14480DD6}"/>
              </a:ext>
            </a:extLst>
          </p:cNvPr>
          <p:cNvPicPr>
            <a:picLocks noChangeAspect="1"/>
          </p:cNvPicPr>
          <p:nvPr/>
        </p:nvPicPr>
        <p:blipFill>
          <a:blip r:embed="rId3"/>
          <a:stretch>
            <a:fillRect/>
          </a:stretch>
        </p:blipFill>
        <p:spPr>
          <a:xfrm>
            <a:off x="1290320" y="1785576"/>
            <a:ext cx="9611360" cy="3286848"/>
          </a:xfrm>
          <a:prstGeom prst="rect">
            <a:avLst/>
          </a:prstGeom>
        </p:spPr>
      </p:pic>
    </p:spTree>
    <p:extLst>
      <p:ext uri="{BB962C8B-B14F-4D97-AF65-F5344CB8AC3E}">
        <p14:creationId xmlns:p14="http://schemas.microsoft.com/office/powerpoint/2010/main" val="909885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a:extLst>
            <a:ext uri="{FF2B5EF4-FFF2-40B4-BE49-F238E27FC236}">
              <a16:creationId xmlns:a16="http://schemas.microsoft.com/office/drawing/2014/main" id="{836C55FD-1837-E5B3-EDA4-ADA97DAEF958}"/>
            </a:ext>
          </a:extLst>
        </p:cNvPr>
        <p:cNvGrpSpPr/>
        <p:nvPr/>
      </p:nvGrpSpPr>
      <p:grpSpPr>
        <a:xfrm>
          <a:off x="0" y="0"/>
          <a:ext cx="0" cy="0"/>
          <a:chOff x="0" y="0"/>
          <a:chExt cx="0" cy="0"/>
        </a:xfrm>
      </p:grpSpPr>
      <p:sp>
        <p:nvSpPr>
          <p:cNvPr id="200" name="Google Shape;200;p18">
            <a:extLst>
              <a:ext uri="{FF2B5EF4-FFF2-40B4-BE49-F238E27FC236}">
                <a16:creationId xmlns:a16="http://schemas.microsoft.com/office/drawing/2014/main" id="{45A94457-34AB-A72C-E173-8CAC00B2139C}"/>
              </a:ext>
            </a:extLst>
          </p:cNvPr>
          <p:cNvSpPr txBox="1"/>
          <p:nvPr/>
        </p:nvSpPr>
        <p:spPr>
          <a:xfrm>
            <a:off x="760412" y="740583"/>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1" i="0" u="none" strike="noStrike" kern="0" cap="none" spc="0" normalizeH="0" baseline="0" noProof="0" dirty="0">
                <a:ln>
                  <a:noFill/>
                </a:ln>
                <a:solidFill>
                  <a:srgbClr val="2DD4BF"/>
                </a:solidFill>
                <a:effectLst/>
                <a:uLnTx/>
                <a:uFillTx/>
                <a:latin typeface="Arial"/>
                <a:cs typeface="Poppins"/>
                <a:sym typeface="Poppins"/>
              </a:rPr>
              <a:t>DOCKER &amp; CONTAINERS</a:t>
            </a:r>
            <a:endParaRPr kumimoji="0" lang="el-GR"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1" name="Google Shape;201;p18">
            <a:extLst>
              <a:ext uri="{FF2B5EF4-FFF2-40B4-BE49-F238E27FC236}">
                <a16:creationId xmlns:a16="http://schemas.microsoft.com/office/drawing/2014/main" id="{443F1838-1EC9-5839-9403-8322F860A5D4}"/>
              </a:ext>
            </a:extLst>
          </p:cNvPr>
          <p:cNvSpPr/>
          <p:nvPr/>
        </p:nvSpPr>
        <p:spPr>
          <a:xfrm>
            <a:off x="581660" y="682919"/>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4" name="Εικόνα 3" descr="Εικόνα που περιέχει κείμενο, στιγμιότυπο οθόνης, λογισμικό&#10;&#10;Το περιεχόμενο που δημιουργείται από AI ενδέχεται να είναι εσφαλμένο.">
            <a:extLst>
              <a:ext uri="{FF2B5EF4-FFF2-40B4-BE49-F238E27FC236}">
                <a16:creationId xmlns:a16="http://schemas.microsoft.com/office/drawing/2014/main" id="{9FC381B3-787A-A8DD-1052-73A27660F76F}"/>
              </a:ext>
            </a:extLst>
          </p:cNvPr>
          <p:cNvPicPr>
            <a:picLocks noChangeAspect="1"/>
          </p:cNvPicPr>
          <p:nvPr/>
        </p:nvPicPr>
        <p:blipFill>
          <a:blip r:embed="rId3"/>
          <a:stretch>
            <a:fillRect/>
          </a:stretch>
        </p:blipFill>
        <p:spPr>
          <a:xfrm>
            <a:off x="3047565" y="1448344"/>
            <a:ext cx="6096870" cy="5104855"/>
          </a:xfrm>
          <a:prstGeom prst="rect">
            <a:avLst/>
          </a:prstGeom>
        </p:spPr>
      </p:pic>
    </p:spTree>
    <p:extLst>
      <p:ext uri="{BB962C8B-B14F-4D97-AF65-F5344CB8AC3E}">
        <p14:creationId xmlns:p14="http://schemas.microsoft.com/office/powerpoint/2010/main" val="904695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5"/>
        <p:cNvGrpSpPr/>
        <p:nvPr/>
      </p:nvGrpSpPr>
      <p:grpSpPr>
        <a:xfrm>
          <a:off x="0" y="0"/>
          <a:ext cx="0" cy="0"/>
          <a:chOff x="0" y="0"/>
          <a:chExt cx="0" cy="0"/>
        </a:xfrm>
      </p:grpSpPr>
      <p:sp>
        <p:nvSpPr>
          <p:cNvPr id="221" name="Google Shape;221;p19"/>
          <p:cNvSpPr txBox="1"/>
          <p:nvPr/>
        </p:nvSpPr>
        <p:spPr>
          <a:xfrm>
            <a:off x="762000" y="903535"/>
            <a:ext cx="11401425"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l-GR" sz="3150" b="1" i="0" u="none" strike="noStrike" cap="none" dirty="0">
                <a:solidFill>
                  <a:srgbClr val="2DD4BF"/>
                </a:solidFill>
                <a:latin typeface="Poppins"/>
                <a:ea typeface="Poppins"/>
                <a:cs typeface="Poppins"/>
                <a:sym typeface="Poppins"/>
              </a:rPr>
              <a:t>ΕΥΡΕΤΗΡΙΑ</a:t>
            </a:r>
            <a:r>
              <a:rPr lang="en-US" sz="3150" b="1" i="0" u="none" strike="noStrike" cap="none" dirty="0">
                <a:solidFill>
                  <a:srgbClr val="2DD4BF"/>
                </a:solidFill>
                <a:latin typeface="Poppins"/>
                <a:ea typeface="Poppins"/>
                <a:cs typeface="Poppins"/>
                <a:sym typeface="Poppins"/>
              </a:rPr>
              <a:t> (INDEXES)</a:t>
            </a:r>
            <a:endParaRPr dirty="0"/>
          </a:p>
        </p:txBody>
      </p:sp>
      <p:sp>
        <p:nvSpPr>
          <p:cNvPr id="222" name="Google Shape;222;p19"/>
          <p:cNvSpPr/>
          <p:nvPr/>
        </p:nvSpPr>
        <p:spPr>
          <a:xfrm>
            <a:off x="571500" y="903535"/>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196;p18">
            <a:extLst>
              <a:ext uri="{FF2B5EF4-FFF2-40B4-BE49-F238E27FC236}">
                <a16:creationId xmlns:a16="http://schemas.microsoft.com/office/drawing/2014/main" id="{11381E2E-BCF5-667E-C0F7-BB89924B824F}"/>
              </a:ext>
            </a:extLst>
          </p:cNvPr>
          <p:cNvSpPr txBox="1"/>
          <p:nvPr/>
        </p:nvSpPr>
        <p:spPr>
          <a:xfrm>
            <a:off x="4792980" y="1503610"/>
            <a:ext cx="5600700" cy="3238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Τι είναι ευρετήριο;</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TextBox 2">
            <a:extLst>
              <a:ext uri="{FF2B5EF4-FFF2-40B4-BE49-F238E27FC236}">
                <a16:creationId xmlns:a16="http://schemas.microsoft.com/office/drawing/2014/main" id="{D815E946-121F-DD8E-FEB8-5538B9A7D131}"/>
              </a:ext>
            </a:extLst>
          </p:cNvPr>
          <p:cNvSpPr txBox="1"/>
          <p:nvPr/>
        </p:nvSpPr>
        <p:spPr>
          <a:xfrm>
            <a:off x="395288" y="2347401"/>
            <a:ext cx="11401424" cy="33239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Ένα ευρετήριο (index) σε βάση δεδομένων είναι μια βοηθητική δομή δεδομένων που κρατάει ταξινομημένες τιμές από ένα ή περισσότερα πεδία και έναν τρόπο να δείχνει γρήγορα στα αντίστοιχα έγγραφα.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l-GR" dirty="0">
              <a:solidFill>
                <a:srgbClr val="CCD6F6"/>
              </a:solidFill>
              <a:ea typeface="ADLaM Display" panose="020F0502020204030204" pitchFamily="2" charset="0"/>
              <a:cs typeface="ADLaM Display" panose="020F0502020204030204"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Ο σκοπός του είναι να κάνει τις αναζητήσεις πολύ πιο γρήγορες, ώστε η βάση να μη χρειάζεται να διαβάζει (να </a:t>
            </a:r>
            <a:r>
              <a:rPr kumimoji="0" lang="el-GR" sz="1400" i="0" u="none" strike="noStrike" kern="0" cap="none" spc="0" normalizeH="0" baseline="0" noProof="0" dirty="0" err="1">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σκανάρει</a:t>
            </a: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 όλα τα δεδομένα για να βρει αυτά που ταιριάζουν στο φίλτρο.</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l-GR" dirty="0">
              <a:solidFill>
                <a:srgbClr val="CCD6F6"/>
              </a:solidFill>
              <a:ea typeface="ADLaM Display" panose="020F0502020204030204" pitchFamily="2" charset="0"/>
              <a:cs typeface="ADLaM Display" panose="020F0502020204030204"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Πιο πρακτικά: χωρίς index, ένα query συχνά κάνει </a:t>
            </a:r>
            <a:r>
              <a:rPr kumimoji="0" lang="el-GR" sz="1400" i="0" u="none" strike="noStrike" kern="0" cap="none" spc="0" normalizeH="0" baseline="0" noProof="0" dirty="0" err="1">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collection</a:t>
            </a: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 scan (κοιτάει σχεδόν όλα τα </a:t>
            </a:r>
            <a:r>
              <a:rPr kumimoji="0" lang="el-GR" sz="1400" i="0" u="none" strike="noStrike" kern="0" cap="none" spc="0" normalizeH="0" baseline="0" noProof="0" dirty="0" err="1">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documents</a:t>
            </a: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l-GR" dirty="0">
              <a:solidFill>
                <a:srgbClr val="CCD6F6"/>
              </a:solidFill>
              <a:ea typeface="ADLaM Display" panose="020F0502020204030204" pitchFamily="2" charset="0"/>
              <a:cs typeface="ADLaM Display" panose="020F0502020204030204"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Με index, η MongoDB μπορεί να κάνει index scan (κοιτάει μόνο τις σχετικές εγγραφές του ευρετηρίου) και να επιστρέψει αποτέλεσμα με πολύ λιγότερο κόστος σε χρόνο.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l-GR" dirty="0">
              <a:solidFill>
                <a:srgbClr val="CCD6F6"/>
              </a:solidFill>
              <a:ea typeface="ADLaM Display" panose="020F0502020204030204" pitchFamily="2" charset="0"/>
              <a:cs typeface="ADLaM Display" panose="020F0502020204030204" pitchFamily="2"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l-GR" b="1" u="sng" dirty="0">
                <a:solidFill>
                  <a:srgbClr val="CCD6F6"/>
                </a:solidFill>
                <a:ea typeface="ADLaM Display" panose="020F0502020204030204" pitchFamily="2" charset="0"/>
                <a:cs typeface="ADLaM Display" panose="020F0502020204030204" pitchFamily="2" charset="0"/>
              </a:rPr>
              <a:t>Κάθε νόμισμα όμως έχει 2 όψεις.</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l-GR" b="1" u="sng" dirty="0">
              <a:solidFill>
                <a:srgbClr val="CCD6F6"/>
              </a:solidFill>
              <a:ea typeface="ADLaM Display" panose="020F0502020204030204" pitchFamily="2" charset="0"/>
              <a:cs typeface="ADLaM Display" panose="020F0502020204030204"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dirty="0">
                <a:solidFill>
                  <a:srgbClr val="CCD6F6"/>
                </a:solidFill>
                <a:ea typeface="ADLaM Display" panose="020F0502020204030204" pitchFamily="2" charset="0"/>
                <a:cs typeface="ADLaM Display" panose="020F0502020204030204" pitchFamily="2" charset="0"/>
              </a:rPr>
              <a:t>Η άλλη όψη στα ευρετήρια είναι </a:t>
            </a: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ότι πιάνουν επιπλέον χώρο στο δίσκο (μνήμη) και κάνουν τα </a:t>
            </a:r>
            <a:r>
              <a:rPr kumimoji="0" lang="el-GR" sz="1400" i="0" u="none" strike="noStrike" kern="0" cap="none" spc="0" normalizeH="0" baseline="0" noProof="0" dirty="0" err="1">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writes</a:t>
            </a: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 (</a:t>
            </a:r>
            <a:r>
              <a:rPr kumimoji="0" lang="el-GR" sz="1400" i="0" u="none" strike="noStrike" kern="0" cap="none" spc="0" normalizeH="0" baseline="0" noProof="0" dirty="0" err="1">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insert</a:t>
            </a: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a:t>
            </a:r>
            <a:r>
              <a:rPr kumimoji="0" lang="el-GR" sz="1400" i="0" u="none" strike="noStrike" kern="0" cap="none" spc="0" normalizeH="0" baseline="0" noProof="0" dirty="0" err="1">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update</a:t>
            </a:r>
            <a:r>
              <a:rPr kumimoji="0" lang="el-GR" sz="1400" i="0" u="none" strike="noStrike" kern="0" cap="none" spc="0" normalizeH="0" baseline="0" noProof="0" dirty="0">
                <a:ln>
                  <a:noFill/>
                </a:ln>
                <a:solidFill>
                  <a:srgbClr val="CCD6F6"/>
                </a:solidFill>
                <a:effectLst/>
                <a:uLnTx/>
                <a:uFillTx/>
                <a:latin typeface="Arial"/>
                <a:ea typeface="ADLaM Display" panose="020F0502020204030204" pitchFamily="2" charset="0"/>
                <a:cs typeface="ADLaM Display" panose="020F0502020204030204" pitchFamily="2" charset="0"/>
                <a:sym typeface="Arial"/>
              </a:rPr>
              <a:t>) λίγο πιο αργά, γιατί πρέπει να ενημερώνεται και το ευρετήριο.</a:t>
            </a:r>
            <a:endParaRPr lang="el-GR" dirty="0">
              <a:solidFill>
                <a:srgbClr val="CCD6F6"/>
              </a:solidFill>
              <a:ea typeface="ADLaM Display" panose="020F0502020204030204" pitchFamily="2" charset="0"/>
              <a:cs typeface="ADLaM Display" panose="020F0502020204030204" pitchFamily="2"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5">
          <a:extLst>
            <a:ext uri="{FF2B5EF4-FFF2-40B4-BE49-F238E27FC236}">
              <a16:creationId xmlns:a16="http://schemas.microsoft.com/office/drawing/2014/main" id="{8240E0D2-D1FE-AFC6-9B5D-1A9C4C0F0640}"/>
            </a:ext>
          </a:extLst>
        </p:cNvPr>
        <p:cNvGrpSpPr/>
        <p:nvPr/>
      </p:nvGrpSpPr>
      <p:grpSpPr>
        <a:xfrm>
          <a:off x="0" y="0"/>
          <a:ext cx="0" cy="0"/>
          <a:chOff x="0" y="0"/>
          <a:chExt cx="0" cy="0"/>
        </a:xfrm>
      </p:grpSpPr>
      <p:sp>
        <p:nvSpPr>
          <p:cNvPr id="221" name="Google Shape;221;p19">
            <a:extLst>
              <a:ext uri="{FF2B5EF4-FFF2-40B4-BE49-F238E27FC236}">
                <a16:creationId xmlns:a16="http://schemas.microsoft.com/office/drawing/2014/main" id="{BA8D5016-D2FB-A92F-3430-192DBE29C402}"/>
              </a:ext>
            </a:extLst>
          </p:cNvPr>
          <p:cNvSpPr txBox="1"/>
          <p:nvPr/>
        </p:nvSpPr>
        <p:spPr>
          <a:xfrm>
            <a:off x="762000" y="903535"/>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ΕΥΡΕΤΗΡΙΑ</a:t>
            </a:r>
            <a:r>
              <a:rPr kumimoji="0" lang="en-US" sz="3150" b="1" i="0" u="none" strike="noStrike" kern="0" cap="none" spc="0" normalizeH="0" baseline="0" noProof="0" dirty="0">
                <a:ln>
                  <a:noFill/>
                </a:ln>
                <a:solidFill>
                  <a:srgbClr val="2DD4BF"/>
                </a:solidFill>
                <a:effectLst/>
                <a:uLnTx/>
                <a:uFillTx/>
                <a:latin typeface="Poppins"/>
                <a:ea typeface="Poppins"/>
                <a:cs typeface="Poppins"/>
                <a:sym typeface="Poppins"/>
              </a:rPr>
              <a:t> (INDEXES)</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22" name="Google Shape;222;p19">
            <a:extLst>
              <a:ext uri="{FF2B5EF4-FFF2-40B4-BE49-F238E27FC236}">
                <a16:creationId xmlns:a16="http://schemas.microsoft.com/office/drawing/2014/main" id="{592FF672-93CC-8EF4-8F5A-C4D003CF611D}"/>
              </a:ext>
            </a:extLst>
          </p:cNvPr>
          <p:cNvSpPr/>
          <p:nvPr/>
        </p:nvSpPr>
        <p:spPr>
          <a:xfrm>
            <a:off x="571500" y="903535"/>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 name="Google Shape;196;p18">
            <a:extLst>
              <a:ext uri="{FF2B5EF4-FFF2-40B4-BE49-F238E27FC236}">
                <a16:creationId xmlns:a16="http://schemas.microsoft.com/office/drawing/2014/main" id="{0FDBEC19-873D-1E59-7758-1A34E771B14E}"/>
              </a:ext>
            </a:extLst>
          </p:cNvPr>
          <p:cNvSpPr txBox="1"/>
          <p:nvPr/>
        </p:nvSpPr>
        <p:spPr>
          <a:xfrm>
            <a:off x="4102100" y="1503610"/>
            <a:ext cx="5600700" cy="3238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Ποια τα ευρετήρια που έχουμε;</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7" name="Εικόνα 6" descr="Εικόνα που περιέχει κείμενο, στιγμιότυπο οθόνης, λογισμικό, λογισμικό πολυμέσων&#10;&#10;Το περιεχόμενο που δημιουργείται από AI ενδέχεται να είναι εσφαλμένο.">
            <a:extLst>
              <a:ext uri="{FF2B5EF4-FFF2-40B4-BE49-F238E27FC236}">
                <a16:creationId xmlns:a16="http://schemas.microsoft.com/office/drawing/2014/main" id="{4D025E1D-8685-329E-B47E-766BEB467BD6}"/>
              </a:ext>
            </a:extLst>
          </p:cNvPr>
          <p:cNvPicPr>
            <a:picLocks noChangeAspect="1"/>
          </p:cNvPicPr>
          <p:nvPr/>
        </p:nvPicPr>
        <p:blipFill>
          <a:blip r:embed="rId3"/>
          <a:stretch>
            <a:fillRect/>
          </a:stretch>
        </p:blipFill>
        <p:spPr>
          <a:xfrm>
            <a:off x="2685574" y="1942787"/>
            <a:ext cx="6820852" cy="4286848"/>
          </a:xfrm>
          <a:prstGeom prst="rect">
            <a:avLst/>
          </a:prstGeom>
        </p:spPr>
      </p:pic>
    </p:spTree>
    <p:extLst>
      <p:ext uri="{BB962C8B-B14F-4D97-AF65-F5344CB8AC3E}">
        <p14:creationId xmlns:p14="http://schemas.microsoft.com/office/powerpoint/2010/main" val="4035422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5">
          <a:extLst>
            <a:ext uri="{FF2B5EF4-FFF2-40B4-BE49-F238E27FC236}">
              <a16:creationId xmlns:a16="http://schemas.microsoft.com/office/drawing/2014/main" id="{B930EF6A-DCB8-E4B4-AD2C-9468DD39062B}"/>
            </a:ext>
          </a:extLst>
        </p:cNvPr>
        <p:cNvGrpSpPr/>
        <p:nvPr/>
      </p:nvGrpSpPr>
      <p:grpSpPr>
        <a:xfrm>
          <a:off x="0" y="0"/>
          <a:ext cx="0" cy="0"/>
          <a:chOff x="0" y="0"/>
          <a:chExt cx="0" cy="0"/>
        </a:xfrm>
      </p:grpSpPr>
      <p:sp>
        <p:nvSpPr>
          <p:cNvPr id="221" name="Google Shape;221;p19">
            <a:extLst>
              <a:ext uri="{FF2B5EF4-FFF2-40B4-BE49-F238E27FC236}">
                <a16:creationId xmlns:a16="http://schemas.microsoft.com/office/drawing/2014/main" id="{F36A05BA-2FCD-78DC-41D8-FA1AE8890D47}"/>
              </a:ext>
            </a:extLst>
          </p:cNvPr>
          <p:cNvSpPr txBox="1"/>
          <p:nvPr/>
        </p:nvSpPr>
        <p:spPr>
          <a:xfrm>
            <a:off x="762000" y="903535"/>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ΕΥΡΕΤΗΡΙΑ</a:t>
            </a:r>
            <a:r>
              <a:rPr kumimoji="0" lang="en-US" sz="3150" b="1" i="0" u="none" strike="noStrike" kern="0" cap="none" spc="0" normalizeH="0" baseline="0" noProof="0" dirty="0">
                <a:ln>
                  <a:noFill/>
                </a:ln>
                <a:solidFill>
                  <a:srgbClr val="2DD4BF"/>
                </a:solidFill>
                <a:effectLst/>
                <a:uLnTx/>
                <a:uFillTx/>
                <a:latin typeface="Poppins"/>
                <a:ea typeface="Poppins"/>
                <a:cs typeface="Poppins"/>
                <a:sym typeface="Poppins"/>
              </a:rPr>
              <a:t> (INDEXES)</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22" name="Google Shape;222;p19">
            <a:extLst>
              <a:ext uri="{FF2B5EF4-FFF2-40B4-BE49-F238E27FC236}">
                <a16:creationId xmlns:a16="http://schemas.microsoft.com/office/drawing/2014/main" id="{5ED801F7-BD59-9741-A022-064D16DAB34A}"/>
              </a:ext>
            </a:extLst>
          </p:cNvPr>
          <p:cNvSpPr/>
          <p:nvPr/>
        </p:nvSpPr>
        <p:spPr>
          <a:xfrm>
            <a:off x="571500" y="903535"/>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 name="Google Shape;196;p18">
            <a:extLst>
              <a:ext uri="{FF2B5EF4-FFF2-40B4-BE49-F238E27FC236}">
                <a16:creationId xmlns:a16="http://schemas.microsoft.com/office/drawing/2014/main" id="{00316F04-CE78-398D-ADFC-806A4B7CE354}"/>
              </a:ext>
            </a:extLst>
          </p:cNvPr>
          <p:cNvSpPr txBox="1"/>
          <p:nvPr/>
        </p:nvSpPr>
        <p:spPr>
          <a:xfrm>
            <a:off x="4102100" y="1503610"/>
            <a:ext cx="5600700" cy="3238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Ποια τα ευρετήρια που έχουμε;</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7" name="Εικόνα 6" descr="Εικόνα που περιέχει κείμενο, στιγμιότυπο οθόνης, λογισμικό, λογισμικό πολυμέσων&#10;&#10;Το περιεχόμενο που δημιουργείται από AI ενδέχεται να είναι εσφαλμένο.">
            <a:extLst>
              <a:ext uri="{FF2B5EF4-FFF2-40B4-BE49-F238E27FC236}">
                <a16:creationId xmlns:a16="http://schemas.microsoft.com/office/drawing/2014/main" id="{41C97EC6-A919-918A-5252-EC0D06BFAA7B}"/>
              </a:ext>
            </a:extLst>
          </p:cNvPr>
          <p:cNvPicPr>
            <a:picLocks noChangeAspect="1"/>
          </p:cNvPicPr>
          <p:nvPr/>
        </p:nvPicPr>
        <p:blipFill>
          <a:blip r:embed="rId3"/>
          <a:stretch>
            <a:fillRect/>
          </a:stretch>
        </p:blipFill>
        <p:spPr>
          <a:xfrm>
            <a:off x="7261718" y="1992473"/>
            <a:ext cx="4571347" cy="2873053"/>
          </a:xfrm>
          <a:prstGeom prst="rect">
            <a:avLst/>
          </a:prstGeom>
        </p:spPr>
      </p:pic>
      <p:sp>
        <p:nvSpPr>
          <p:cNvPr id="3" name="TextBox 2">
            <a:extLst>
              <a:ext uri="{FF2B5EF4-FFF2-40B4-BE49-F238E27FC236}">
                <a16:creationId xmlns:a16="http://schemas.microsoft.com/office/drawing/2014/main" id="{AF4D6C52-F6A3-43E2-DD7B-45AFCA5FD9EB}"/>
              </a:ext>
            </a:extLst>
          </p:cNvPr>
          <p:cNvSpPr txBox="1"/>
          <p:nvPr/>
        </p:nvSpPr>
        <p:spPr>
          <a:xfrm>
            <a:off x="131128" y="2151727"/>
            <a:ext cx="4908232" cy="1384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l-GR" b="1" dirty="0">
                <a:solidFill>
                  <a:schemeClr val="accent2">
                    <a:lumMod val="75000"/>
                  </a:schemeClr>
                </a:solidFill>
                <a:ea typeface="ADLaM Display" panose="020F0502020204030204" pitchFamily="2" charset="0"/>
                <a:cs typeface="ADLaM Display" panose="020F0502020204030204" pitchFamily="2" charset="0"/>
              </a:rPr>
              <a:t>_id_:</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dirty="0">
                <a:solidFill>
                  <a:srgbClr val="CCD6F6"/>
                </a:solidFill>
                <a:ea typeface="ADLaM Display" panose="020F0502020204030204" pitchFamily="2" charset="0"/>
                <a:cs typeface="ADLaM Display" panose="020F0502020204030204" pitchFamily="2" charset="0"/>
              </a:rPr>
              <a:t>Προεπιλεγμένο ευρετήριο της MongoDB.</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dirty="0">
                <a:solidFill>
                  <a:srgbClr val="CCD6F6"/>
                </a:solidFill>
                <a:ea typeface="ADLaM Display" panose="020F0502020204030204" pitchFamily="2" charset="0"/>
                <a:cs typeface="ADLaM Display" panose="020F0502020204030204" pitchFamily="2" charset="0"/>
              </a:rPr>
              <a:t>Εξασφαλίζει ότι κάθε document έχει μοναδικό _id.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dirty="0">
                <a:solidFill>
                  <a:srgbClr val="CCD6F6"/>
                </a:solidFill>
                <a:ea typeface="ADLaM Display" panose="020F0502020204030204" pitchFamily="2" charset="0"/>
                <a:cs typeface="ADLaM Display" panose="020F0502020204030204" pitchFamily="2" charset="0"/>
              </a:rPr>
              <a:t>Χρησιμοποιείται για πολύ γρήγορη αναζήτηση συγκεκριμένου document.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l-GR" dirty="0">
                <a:solidFill>
                  <a:srgbClr val="CCD6F6"/>
                </a:solidFill>
                <a:ea typeface="ADLaM Display" panose="020F0502020204030204" pitchFamily="2" charset="0"/>
                <a:cs typeface="ADLaM Display" panose="020F0502020204030204" pitchFamily="2" charset="0"/>
              </a:rPr>
              <a:t>Δεν το ορίσαμε εμείς, δημιουργείται αυτόματα.</a:t>
            </a:r>
          </a:p>
        </p:txBody>
      </p:sp>
      <p:sp>
        <p:nvSpPr>
          <p:cNvPr id="4" name="TextBox 3">
            <a:extLst>
              <a:ext uri="{FF2B5EF4-FFF2-40B4-BE49-F238E27FC236}">
                <a16:creationId xmlns:a16="http://schemas.microsoft.com/office/drawing/2014/main" id="{069FE8E7-6CEC-F4F2-51C6-662978BA7A29}"/>
              </a:ext>
            </a:extLst>
          </p:cNvPr>
          <p:cNvSpPr txBox="1"/>
          <p:nvPr/>
        </p:nvSpPr>
        <p:spPr>
          <a:xfrm>
            <a:off x="131128" y="4184839"/>
            <a:ext cx="4908232" cy="1169551"/>
          </a:xfrm>
          <a:prstGeom prst="rect">
            <a:avLst/>
          </a:prstGeom>
          <a:noFill/>
        </p:spPr>
        <p:txBody>
          <a:bodyPr wrap="square">
            <a:spAutoFit/>
          </a:bodyPr>
          <a:lstStyle/>
          <a:p>
            <a:pPr algn="ctr"/>
            <a:r>
              <a:rPr lang="el-GR" b="1" u="sng" dirty="0">
                <a:solidFill>
                  <a:schemeClr val="accent2">
                    <a:lumMod val="75000"/>
                  </a:schemeClr>
                </a:solidFill>
              </a:rPr>
              <a:t>trajectory_id_1 (unique)</a:t>
            </a:r>
          </a:p>
          <a:p>
            <a:r>
              <a:rPr lang="el-GR" dirty="0">
                <a:solidFill>
                  <a:schemeClr val="tx2"/>
                </a:solidFill>
              </a:rPr>
              <a:t>Ευρετήριο στο πεδίο trajectory_id.</a:t>
            </a:r>
          </a:p>
          <a:p>
            <a:r>
              <a:rPr lang="el-GR" dirty="0">
                <a:solidFill>
                  <a:schemeClr val="tx2"/>
                </a:solidFill>
              </a:rPr>
              <a:t>Είναι </a:t>
            </a:r>
            <a:r>
              <a:rPr lang="el-GR" b="1" dirty="0">
                <a:solidFill>
                  <a:schemeClr val="tx2"/>
                </a:solidFill>
              </a:rPr>
              <a:t>unique</a:t>
            </a:r>
            <a:r>
              <a:rPr lang="el-GR" dirty="0">
                <a:solidFill>
                  <a:schemeClr val="tx2"/>
                </a:solidFill>
              </a:rPr>
              <a:t>, άρα δεν επιτρέπει διπλότυπες τροχιές.</a:t>
            </a:r>
          </a:p>
          <a:p>
            <a:r>
              <a:rPr lang="el-GR" dirty="0">
                <a:solidFill>
                  <a:schemeClr val="tx2"/>
                </a:solidFill>
              </a:rPr>
              <a:t>Εξασφαλίζει ότι κάθε τροχιά (πλοίο + ημέρα) αποθηκεύεται μία φορά.</a:t>
            </a:r>
          </a:p>
        </p:txBody>
      </p:sp>
    </p:spTree>
    <p:extLst>
      <p:ext uri="{BB962C8B-B14F-4D97-AF65-F5344CB8AC3E}">
        <p14:creationId xmlns:p14="http://schemas.microsoft.com/office/powerpoint/2010/main" val="4003150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5">
          <a:extLst>
            <a:ext uri="{FF2B5EF4-FFF2-40B4-BE49-F238E27FC236}">
              <a16:creationId xmlns:a16="http://schemas.microsoft.com/office/drawing/2014/main" id="{740C6C5C-78FB-5249-D924-1569D6B83E27}"/>
            </a:ext>
          </a:extLst>
        </p:cNvPr>
        <p:cNvGrpSpPr/>
        <p:nvPr/>
      </p:nvGrpSpPr>
      <p:grpSpPr>
        <a:xfrm>
          <a:off x="0" y="0"/>
          <a:ext cx="0" cy="0"/>
          <a:chOff x="0" y="0"/>
          <a:chExt cx="0" cy="0"/>
        </a:xfrm>
      </p:grpSpPr>
      <p:sp>
        <p:nvSpPr>
          <p:cNvPr id="221" name="Google Shape;221;p19">
            <a:extLst>
              <a:ext uri="{FF2B5EF4-FFF2-40B4-BE49-F238E27FC236}">
                <a16:creationId xmlns:a16="http://schemas.microsoft.com/office/drawing/2014/main" id="{A8CADB5B-6B38-181A-D1D7-EE0DEC85D7E5}"/>
              </a:ext>
            </a:extLst>
          </p:cNvPr>
          <p:cNvSpPr txBox="1"/>
          <p:nvPr/>
        </p:nvSpPr>
        <p:spPr>
          <a:xfrm>
            <a:off x="762000" y="903535"/>
            <a:ext cx="11401425" cy="48474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3150" b="1" i="0" u="none" strike="noStrike" kern="0" cap="none" spc="0" normalizeH="0" baseline="0" noProof="0" dirty="0">
                <a:ln>
                  <a:noFill/>
                </a:ln>
                <a:solidFill>
                  <a:srgbClr val="2DD4BF"/>
                </a:solidFill>
                <a:effectLst/>
                <a:uLnTx/>
                <a:uFillTx/>
                <a:latin typeface="Poppins"/>
                <a:ea typeface="Poppins"/>
                <a:cs typeface="Poppins"/>
                <a:sym typeface="Poppins"/>
              </a:rPr>
              <a:t>ΕΥΡΕΤΗΡΙΑ</a:t>
            </a:r>
            <a:r>
              <a:rPr kumimoji="0" lang="en-US" sz="3150" b="1" i="0" u="none" strike="noStrike" kern="0" cap="none" spc="0" normalizeH="0" baseline="0" noProof="0" dirty="0">
                <a:ln>
                  <a:noFill/>
                </a:ln>
                <a:solidFill>
                  <a:srgbClr val="2DD4BF"/>
                </a:solidFill>
                <a:effectLst/>
                <a:uLnTx/>
                <a:uFillTx/>
                <a:latin typeface="Poppins"/>
                <a:ea typeface="Poppins"/>
                <a:cs typeface="Poppins"/>
                <a:sym typeface="Poppins"/>
              </a:rPr>
              <a:t> (INDEXES)</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22" name="Google Shape;222;p19">
            <a:extLst>
              <a:ext uri="{FF2B5EF4-FFF2-40B4-BE49-F238E27FC236}">
                <a16:creationId xmlns:a16="http://schemas.microsoft.com/office/drawing/2014/main" id="{B913CB16-440E-90E9-918D-B351200DDDFB}"/>
              </a:ext>
            </a:extLst>
          </p:cNvPr>
          <p:cNvSpPr/>
          <p:nvPr/>
        </p:nvSpPr>
        <p:spPr>
          <a:xfrm>
            <a:off x="571500" y="903535"/>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 name="Google Shape;196;p18">
            <a:extLst>
              <a:ext uri="{FF2B5EF4-FFF2-40B4-BE49-F238E27FC236}">
                <a16:creationId xmlns:a16="http://schemas.microsoft.com/office/drawing/2014/main" id="{B6DB39B0-933C-5015-A41A-F6EC6F22BD44}"/>
              </a:ext>
            </a:extLst>
          </p:cNvPr>
          <p:cNvSpPr txBox="1"/>
          <p:nvPr/>
        </p:nvSpPr>
        <p:spPr>
          <a:xfrm>
            <a:off x="4102100" y="1503610"/>
            <a:ext cx="5600700" cy="3238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Ποια τα ευρετήρια που έχουμε;</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7" name="Εικόνα 6" descr="Εικόνα που περιέχει κείμενο, στιγμιότυπο οθόνης, λογισμικό, λογισμικό πολυμέσων&#10;&#10;Το περιεχόμενο που δημιουργείται από AI ενδέχεται να είναι εσφαλμένο.">
            <a:extLst>
              <a:ext uri="{FF2B5EF4-FFF2-40B4-BE49-F238E27FC236}">
                <a16:creationId xmlns:a16="http://schemas.microsoft.com/office/drawing/2014/main" id="{B5750293-4DCB-E209-C29F-5FC909541FA9}"/>
              </a:ext>
            </a:extLst>
          </p:cNvPr>
          <p:cNvPicPr>
            <a:picLocks noChangeAspect="1"/>
          </p:cNvPicPr>
          <p:nvPr/>
        </p:nvPicPr>
        <p:blipFill>
          <a:blip r:embed="rId3"/>
          <a:stretch>
            <a:fillRect/>
          </a:stretch>
        </p:blipFill>
        <p:spPr>
          <a:xfrm>
            <a:off x="6645293" y="1909966"/>
            <a:ext cx="4571347" cy="2873053"/>
          </a:xfrm>
          <a:prstGeom prst="rect">
            <a:avLst/>
          </a:prstGeom>
        </p:spPr>
      </p:pic>
      <p:sp>
        <p:nvSpPr>
          <p:cNvPr id="3" name="TextBox 2">
            <a:extLst>
              <a:ext uri="{FF2B5EF4-FFF2-40B4-BE49-F238E27FC236}">
                <a16:creationId xmlns:a16="http://schemas.microsoft.com/office/drawing/2014/main" id="{64F3FB51-30A5-F968-96F8-6F81B75040BD}"/>
              </a:ext>
            </a:extLst>
          </p:cNvPr>
          <p:cNvSpPr txBox="1"/>
          <p:nvPr/>
        </p:nvSpPr>
        <p:spPr>
          <a:xfrm>
            <a:off x="131128" y="2151727"/>
            <a:ext cx="4908232" cy="1815882"/>
          </a:xfrm>
          <a:prstGeom prst="rect">
            <a:avLst/>
          </a:prstGeom>
          <a:noFill/>
        </p:spPr>
        <p:txBody>
          <a:bodyPr wrap="square">
            <a:spAutoFit/>
          </a:bodyPr>
          <a:lstStyle/>
          <a:p>
            <a:pPr algn="ctr"/>
            <a:r>
              <a:rPr lang="el-GR" b="1" dirty="0">
                <a:solidFill>
                  <a:schemeClr val="accent2"/>
                </a:solidFill>
              </a:rPr>
              <a:t>vessel_id_1_start_time_1</a:t>
            </a:r>
          </a:p>
          <a:p>
            <a:r>
              <a:rPr lang="el-GR" dirty="0">
                <a:solidFill>
                  <a:schemeClr val="bg1">
                    <a:lumMod val="85000"/>
                  </a:schemeClr>
                </a:solidFill>
              </a:rPr>
              <a:t>Σύνθετο ευρετήριο σε vessel_id και start_time.</a:t>
            </a:r>
          </a:p>
          <a:p>
            <a:r>
              <a:rPr lang="el-GR" dirty="0">
                <a:solidFill>
                  <a:schemeClr val="bg1">
                    <a:lumMod val="85000"/>
                  </a:schemeClr>
                </a:solidFill>
              </a:rPr>
              <a:t>Επιταχύνει ερωτήματα ανά πλοίο και χρονική περίοδο.</a:t>
            </a:r>
          </a:p>
          <a:p>
            <a:pPr algn="ctr"/>
            <a:r>
              <a:rPr lang="el-GR" i="1" u="sng" dirty="0">
                <a:solidFill>
                  <a:schemeClr val="bg1">
                    <a:lumMod val="85000"/>
                  </a:schemeClr>
                </a:solidFill>
              </a:rPr>
              <a:t>Χρήσιμο για:</a:t>
            </a:r>
          </a:p>
          <a:p>
            <a:pPr lvl="1"/>
            <a:r>
              <a:rPr lang="el-GR" dirty="0">
                <a:solidFill>
                  <a:schemeClr val="bg1">
                    <a:lumMod val="85000"/>
                  </a:schemeClr>
                </a:solidFill>
              </a:rPr>
              <a:t>Ανάλυση κίνησης συγκεκριμένου πλοίου</a:t>
            </a:r>
          </a:p>
          <a:p>
            <a:pPr lvl="1"/>
            <a:r>
              <a:rPr lang="el-GR" dirty="0">
                <a:solidFill>
                  <a:schemeClr val="bg1">
                    <a:lumMod val="85000"/>
                  </a:schemeClr>
                </a:solidFill>
              </a:rPr>
              <a:t>Φιλτράρισμα τροχιών ενός πλοίου σε συγκεκριμένο διάστημα</a:t>
            </a:r>
          </a:p>
          <a:p>
            <a:r>
              <a:rPr lang="el-GR" dirty="0">
                <a:solidFill>
                  <a:schemeClr val="bg1">
                    <a:lumMod val="85000"/>
                  </a:schemeClr>
                </a:solidFill>
              </a:rPr>
              <a:t>Μειώνει σημαντικά τον αριθμό εγγράφων που εξετάζονται.</a:t>
            </a:r>
          </a:p>
        </p:txBody>
      </p:sp>
      <p:sp>
        <p:nvSpPr>
          <p:cNvPr id="4" name="TextBox 3">
            <a:extLst>
              <a:ext uri="{FF2B5EF4-FFF2-40B4-BE49-F238E27FC236}">
                <a16:creationId xmlns:a16="http://schemas.microsoft.com/office/drawing/2014/main" id="{F328634D-54BF-5CFF-303D-FF5E54917464}"/>
              </a:ext>
            </a:extLst>
          </p:cNvPr>
          <p:cNvSpPr txBox="1"/>
          <p:nvPr/>
        </p:nvSpPr>
        <p:spPr>
          <a:xfrm>
            <a:off x="131128" y="4184839"/>
            <a:ext cx="4908232" cy="1815882"/>
          </a:xfrm>
          <a:prstGeom prst="rect">
            <a:avLst/>
          </a:prstGeom>
          <a:noFill/>
        </p:spPr>
        <p:txBody>
          <a:bodyPr wrap="square">
            <a:spAutoFit/>
          </a:bodyPr>
          <a:lstStyle/>
          <a:p>
            <a:pPr algn="ctr"/>
            <a:r>
              <a:rPr lang="el-GR" b="1" dirty="0">
                <a:solidFill>
                  <a:schemeClr val="accent2">
                    <a:lumMod val="75000"/>
                  </a:schemeClr>
                </a:solidFill>
              </a:rPr>
              <a:t>idx_time_range (start_time, end_time)</a:t>
            </a:r>
          </a:p>
          <a:p>
            <a:r>
              <a:rPr lang="el-GR" dirty="0">
                <a:solidFill>
                  <a:schemeClr val="bg1">
                    <a:lumMod val="85000"/>
                  </a:schemeClr>
                </a:solidFill>
              </a:rPr>
              <a:t>Ευρετήριο χρονικού εύρους τροχιών.</a:t>
            </a:r>
          </a:p>
          <a:p>
            <a:r>
              <a:rPr lang="el-GR" dirty="0">
                <a:solidFill>
                  <a:schemeClr val="bg1">
                    <a:lumMod val="85000"/>
                  </a:schemeClr>
                </a:solidFill>
              </a:rPr>
              <a:t>Επιταχύνει ερωτήματα που ελέγχουν αν μια τροχιά τέμνει ή καλύπτει χρονικό διάστημα.</a:t>
            </a:r>
          </a:p>
          <a:p>
            <a:pPr algn="ctr"/>
            <a:r>
              <a:rPr lang="el-GR" i="1" u="sng" dirty="0">
                <a:solidFill>
                  <a:schemeClr val="bg1">
                    <a:lumMod val="85000"/>
                  </a:schemeClr>
                </a:solidFill>
              </a:rPr>
              <a:t>Χρήσιμο για:</a:t>
            </a:r>
          </a:p>
          <a:p>
            <a:pPr lvl="1"/>
            <a:r>
              <a:rPr lang="el-GR" dirty="0">
                <a:solidFill>
                  <a:schemeClr val="bg1">
                    <a:lumMod val="85000"/>
                  </a:schemeClr>
                </a:solidFill>
              </a:rPr>
              <a:t>Χρονικά φίλτρα</a:t>
            </a:r>
          </a:p>
          <a:p>
            <a:pPr lvl="1"/>
            <a:r>
              <a:rPr lang="el-GR" dirty="0">
                <a:solidFill>
                  <a:schemeClr val="bg1">
                    <a:lumMod val="85000"/>
                  </a:schemeClr>
                </a:solidFill>
              </a:rPr>
              <a:t>Ανάλυση δραστηριότητας σε συγκεκριμένες ημέρες ή ώρες</a:t>
            </a:r>
          </a:p>
          <a:p>
            <a:r>
              <a:rPr lang="el-GR" dirty="0">
                <a:solidFill>
                  <a:schemeClr val="bg1">
                    <a:lumMod val="85000"/>
                  </a:schemeClr>
                </a:solidFill>
              </a:rPr>
              <a:t>Αποφεύγει full scan σε χρονικά queries.</a:t>
            </a:r>
          </a:p>
        </p:txBody>
      </p:sp>
      <p:sp>
        <p:nvSpPr>
          <p:cNvPr id="5" name="TextBox 4">
            <a:extLst>
              <a:ext uri="{FF2B5EF4-FFF2-40B4-BE49-F238E27FC236}">
                <a16:creationId xmlns:a16="http://schemas.microsoft.com/office/drawing/2014/main" id="{385F33E6-CEED-9EF4-0945-EEE269BB13CC}"/>
              </a:ext>
            </a:extLst>
          </p:cNvPr>
          <p:cNvSpPr txBox="1"/>
          <p:nvPr/>
        </p:nvSpPr>
        <p:spPr>
          <a:xfrm>
            <a:off x="5323839" y="4783019"/>
            <a:ext cx="5811521" cy="2031325"/>
          </a:xfrm>
          <a:prstGeom prst="rect">
            <a:avLst/>
          </a:prstGeom>
          <a:noFill/>
        </p:spPr>
        <p:txBody>
          <a:bodyPr wrap="square">
            <a:spAutoFit/>
          </a:bodyPr>
          <a:lstStyle/>
          <a:p>
            <a:pPr algn="ctr"/>
            <a:r>
              <a:rPr lang="el-GR" b="1" dirty="0">
                <a:solidFill>
                  <a:schemeClr val="accent2">
                    <a:lumMod val="75000"/>
                  </a:schemeClr>
                </a:solidFill>
              </a:rPr>
              <a:t>idx_points_loc (2dsphere)</a:t>
            </a:r>
          </a:p>
          <a:p>
            <a:r>
              <a:rPr lang="el-GR" dirty="0">
                <a:solidFill>
                  <a:schemeClr val="bg1">
                    <a:lumMod val="75000"/>
                  </a:schemeClr>
                </a:solidFill>
              </a:rPr>
              <a:t>Χωρικό ευρετήριο τύπου </a:t>
            </a:r>
            <a:r>
              <a:rPr lang="el-GR" b="1" dirty="0">
                <a:solidFill>
                  <a:schemeClr val="bg1">
                    <a:lumMod val="75000"/>
                  </a:schemeClr>
                </a:solidFill>
              </a:rPr>
              <a:t>2dsphere</a:t>
            </a:r>
            <a:r>
              <a:rPr lang="el-GR" dirty="0">
                <a:solidFill>
                  <a:schemeClr val="bg1">
                    <a:lumMod val="75000"/>
                  </a:schemeClr>
                </a:solidFill>
              </a:rPr>
              <a:t> στο points.loc.</a:t>
            </a:r>
          </a:p>
          <a:p>
            <a:r>
              <a:rPr lang="el-GR" dirty="0">
                <a:solidFill>
                  <a:schemeClr val="bg1">
                    <a:lumMod val="75000"/>
                  </a:schemeClr>
                </a:solidFill>
              </a:rPr>
              <a:t>Επιτρέπει αποδοτικά χωρικά ερωτήματα πάνω σε γεωγραφικές συντεταγμένες.</a:t>
            </a:r>
          </a:p>
          <a:p>
            <a:pPr algn="ctr"/>
            <a:r>
              <a:rPr lang="el-GR" dirty="0">
                <a:solidFill>
                  <a:schemeClr val="bg1">
                    <a:lumMod val="75000"/>
                  </a:schemeClr>
                </a:solidFill>
              </a:rPr>
              <a:t>Επιταχύνει:</a:t>
            </a:r>
          </a:p>
          <a:p>
            <a:pPr lvl="1"/>
            <a:r>
              <a:rPr lang="el-GR" dirty="0">
                <a:solidFill>
                  <a:schemeClr val="bg1">
                    <a:lumMod val="75000"/>
                  </a:schemeClr>
                </a:solidFill>
              </a:rPr>
              <a:t>$geoWithin (π.χ. bounding box)</a:t>
            </a:r>
          </a:p>
          <a:p>
            <a:pPr lvl="1"/>
            <a:r>
              <a:rPr lang="el-GR" dirty="0">
                <a:solidFill>
                  <a:schemeClr val="bg1">
                    <a:lumMod val="75000"/>
                  </a:schemeClr>
                </a:solidFill>
              </a:rPr>
              <a:t>$near (πλησιέστερα σημεία)</a:t>
            </a:r>
          </a:p>
          <a:p>
            <a:r>
              <a:rPr lang="el-GR" dirty="0">
                <a:solidFill>
                  <a:schemeClr val="bg1">
                    <a:lumMod val="75000"/>
                  </a:schemeClr>
                </a:solidFill>
              </a:rPr>
              <a:t>Απαραίτητο για χωροχρονική ανάλυση τροχιών.</a:t>
            </a:r>
          </a:p>
          <a:p>
            <a:r>
              <a:rPr lang="el-GR" dirty="0">
                <a:solidFill>
                  <a:schemeClr val="bg1">
                    <a:lumMod val="75000"/>
                  </a:schemeClr>
                </a:solidFill>
              </a:rPr>
              <a:t>Το πιο κρίσιμο index για ερωτήματα γεωγραφικής φύσης.</a:t>
            </a:r>
          </a:p>
        </p:txBody>
      </p:sp>
    </p:spTree>
    <p:extLst>
      <p:ext uri="{BB962C8B-B14F-4D97-AF65-F5344CB8AC3E}">
        <p14:creationId xmlns:p14="http://schemas.microsoft.com/office/powerpoint/2010/main" val="1576195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6">
          <a:extLst>
            <a:ext uri="{FF2B5EF4-FFF2-40B4-BE49-F238E27FC236}">
              <a16:creationId xmlns:a16="http://schemas.microsoft.com/office/drawing/2014/main" id="{C7E1A5E5-F557-37A7-B3C4-F0A5C8255984}"/>
            </a:ext>
          </a:extLst>
        </p:cNvPr>
        <p:cNvGrpSpPr/>
        <p:nvPr/>
      </p:nvGrpSpPr>
      <p:grpSpPr>
        <a:xfrm>
          <a:off x="0" y="0"/>
          <a:ext cx="0" cy="0"/>
          <a:chOff x="0" y="0"/>
          <a:chExt cx="0" cy="0"/>
        </a:xfrm>
      </p:grpSpPr>
      <p:sp>
        <p:nvSpPr>
          <p:cNvPr id="231" name="Google Shape;231;p20">
            <a:extLst>
              <a:ext uri="{FF2B5EF4-FFF2-40B4-BE49-F238E27FC236}">
                <a16:creationId xmlns:a16="http://schemas.microsoft.com/office/drawing/2014/main" id="{852D84E0-D621-1D64-FCF2-84071D3B3715}"/>
              </a:ext>
            </a:extLst>
          </p:cNvPr>
          <p:cNvSpPr txBox="1"/>
          <p:nvPr/>
        </p:nvSpPr>
        <p:spPr>
          <a:xfrm>
            <a:off x="3558619" y="1703963"/>
            <a:ext cx="5808186" cy="3231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Ποιο είναι το πιο περίπλοκο ερώτημα και γιατί;</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38" name="Google Shape;238;p20">
            <a:extLst>
              <a:ext uri="{FF2B5EF4-FFF2-40B4-BE49-F238E27FC236}">
                <a16:creationId xmlns:a16="http://schemas.microsoft.com/office/drawing/2014/main" id="{98DD1484-D61C-6FC9-0525-D86B6E9D01D5}"/>
              </a:ext>
            </a:extLst>
          </p:cNvPr>
          <p:cNvSpPr txBox="1"/>
          <p:nvPr/>
        </p:nvSpPr>
        <p:spPr>
          <a:xfrm>
            <a:off x="762000" y="903535"/>
            <a:ext cx="11401425" cy="4616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0" cap="none" spc="0" normalizeH="0" baseline="0" noProof="0" dirty="0">
                <a:ln>
                  <a:noFill/>
                </a:ln>
                <a:solidFill>
                  <a:srgbClr val="2DD4BF"/>
                </a:solidFill>
                <a:effectLst/>
                <a:uLnTx/>
                <a:uFillTx/>
                <a:latin typeface="Poppins"/>
                <a:ea typeface="Poppins"/>
                <a:cs typeface="Poppins"/>
                <a:sym typeface="Poppins"/>
              </a:rPr>
              <a:t>ΠΟΛ</a:t>
            </a:r>
            <a:r>
              <a:rPr kumimoji="0" lang="el-GR" sz="3000" b="1" i="0" u="none" strike="noStrike" kern="0" cap="none" spc="0" normalizeH="0" baseline="0" noProof="0" dirty="0">
                <a:ln>
                  <a:noFill/>
                </a:ln>
                <a:solidFill>
                  <a:srgbClr val="2DD4BF"/>
                </a:solidFill>
                <a:effectLst/>
                <a:uLnTx/>
                <a:uFillTx/>
                <a:latin typeface="Poppins"/>
                <a:ea typeface="Poppins"/>
                <a:cs typeface="Poppins"/>
                <a:sym typeface="Poppins"/>
              </a:rPr>
              <a:t>Υ</a:t>
            </a:r>
            <a:r>
              <a:rPr kumimoji="0" lang="en-US" sz="3000" b="1" i="0" u="none" strike="noStrike" kern="0" cap="none" spc="0" normalizeH="0" baseline="0" noProof="0" dirty="0">
                <a:ln>
                  <a:noFill/>
                </a:ln>
                <a:solidFill>
                  <a:srgbClr val="2DD4BF"/>
                </a:solidFill>
                <a:effectLst/>
                <a:uLnTx/>
                <a:uFillTx/>
                <a:latin typeface="Poppins"/>
                <a:ea typeface="Poppins"/>
                <a:cs typeface="Poppins"/>
                <a:sym typeface="Poppins"/>
              </a:rPr>
              <a:t>ΠΛΟΚΟ ΕΡ</a:t>
            </a:r>
            <a:r>
              <a:rPr kumimoji="0" lang="el-GR" sz="3000" b="1" i="0" u="none" strike="noStrike" kern="0" cap="none" spc="0" normalizeH="0" baseline="0" noProof="0" dirty="0">
                <a:ln>
                  <a:noFill/>
                </a:ln>
                <a:solidFill>
                  <a:srgbClr val="2DD4BF"/>
                </a:solidFill>
                <a:effectLst/>
                <a:uLnTx/>
                <a:uFillTx/>
                <a:latin typeface="Poppins"/>
                <a:ea typeface="Poppins"/>
                <a:cs typeface="Poppins"/>
                <a:sym typeface="Poppins"/>
              </a:rPr>
              <a:t>Ω</a:t>
            </a:r>
            <a:r>
              <a:rPr kumimoji="0" lang="en-US" sz="3000" b="1" i="0" u="none" strike="noStrike" kern="0" cap="none" spc="0" normalizeH="0" baseline="0" noProof="0" dirty="0">
                <a:ln>
                  <a:noFill/>
                </a:ln>
                <a:solidFill>
                  <a:srgbClr val="2DD4BF"/>
                </a:solidFill>
                <a:effectLst/>
                <a:uLnTx/>
                <a:uFillTx/>
                <a:latin typeface="Poppins"/>
                <a:ea typeface="Poppins"/>
                <a:cs typeface="Poppins"/>
                <a:sym typeface="Poppins"/>
              </a:rPr>
              <a:t>ΤΗΜΑ</a:t>
            </a:r>
            <a:endParaRPr kumimoji="0" sz="3000" b="0" i="0" u="none" strike="noStrike" kern="0" cap="none" spc="0" normalizeH="0" baseline="0" noProof="0" dirty="0">
              <a:ln>
                <a:noFill/>
              </a:ln>
              <a:solidFill>
                <a:srgbClr val="000000"/>
              </a:solidFill>
              <a:effectLst/>
              <a:uLnTx/>
              <a:uFillTx/>
              <a:latin typeface="Arial"/>
              <a:cs typeface="Arial"/>
              <a:sym typeface="Arial"/>
            </a:endParaRPr>
          </a:p>
        </p:txBody>
      </p:sp>
      <p:sp>
        <p:nvSpPr>
          <p:cNvPr id="239" name="Google Shape;239;p20">
            <a:extLst>
              <a:ext uri="{FF2B5EF4-FFF2-40B4-BE49-F238E27FC236}">
                <a16:creationId xmlns:a16="http://schemas.microsoft.com/office/drawing/2014/main" id="{85172198-12FA-9C51-7E2B-83C392FBF55B}"/>
              </a:ext>
            </a:extLst>
          </p:cNvPr>
          <p:cNvSpPr/>
          <p:nvPr/>
        </p:nvSpPr>
        <p:spPr>
          <a:xfrm>
            <a:off x="571500" y="903535"/>
            <a:ext cx="57150" cy="1200150"/>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 name="TextBox 2">
            <a:extLst>
              <a:ext uri="{FF2B5EF4-FFF2-40B4-BE49-F238E27FC236}">
                <a16:creationId xmlns:a16="http://schemas.microsoft.com/office/drawing/2014/main" id="{B3CE0CB2-D314-D861-35BA-824B2C35C449}"/>
              </a:ext>
            </a:extLst>
          </p:cNvPr>
          <p:cNvSpPr txBox="1"/>
          <p:nvPr/>
        </p:nvSpPr>
        <p:spPr>
          <a:xfrm>
            <a:off x="3414712" y="2476381"/>
            <a:ext cx="6096000" cy="2677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b="1" i="0" u="none" strike="noStrike" kern="0" cap="none" spc="0" normalizeH="0" baseline="0" noProof="0" dirty="0">
                <a:ln>
                  <a:noFill/>
                </a:ln>
                <a:solidFill>
                  <a:srgbClr val="EEECE1"/>
                </a:solidFill>
                <a:effectLst/>
                <a:uLnTx/>
                <a:uFillTx/>
                <a:latin typeface="Arial"/>
                <a:cs typeface="Arial"/>
                <a:sym typeface="Arial"/>
              </a:rPr>
              <a:t>Περίοδος</a:t>
            </a:r>
            <a:r>
              <a:rPr kumimoji="0" lang="el-GR" sz="1400" b="0" i="0" u="none" strike="noStrike" kern="0" cap="none" spc="0" normalizeH="0" baseline="0" noProof="0" dirty="0">
                <a:ln>
                  <a:noFill/>
                </a:ln>
                <a:solidFill>
                  <a:srgbClr val="EEECE1"/>
                </a:solidFill>
                <a:effectLst/>
                <a:uLnTx/>
                <a:uFillTx/>
                <a:latin typeface="Arial"/>
                <a:cs typeface="Arial"/>
                <a:sym typeface="Arial"/>
              </a:rPr>
              <a:t>: Δεκέμβριος 2018</a:t>
            </a:r>
            <a:endParaRPr kumimoji="0" lang="en-US" sz="1400" b="0" i="0" u="none" strike="noStrike" kern="0" cap="none" spc="0" normalizeH="0" baseline="0" noProof="0" dirty="0">
              <a:ln>
                <a:noFill/>
              </a:ln>
              <a:solidFill>
                <a:srgbClr val="EEECE1"/>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EEECE1"/>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b="1" i="0" u="none" strike="noStrike" kern="0" cap="none" spc="0" normalizeH="0" baseline="0" noProof="0" dirty="0">
                <a:ln>
                  <a:noFill/>
                </a:ln>
                <a:solidFill>
                  <a:srgbClr val="EEECE1"/>
                </a:solidFill>
                <a:effectLst/>
                <a:uLnTx/>
                <a:uFillTx/>
                <a:latin typeface="Arial"/>
                <a:cs typeface="Arial"/>
                <a:sym typeface="Arial"/>
              </a:rPr>
              <a:t>Χωρικό φίλτρο</a:t>
            </a:r>
            <a:r>
              <a:rPr kumimoji="0" lang="el-GR" sz="1400" b="0" i="0" u="none" strike="noStrike" kern="0" cap="none" spc="0" normalizeH="0" baseline="0" noProof="0" dirty="0">
                <a:ln>
                  <a:noFill/>
                </a:ln>
                <a:solidFill>
                  <a:srgbClr val="EEECE1"/>
                </a:solidFill>
                <a:effectLst/>
                <a:uLnTx/>
                <a:uFillTx/>
                <a:latin typeface="Arial"/>
                <a:cs typeface="Arial"/>
                <a:sym typeface="Arial"/>
              </a:rPr>
              <a:t>: </a:t>
            </a:r>
            <a:r>
              <a:rPr kumimoji="0" lang="en-US" sz="1400" b="0" i="0" u="none" strike="noStrike" kern="0" cap="none" spc="0" normalizeH="0" baseline="0" noProof="0" dirty="0">
                <a:ln>
                  <a:noFill/>
                </a:ln>
                <a:solidFill>
                  <a:srgbClr val="EEECE1"/>
                </a:solidFill>
                <a:effectLst/>
                <a:uLnTx/>
                <a:uFillTx/>
                <a:latin typeface="Arial"/>
                <a:cs typeface="Arial"/>
                <a:sym typeface="Arial"/>
              </a:rPr>
              <a:t>bounding box (lon 23.4–23.9, lat 37.7–38.1)</a:t>
            </a:r>
            <a:endParaRPr kumimoji="0" lang="el-GR" sz="1400" b="0" i="0" u="none" strike="noStrike" kern="0" cap="none" spc="0" normalizeH="0" baseline="0" noProof="0" dirty="0">
              <a:ln>
                <a:noFill/>
              </a:ln>
              <a:solidFill>
                <a:srgbClr val="EEECE1"/>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EEECE1"/>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b="1" i="0" u="none" strike="noStrike" kern="0" cap="none" spc="0" normalizeH="0" baseline="0" noProof="0" dirty="0">
                <a:ln>
                  <a:noFill/>
                </a:ln>
                <a:solidFill>
                  <a:srgbClr val="EEECE1"/>
                </a:solidFill>
                <a:effectLst/>
                <a:uLnTx/>
                <a:uFillTx/>
                <a:latin typeface="Arial"/>
                <a:cs typeface="Arial"/>
                <a:sym typeface="Arial"/>
              </a:rPr>
              <a:t>Καιρικό φίλτρο</a:t>
            </a:r>
            <a:r>
              <a:rPr kumimoji="0" lang="el-GR" sz="1400" b="0" i="0" u="none" strike="noStrike" kern="0" cap="none" spc="0" normalizeH="0" baseline="0" noProof="0" dirty="0">
                <a:ln>
                  <a:noFill/>
                </a:ln>
                <a:solidFill>
                  <a:srgbClr val="EEECE1"/>
                </a:solidFill>
                <a:effectLst/>
                <a:uLnTx/>
                <a:uFillTx/>
                <a:latin typeface="Arial"/>
                <a:cs typeface="Arial"/>
                <a:sym typeface="Arial"/>
              </a:rPr>
              <a:t>: </a:t>
            </a:r>
            <a:r>
              <a:rPr kumimoji="0" lang="en-US" sz="1400" b="0" i="0" u="none" strike="noStrike" kern="0" cap="none" spc="0" normalizeH="0" baseline="0" noProof="0" dirty="0">
                <a:ln>
                  <a:noFill/>
                </a:ln>
                <a:solidFill>
                  <a:srgbClr val="EEECE1"/>
                </a:solidFill>
                <a:effectLst/>
                <a:uLnTx/>
                <a:uFillTx/>
                <a:latin typeface="Arial"/>
                <a:cs typeface="Arial"/>
                <a:sym typeface="Arial"/>
              </a:rPr>
              <a:t>WSPD ≥ 8 </a:t>
            </a:r>
            <a:r>
              <a:rPr kumimoji="0" lang="el-GR" sz="1400" b="0" i="0" u="none" strike="noStrike" kern="0" cap="none" spc="0" normalizeH="0" baseline="0" noProof="0" dirty="0">
                <a:ln>
                  <a:noFill/>
                </a:ln>
                <a:solidFill>
                  <a:srgbClr val="EEECE1"/>
                </a:solidFill>
                <a:effectLst/>
                <a:uLnTx/>
                <a:uFillTx/>
                <a:latin typeface="Arial"/>
                <a:cs typeface="Arial"/>
                <a:sym typeface="Arial"/>
              </a:rPr>
              <a:t>σε τουλάχιστον ένα </a:t>
            </a:r>
            <a:r>
              <a:rPr kumimoji="0" lang="en-US" sz="1400" b="0" i="0" u="none" strike="noStrike" kern="0" cap="none" spc="0" normalizeH="0" baseline="0" noProof="0" dirty="0">
                <a:ln>
                  <a:noFill/>
                </a:ln>
                <a:solidFill>
                  <a:srgbClr val="EEECE1"/>
                </a:solidFill>
                <a:effectLst/>
                <a:uLnTx/>
                <a:uFillTx/>
                <a:latin typeface="Arial"/>
                <a:cs typeface="Arial"/>
                <a:sym typeface="Arial"/>
              </a:rPr>
              <a:t>point </a:t>
            </a:r>
            <a:r>
              <a:rPr kumimoji="0" lang="el-GR" sz="1400" b="0" i="0" u="none" strike="noStrike" kern="0" cap="none" spc="0" normalizeH="0" baseline="0" noProof="0" dirty="0">
                <a:ln>
                  <a:noFill/>
                </a:ln>
                <a:solidFill>
                  <a:srgbClr val="EEECE1"/>
                </a:solidFill>
                <a:effectLst/>
                <a:uLnTx/>
                <a:uFillTx/>
                <a:latin typeface="Arial"/>
                <a:cs typeface="Arial"/>
                <a:sym typeface="Arial"/>
              </a:rPr>
              <a:t>μέσα στο </a:t>
            </a:r>
            <a:r>
              <a:rPr kumimoji="0" lang="en-US" sz="1400" b="0" i="0" u="none" strike="noStrike" kern="0" cap="none" spc="0" normalizeH="0" baseline="0" noProof="0" dirty="0">
                <a:ln>
                  <a:noFill/>
                </a:ln>
                <a:solidFill>
                  <a:srgbClr val="EEECE1"/>
                </a:solidFill>
                <a:effectLst/>
                <a:uLnTx/>
                <a:uFillTx/>
                <a:latin typeface="Arial"/>
                <a:cs typeface="Arial"/>
                <a:sym typeface="Arial"/>
              </a:rPr>
              <a:t>box</a:t>
            </a:r>
            <a:endParaRPr kumimoji="0" lang="el-GR" sz="1400" b="0" i="0" u="none" strike="noStrike" kern="0" cap="none" spc="0" normalizeH="0" baseline="0" noProof="0" dirty="0">
              <a:ln>
                <a:noFill/>
              </a:ln>
              <a:solidFill>
                <a:srgbClr val="EEECE1"/>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EEECE1"/>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b="1" i="0" u="none" strike="noStrike" kern="0" cap="none" spc="0" normalizeH="0" baseline="0" noProof="0" dirty="0">
                <a:ln>
                  <a:noFill/>
                </a:ln>
                <a:solidFill>
                  <a:srgbClr val="EEECE1"/>
                </a:solidFill>
                <a:effectLst/>
                <a:uLnTx/>
                <a:uFillTx/>
                <a:latin typeface="Arial"/>
                <a:cs typeface="Arial"/>
                <a:sym typeface="Arial"/>
              </a:rPr>
              <a:t>Σύνδεση δεδομένων</a:t>
            </a:r>
            <a:r>
              <a:rPr kumimoji="0" lang="el-GR" sz="1400" b="0" i="0" u="none" strike="noStrike" kern="0" cap="none" spc="0" normalizeH="0" baseline="0" noProof="0" dirty="0">
                <a:ln>
                  <a:noFill/>
                </a:ln>
                <a:solidFill>
                  <a:srgbClr val="EEECE1"/>
                </a:solidFill>
                <a:effectLst/>
                <a:uLnTx/>
                <a:uFillTx/>
                <a:latin typeface="Arial"/>
                <a:cs typeface="Arial"/>
                <a:sym typeface="Arial"/>
              </a:rPr>
              <a:t>: </a:t>
            </a:r>
            <a:r>
              <a:rPr kumimoji="0" lang="en-US" sz="1400" b="0" i="0" u="none" strike="noStrike" kern="0" cap="none" spc="0" normalizeH="0" baseline="0" noProof="0" dirty="0">
                <a:ln>
                  <a:noFill/>
                </a:ln>
                <a:solidFill>
                  <a:srgbClr val="EEECE1"/>
                </a:solidFill>
                <a:effectLst/>
                <a:uLnTx/>
                <a:uFillTx/>
                <a:latin typeface="Arial"/>
                <a:cs typeface="Arial"/>
                <a:sym typeface="Arial"/>
              </a:rPr>
              <a:t>join </a:t>
            </a:r>
            <a:r>
              <a:rPr kumimoji="0" lang="el-GR" sz="1400" b="0" i="0" u="none" strike="noStrike" kern="0" cap="none" spc="0" normalizeH="0" baseline="0" noProof="0" dirty="0">
                <a:ln>
                  <a:noFill/>
                </a:ln>
                <a:solidFill>
                  <a:srgbClr val="EEECE1"/>
                </a:solidFill>
                <a:effectLst/>
                <a:uLnTx/>
                <a:uFillTx/>
                <a:latin typeface="Arial"/>
                <a:cs typeface="Arial"/>
                <a:sym typeface="Arial"/>
              </a:rPr>
              <a:t>με </a:t>
            </a:r>
            <a:r>
              <a:rPr kumimoji="0" lang="en-US" sz="1400" b="0" i="0" u="none" strike="noStrike" kern="0" cap="none" spc="0" normalizeH="0" baseline="0" noProof="0" dirty="0">
                <a:ln>
                  <a:noFill/>
                </a:ln>
                <a:solidFill>
                  <a:srgbClr val="EEECE1"/>
                </a:solidFill>
                <a:effectLst/>
                <a:uLnTx/>
                <a:uFillTx/>
                <a:latin typeface="Arial"/>
                <a:cs typeface="Arial"/>
                <a:sym typeface="Arial"/>
              </a:rPr>
              <a:t>trajectory_id</a:t>
            </a:r>
            <a:endParaRPr kumimoji="0" lang="el-GR" sz="1400" b="0" i="0" u="none" strike="noStrike" kern="0" cap="none" spc="0" normalizeH="0" baseline="0" noProof="0" dirty="0">
              <a:ln>
                <a:noFill/>
              </a:ln>
              <a:solidFill>
                <a:srgbClr val="EEECE1"/>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EEECE1"/>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b="1" i="0" u="none" strike="noStrike" kern="0" cap="none" spc="0" normalizeH="0" baseline="0" noProof="0" dirty="0">
                <a:ln>
                  <a:noFill/>
                </a:ln>
                <a:solidFill>
                  <a:srgbClr val="EEECE1"/>
                </a:solidFill>
                <a:effectLst/>
                <a:uLnTx/>
                <a:uFillTx/>
                <a:latin typeface="Arial"/>
                <a:cs typeface="Arial"/>
                <a:sym typeface="Arial"/>
              </a:rPr>
              <a:t>Έξοδος</a:t>
            </a:r>
            <a:r>
              <a:rPr kumimoji="0" lang="el-GR" sz="1400" b="0" i="0" u="none" strike="noStrike" kern="0" cap="none" spc="0" normalizeH="0" baseline="0" noProof="0" dirty="0">
                <a:ln>
                  <a:noFill/>
                </a:ln>
                <a:solidFill>
                  <a:srgbClr val="EEECE1"/>
                </a:solidFill>
                <a:effectLst/>
                <a:uLnTx/>
                <a:uFillTx/>
                <a:latin typeface="Arial"/>
                <a:cs typeface="Arial"/>
                <a:sym typeface="Arial"/>
              </a:rPr>
              <a:t>: </a:t>
            </a:r>
            <a:r>
              <a:rPr kumimoji="0" lang="en-US" sz="1400" b="0" i="0" u="none" strike="noStrike" kern="0" cap="none" spc="0" normalizeH="0" baseline="0" noProof="0" dirty="0">
                <a:ln>
                  <a:noFill/>
                </a:ln>
                <a:solidFill>
                  <a:srgbClr val="EEECE1"/>
                </a:solidFill>
                <a:effectLst/>
                <a:uLnTx/>
                <a:uFillTx/>
                <a:latin typeface="Arial"/>
                <a:cs typeface="Arial"/>
                <a:sym typeface="Arial"/>
              </a:rPr>
              <a:t>Top-5 </a:t>
            </a:r>
            <a:r>
              <a:rPr kumimoji="0" lang="el-GR" sz="1400" b="0" i="0" u="none" strike="noStrike" kern="0" cap="none" spc="0" normalizeH="0" baseline="0" noProof="0" dirty="0">
                <a:ln>
                  <a:noFill/>
                </a:ln>
                <a:solidFill>
                  <a:srgbClr val="EEECE1"/>
                </a:solidFill>
                <a:effectLst/>
                <a:uLnTx/>
                <a:uFillTx/>
                <a:latin typeface="Arial"/>
                <a:cs typeface="Arial"/>
                <a:sym typeface="Arial"/>
              </a:rPr>
              <a:t>τροχιές με τα περισσότερα “</a:t>
            </a:r>
            <a:r>
              <a:rPr kumimoji="0" lang="en-US" sz="1400" b="0" i="0" u="none" strike="noStrike" kern="0" cap="none" spc="0" normalizeH="0" baseline="0" noProof="0" dirty="0">
                <a:ln>
                  <a:noFill/>
                </a:ln>
                <a:solidFill>
                  <a:srgbClr val="EEECE1"/>
                </a:solidFill>
                <a:effectLst/>
                <a:uLnTx/>
                <a:uFillTx/>
                <a:latin typeface="Arial"/>
                <a:cs typeface="Arial"/>
                <a:sym typeface="Arial"/>
              </a:rPr>
              <a:t>windy-in-box” </a:t>
            </a:r>
            <a:r>
              <a:rPr kumimoji="0" lang="el-GR" sz="1400" b="0" i="0" u="none" strike="noStrike" kern="0" cap="none" spc="0" normalizeH="0" baseline="0" noProof="0" dirty="0">
                <a:ln>
                  <a:noFill/>
                </a:ln>
                <a:solidFill>
                  <a:srgbClr val="EEECE1"/>
                </a:solidFill>
                <a:effectLst/>
                <a:uLnTx/>
                <a:uFillTx/>
                <a:latin typeface="Arial"/>
                <a:cs typeface="Arial"/>
                <a:sym typeface="Arial"/>
              </a:rPr>
              <a:t>σημεία + </a:t>
            </a:r>
            <a:r>
              <a:rPr kumimoji="0" lang="en-US" sz="1400" b="0" i="0" u="none" strike="noStrike" kern="0" cap="none" spc="0" normalizeH="0" baseline="0" noProof="0" dirty="0">
                <a:ln>
                  <a:noFill/>
                </a:ln>
                <a:solidFill>
                  <a:srgbClr val="EEECE1"/>
                </a:solidFill>
                <a:effectLst/>
                <a:uLnTx/>
                <a:uFillTx/>
                <a:latin typeface="Arial"/>
                <a:cs typeface="Arial"/>
                <a:sym typeface="Arial"/>
              </a:rPr>
              <a:t>counts + 2 </a:t>
            </a:r>
            <a:r>
              <a:rPr kumimoji="0" lang="el-GR" sz="1400" b="0" i="0" u="none" strike="noStrike" kern="0" cap="none" spc="0" normalizeH="0" baseline="0" noProof="0" dirty="0">
                <a:ln>
                  <a:noFill/>
                </a:ln>
                <a:solidFill>
                  <a:srgbClr val="EEECE1"/>
                </a:solidFill>
                <a:effectLst/>
                <a:uLnTx/>
                <a:uFillTx/>
                <a:latin typeface="Arial"/>
                <a:cs typeface="Arial"/>
                <a:sym typeface="Arial"/>
              </a:rPr>
              <a:t>δείγματα σημείων</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EEECE1"/>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1400" b="1" i="0" u="none" strike="noStrike" kern="0" cap="none" spc="0" normalizeH="0" baseline="0" noProof="0" dirty="0">
                <a:ln>
                  <a:noFill/>
                </a:ln>
                <a:solidFill>
                  <a:srgbClr val="EEECE1"/>
                </a:solidFill>
                <a:effectLst/>
                <a:uLnTx/>
                <a:uFillTx/>
                <a:latin typeface="Arial"/>
                <a:cs typeface="Arial"/>
                <a:sym typeface="Arial"/>
              </a:rPr>
              <a:t>Αν δεν βρεθεί τίποτα</a:t>
            </a:r>
            <a:r>
              <a:rPr kumimoji="0" lang="el-GR" sz="1400" b="0" i="0" u="none" strike="noStrike" kern="0" cap="none" spc="0" normalizeH="0" baseline="0" noProof="0" dirty="0">
                <a:ln>
                  <a:noFill/>
                </a:ln>
                <a:solidFill>
                  <a:srgbClr val="EEECE1"/>
                </a:solidFill>
                <a:effectLst/>
                <a:uLnTx/>
                <a:uFillTx/>
                <a:latin typeface="Arial"/>
                <a:cs typeface="Arial"/>
                <a:sym typeface="Arial"/>
              </a:rPr>
              <a:t>: μήνυμα “Δεν βρέθηκαν…”</a:t>
            </a:r>
          </a:p>
        </p:txBody>
      </p:sp>
    </p:spTree>
    <p:extLst>
      <p:ext uri="{BB962C8B-B14F-4D97-AF65-F5344CB8AC3E}">
        <p14:creationId xmlns:p14="http://schemas.microsoft.com/office/powerpoint/2010/main" val="4177100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6"/>
        <p:cNvGrpSpPr/>
        <p:nvPr/>
      </p:nvGrpSpPr>
      <p:grpSpPr>
        <a:xfrm>
          <a:off x="0" y="0"/>
          <a:ext cx="0" cy="0"/>
          <a:chOff x="0" y="0"/>
          <a:chExt cx="0" cy="0"/>
        </a:xfrm>
      </p:grpSpPr>
      <p:sp>
        <p:nvSpPr>
          <p:cNvPr id="231" name="Google Shape;231;p20"/>
          <p:cNvSpPr txBox="1"/>
          <p:nvPr/>
        </p:nvSpPr>
        <p:spPr>
          <a:xfrm>
            <a:off x="3558619" y="1703963"/>
            <a:ext cx="5808186"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l-GR" sz="2100" b="1" i="0" u="none" strike="noStrike" cap="none" dirty="0">
                <a:solidFill>
                  <a:srgbClr val="38BDF8"/>
                </a:solidFill>
                <a:latin typeface="Urbanist"/>
                <a:ea typeface="Urbanist"/>
                <a:cs typeface="Urbanist"/>
                <a:sym typeface="Urbanist"/>
              </a:rPr>
              <a:t>Ποιο είναι το πιο περίπλοκο ερώτημα και γιατί;</a:t>
            </a:r>
            <a:endParaRPr dirty="0"/>
          </a:p>
        </p:txBody>
      </p:sp>
      <p:sp>
        <p:nvSpPr>
          <p:cNvPr id="238" name="Google Shape;238;p20"/>
          <p:cNvSpPr txBox="1"/>
          <p:nvPr/>
        </p:nvSpPr>
        <p:spPr>
          <a:xfrm>
            <a:off x="762000" y="903535"/>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2DD4BF"/>
                </a:solidFill>
                <a:latin typeface="Poppins"/>
                <a:ea typeface="Poppins"/>
                <a:cs typeface="Poppins"/>
                <a:sym typeface="Poppins"/>
              </a:rPr>
              <a:t>ΠΟΛ</a:t>
            </a:r>
            <a:r>
              <a:rPr lang="el-GR" sz="3000" b="1" i="0" u="none" strike="noStrike" cap="none" dirty="0">
                <a:solidFill>
                  <a:srgbClr val="2DD4BF"/>
                </a:solidFill>
                <a:latin typeface="Poppins"/>
                <a:ea typeface="Poppins"/>
                <a:cs typeface="Poppins"/>
                <a:sym typeface="Poppins"/>
              </a:rPr>
              <a:t>Υ</a:t>
            </a:r>
            <a:r>
              <a:rPr lang="en-US" sz="3000" b="1" i="0" u="none" strike="noStrike" cap="none" dirty="0">
                <a:solidFill>
                  <a:srgbClr val="2DD4BF"/>
                </a:solidFill>
                <a:latin typeface="Poppins"/>
                <a:ea typeface="Poppins"/>
                <a:cs typeface="Poppins"/>
                <a:sym typeface="Poppins"/>
              </a:rPr>
              <a:t>ΠΛΟΚΟ ΕΡ</a:t>
            </a:r>
            <a:r>
              <a:rPr lang="el-GR" sz="3000" b="1" i="0" u="none" strike="noStrike" cap="none" dirty="0">
                <a:solidFill>
                  <a:srgbClr val="2DD4BF"/>
                </a:solidFill>
                <a:latin typeface="Poppins"/>
                <a:ea typeface="Poppins"/>
                <a:cs typeface="Poppins"/>
                <a:sym typeface="Poppins"/>
              </a:rPr>
              <a:t>Ω</a:t>
            </a:r>
            <a:r>
              <a:rPr lang="en-US" sz="3000" b="1" i="0" u="none" strike="noStrike" cap="none" dirty="0">
                <a:solidFill>
                  <a:srgbClr val="2DD4BF"/>
                </a:solidFill>
                <a:latin typeface="Poppins"/>
                <a:ea typeface="Poppins"/>
                <a:cs typeface="Poppins"/>
                <a:sym typeface="Poppins"/>
              </a:rPr>
              <a:t>ΤΗΜΑ</a:t>
            </a:r>
            <a:endParaRPr sz="3000" dirty="0"/>
          </a:p>
        </p:txBody>
      </p:sp>
      <p:sp>
        <p:nvSpPr>
          <p:cNvPr id="239" name="Google Shape;239;p20"/>
          <p:cNvSpPr/>
          <p:nvPr/>
        </p:nvSpPr>
        <p:spPr>
          <a:xfrm>
            <a:off x="571500" y="903535"/>
            <a:ext cx="57150" cy="1200150"/>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 name="Εικόνα 4" descr="Εικόνα που περιέχει κείμενο, οθόνη, στιγμιότυπο οθόνης, υπολογιστής&#10;&#10;Το περιεχόμενο που δημιουργείται από AI ενδέχεται να είναι εσφαλμένο.">
            <a:extLst>
              <a:ext uri="{FF2B5EF4-FFF2-40B4-BE49-F238E27FC236}">
                <a16:creationId xmlns:a16="http://schemas.microsoft.com/office/drawing/2014/main" id="{20ACBFDF-8A2F-D2DF-ACDF-90E7D2669402}"/>
              </a:ext>
            </a:extLst>
          </p:cNvPr>
          <p:cNvPicPr>
            <a:picLocks noChangeAspect="1"/>
          </p:cNvPicPr>
          <p:nvPr/>
        </p:nvPicPr>
        <p:blipFill>
          <a:blip r:embed="rId3"/>
          <a:stretch>
            <a:fillRect/>
          </a:stretch>
        </p:blipFill>
        <p:spPr>
          <a:xfrm>
            <a:off x="4993430" y="2193170"/>
            <a:ext cx="2205139" cy="449210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6">
          <a:extLst>
            <a:ext uri="{FF2B5EF4-FFF2-40B4-BE49-F238E27FC236}">
              <a16:creationId xmlns:a16="http://schemas.microsoft.com/office/drawing/2014/main" id="{D3D0C7DE-0DC8-65C1-A51B-6D79E929E20D}"/>
            </a:ext>
          </a:extLst>
        </p:cNvPr>
        <p:cNvGrpSpPr/>
        <p:nvPr/>
      </p:nvGrpSpPr>
      <p:grpSpPr>
        <a:xfrm>
          <a:off x="0" y="0"/>
          <a:ext cx="0" cy="0"/>
          <a:chOff x="0" y="0"/>
          <a:chExt cx="0" cy="0"/>
        </a:xfrm>
      </p:grpSpPr>
      <p:sp>
        <p:nvSpPr>
          <p:cNvPr id="231" name="Google Shape;231;p20">
            <a:extLst>
              <a:ext uri="{FF2B5EF4-FFF2-40B4-BE49-F238E27FC236}">
                <a16:creationId xmlns:a16="http://schemas.microsoft.com/office/drawing/2014/main" id="{7F508773-2B66-8D94-CD26-358C389E8B8E}"/>
              </a:ext>
            </a:extLst>
          </p:cNvPr>
          <p:cNvSpPr txBox="1"/>
          <p:nvPr/>
        </p:nvSpPr>
        <p:spPr>
          <a:xfrm>
            <a:off x="1499495" y="1780520"/>
            <a:ext cx="5808186" cy="3231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Μέρος 1</a:t>
            </a:r>
            <a:r>
              <a:rPr kumimoji="0" lang="el-GR" sz="2100" b="1" i="0" u="none" strike="noStrike" kern="0" cap="none" spc="0" normalizeH="0" baseline="30000" noProof="0" dirty="0">
                <a:ln>
                  <a:noFill/>
                </a:ln>
                <a:solidFill>
                  <a:srgbClr val="38BDF8"/>
                </a:solidFill>
                <a:effectLst/>
                <a:uLnTx/>
                <a:uFillTx/>
                <a:latin typeface="Urbanist"/>
                <a:ea typeface="Urbanist"/>
                <a:cs typeface="Urbanist"/>
                <a:sym typeface="Urbanist"/>
              </a:rPr>
              <a:t>ο</a:t>
            </a: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a:t>
            </a:r>
          </a:p>
        </p:txBody>
      </p:sp>
      <p:sp>
        <p:nvSpPr>
          <p:cNvPr id="238" name="Google Shape;238;p20">
            <a:extLst>
              <a:ext uri="{FF2B5EF4-FFF2-40B4-BE49-F238E27FC236}">
                <a16:creationId xmlns:a16="http://schemas.microsoft.com/office/drawing/2014/main" id="{25DA9CC4-B4B9-F4E3-B526-FE768217357C}"/>
              </a:ext>
            </a:extLst>
          </p:cNvPr>
          <p:cNvSpPr txBox="1"/>
          <p:nvPr/>
        </p:nvSpPr>
        <p:spPr>
          <a:xfrm>
            <a:off x="762000" y="903535"/>
            <a:ext cx="11401425" cy="4616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0" cap="none" spc="0" normalizeH="0" baseline="0" noProof="0" dirty="0">
                <a:ln>
                  <a:noFill/>
                </a:ln>
                <a:solidFill>
                  <a:srgbClr val="2DD4BF"/>
                </a:solidFill>
                <a:effectLst/>
                <a:uLnTx/>
                <a:uFillTx/>
                <a:latin typeface="Poppins"/>
                <a:ea typeface="Poppins"/>
                <a:cs typeface="Poppins"/>
                <a:sym typeface="Poppins"/>
              </a:rPr>
              <a:t>ΠΟΛ</a:t>
            </a:r>
            <a:r>
              <a:rPr kumimoji="0" lang="el-GR" sz="3000" b="1" i="0" u="none" strike="noStrike" kern="0" cap="none" spc="0" normalizeH="0" baseline="0" noProof="0" dirty="0">
                <a:ln>
                  <a:noFill/>
                </a:ln>
                <a:solidFill>
                  <a:srgbClr val="2DD4BF"/>
                </a:solidFill>
                <a:effectLst/>
                <a:uLnTx/>
                <a:uFillTx/>
                <a:latin typeface="Poppins"/>
                <a:ea typeface="Poppins"/>
                <a:cs typeface="Poppins"/>
                <a:sym typeface="Poppins"/>
              </a:rPr>
              <a:t>Υ</a:t>
            </a:r>
            <a:r>
              <a:rPr kumimoji="0" lang="en-US" sz="3000" b="1" i="0" u="none" strike="noStrike" kern="0" cap="none" spc="0" normalizeH="0" baseline="0" noProof="0" dirty="0">
                <a:ln>
                  <a:noFill/>
                </a:ln>
                <a:solidFill>
                  <a:srgbClr val="2DD4BF"/>
                </a:solidFill>
                <a:effectLst/>
                <a:uLnTx/>
                <a:uFillTx/>
                <a:latin typeface="Poppins"/>
                <a:ea typeface="Poppins"/>
                <a:cs typeface="Poppins"/>
                <a:sym typeface="Poppins"/>
              </a:rPr>
              <a:t>ΠΛΟΚΟ ΕΡ</a:t>
            </a:r>
            <a:r>
              <a:rPr kumimoji="0" lang="el-GR" sz="3000" b="1" i="0" u="none" strike="noStrike" kern="0" cap="none" spc="0" normalizeH="0" baseline="0" noProof="0" dirty="0">
                <a:ln>
                  <a:noFill/>
                </a:ln>
                <a:solidFill>
                  <a:srgbClr val="2DD4BF"/>
                </a:solidFill>
                <a:effectLst/>
                <a:uLnTx/>
                <a:uFillTx/>
                <a:latin typeface="Poppins"/>
                <a:ea typeface="Poppins"/>
                <a:cs typeface="Poppins"/>
                <a:sym typeface="Poppins"/>
              </a:rPr>
              <a:t>Ω</a:t>
            </a:r>
            <a:r>
              <a:rPr kumimoji="0" lang="en-US" sz="3000" b="1" i="0" u="none" strike="noStrike" kern="0" cap="none" spc="0" normalizeH="0" baseline="0" noProof="0" dirty="0">
                <a:ln>
                  <a:noFill/>
                </a:ln>
                <a:solidFill>
                  <a:srgbClr val="2DD4BF"/>
                </a:solidFill>
                <a:effectLst/>
                <a:uLnTx/>
                <a:uFillTx/>
                <a:latin typeface="Poppins"/>
                <a:ea typeface="Poppins"/>
                <a:cs typeface="Poppins"/>
                <a:sym typeface="Poppins"/>
              </a:rPr>
              <a:t>ΤΗΜΑ</a:t>
            </a:r>
            <a:endParaRPr kumimoji="0" sz="3000" b="0" i="0" u="none" strike="noStrike" kern="0" cap="none" spc="0" normalizeH="0" baseline="0" noProof="0" dirty="0">
              <a:ln>
                <a:noFill/>
              </a:ln>
              <a:solidFill>
                <a:srgbClr val="000000"/>
              </a:solidFill>
              <a:effectLst/>
              <a:uLnTx/>
              <a:uFillTx/>
              <a:latin typeface="Arial"/>
              <a:cs typeface="Arial"/>
              <a:sym typeface="Arial"/>
            </a:endParaRPr>
          </a:p>
        </p:txBody>
      </p:sp>
      <p:sp>
        <p:nvSpPr>
          <p:cNvPr id="239" name="Google Shape;239;p20">
            <a:extLst>
              <a:ext uri="{FF2B5EF4-FFF2-40B4-BE49-F238E27FC236}">
                <a16:creationId xmlns:a16="http://schemas.microsoft.com/office/drawing/2014/main" id="{EB6C28D6-40EB-93DF-5F4F-CA3290405715}"/>
              </a:ext>
            </a:extLst>
          </p:cNvPr>
          <p:cNvSpPr/>
          <p:nvPr/>
        </p:nvSpPr>
        <p:spPr>
          <a:xfrm>
            <a:off x="571500" y="903535"/>
            <a:ext cx="57150" cy="1200150"/>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4" name="Εικόνα 3" descr="Εικόνα που περιέχει κείμενο, στιγμιότυπο οθόνης, λογισμικό&#10;&#10;Το περιεχόμενο που δημιουργείται από AI ενδέχεται να είναι εσφαλμένο.">
            <a:extLst>
              <a:ext uri="{FF2B5EF4-FFF2-40B4-BE49-F238E27FC236}">
                <a16:creationId xmlns:a16="http://schemas.microsoft.com/office/drawing/2014/main" id="{B3ED5E44-EC7E-8750-27E3-CFD56B33D983}"/>
              </a:ext>
            </a:extLst>
          </p:cNvPr>
          <p:cNvPicPr>
            <a:picLocks noChangeAspect="1"/>
          </p:cNvPicPr>
          <p:nvPr/>
        </p:nvPicPr>
        <p:blipFill>
          <a:blip r:embed="rId3"/>
          <a:stretch>
            <a:fillRect/>
          </a:stretch>
        </p:blipFill>
        <p:spPr>
          <a:xfrm>
            <a:off x="8178526" y="274276"/>
            <a:ext cx="3452610" cy="6309448"/>
          </a:xfrm>
          <a:prstGeom prst="rect">
            <a:avLst/>
          </a:prstGeom>
        </p:spPr>
      </p:pic>
      <p:sp>
        <p:nvSpPr>
          <p:cNvPr id="7" name="Rectangle 1">
            <a:extLst>
              <a:ext uri="{FF2B5EF4-FFF2-40B4-BE49-F238E27FC236}">
                <a16:creationId xmlns:a16="http://schemas.microsoft.com/office/drawing/2014/main" id="{4C4E36FA-3284-0E5F-2090-9EA909F3EFBE}"/>
              </a:ext>
            </a:extLst>
          </p:cNvPr>
          <p:cNvSpPr>
            <a:spLocks noChangeArrowheads="1"/>
          </p:cNvSpPr>
          <p:nvPr/>
        </p:nvSpPr>
        <p:spPr bwMode="auto">
          <a:xfrm>
            <a:off x="1289812" y="2492070"/>
            <a:ext cx="6713697"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eaLnBrk="0" fontAlgn="base" hangingPunct="0">
              <a:spcBef>
                <a:spcPct val="0"/>
              </a:spcBef>
              <a:spcAft>
                <a:spcPct val="0"/>
              </a:spcAft>
              <a:buClrTx/>
              <a:buFontTx/>
              <a:buChar char="•"/>
            </a:pPr>
            <a:r>
              <a:rPr lang="el-GR" altLang="el-GR" sz="1800" b="1" dirty="0">
                <a:solidFill>
                  <a:schemeClr val="tx2"/>
                </a:solidFill>
                <a:latin typeface="+mj-lt"/>
              </a:rPr>
              <a:t>Βήμα 1: Αρχικό Φιλτράρισμα ($match)</a:t>
            </a:r>
          </a:p>
          <a:p>
            <a:pPr eaLnBrk="0" fontAlgn="base" hangingPunct="0">
              <a:spcBef>
                <a:spcPct val="0"/>
              </a:spcBef>
              <a:spcAft>
                <a:spcPct val="0"/>
              </a:spcAft>
              <a:buClrTx/>
              <a:buFontTx/>
              <a:buChar char="•"/>
            </a:pPr>
            <a:endParaRPr kumimoji="0" lang="el-GR" altLang="el-GR" sz="1800" b="0" i="0" u="none" strike="noStrike" cap="none" normalizeH="0" baseline="0" dirty="0">
              <a:ln>
                <a:noFill/>
              </a:ln>
              <a:solidFill>
                <a:schemeClr val="tx2"/>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l-GR" altLang="el-GR" sz="1800" b="0" i="0" u="none" strike="noStrike" cap="none" normalizeH="0" baseline="0" dirty="0">
                <a:ln>
                  <a:noFill/>
                </a:ln>
                <a:solidFill>
                  <a:schemeClr val="tx2"/>
                </a:solidFill>
                <a:effectLst/>
                <a:latin typeface="+mj-lt"/>
              </a:rPr>
              <a:t>-&gt; Περιορισμός στο χρονικό διάστημα: </a:t>
            </a:r>
            <a:r>
              <a:rPr kumimoji="0" lang="el-GR" altLang="el-GR" sz="1800" b="1" i="0" u="none" strike="noStrike" cap="none" normalizeH="0" baseline="0" dirty="0">
                <a:ln>
                  <a:noFill/>
                </a:ln>
                <a:solidFill>
                  <a:schemeClr val="tx2"/>
                </a:solidFill>
                <a:effectLst/>
                <a:latin typeface="+mj-lt"/>
              </a:rPr>
              <a:t>Δεκέμβριος 2018</a:t>
            </a:r>
            <a:r>
              <a:rPr kumimoji="0" lang="el-GR" altLang="el-GR" sz="1800" b="0" i="0" u="none" strike="noStrike" cap="none" normalizeH="0" baseline="0" dirty="0">
                <a:ln>
                  <a:noFill/>
                </a:ln>
                <a:solidFill>
                  <a:schemeClr val="tx2"/>
                </a:solidFill>
                <a:effectLst/>
                <a:latin typeface="+mj-lt"/>
              </a:rPr>
              <a:t>.</a:t>
            </a:r>
          </a:p>
          <a:p>
            <a:pPr lvl="0" eaLnBrk="0" fontAlgn="base" hangingPunct="0">
              <a:spcBef>
                <a:spcPct val="0"/>
              </a:spcBef>
              <a:spcAft>
                <a:spcPct val="0"/>
              </a:spcAft>
              <a:buClrTx/>
            </a:pPr>
            <a:r>
              <a:rPr lang="el-GR" altLang="el-GR" sz="1800" dirty="0">
                <a:solidFill>
                  <a:schemeClr val="tx2"/>
                </a:solidFill>
                <a:latin typeface="+mj-lt"/>
              </a:rPr>
              <a:t>-&gt; </a:t>
            </a:r>
            <a:r>
              <a:rPr kumimoji="0" lang="el-GR" altLang="el-GR" sz="1800" b="0" i="0" u="none" strike="noStrike" cap="none" normalizeH="0" baseline="0" dirty="0">
                <a:ln>
                  <a:noFill/>
                </a:ln>
                <a:solidFill>
                  <a:schemeClr val="tx2"/>
                </a:solidFill>
                <a:effectLst/>
                <a:latin typeface="+mj-lt"/>
              </a:rPr>
              <a:t>Γεωγραφικός περιορισμός εντός ορίων (</a:t>
            </a:r>
            <a:r>
              <a:rPr kumimoji="0" lang="el-GR" altLang="el-GR" sz="1800" b="1" i="0" u="none" strike="noStrike" cap="none" normalizeH="0" baseline="0" dirty="0">
                <a:ln>
                  <a:noFill/>
                </a:ln>
                <a:solidFill>
                  <a:schemeClr val="tx2"/>
                </a:solidFill>
                <a:effectLst/>
                <a:latin typeface="+mj-lt"/>
              </a:rPr>
              <a:t>$</a:t>
            </a:r>
            <a:r>
              <a:rPr kumimoji="0" lang="el-GR" altLang="el-GR" sz="1800" b="1" i="0" u="none" strike="noStrike" cap="none" normalizeH="0" baseline="0" dirty="0" err="1">
                <a:ln>
                  <a:noFill/>
                </a:ln>
                <a:solidFill>
                  <a:schemeClr val="tx2"/>
                </a:solidFill>
                <a:effectLst/>
                <a:latin typeface="+mj-lt"/>
              </a:rPr>
              <a:t>box</a:t>
            </a:r>
            <a:r>
              <a:rPr kumimoji="0" lang="el-GR" altLang="el-GR" sz="1800" b="0" i="0" u="none" strike="noStrike" cap="none" normalizeH="0" baseline="0" dirty="0">
                <a:ln>
                  <a:noFill/>
                </a:ln>
                <a:solidFill>
                  <a:schemeClr val="tx2"/>
                </a:solidFill>
                <a:effectLst/>
                <a:latin typeface="+mj-lt"/>
              </a:rPr>
              <a:t>).</a:t>
            </a:r>
          </a:p>
          <a:p>
            <a:pPr lvl="0" eaLnBrk="0" fontAlgn="base" hangingPunct="0">
              <a:spcBef>
                <a:spcPct val="0"/>
              </a:spcBef>
              <a:spcAft>
                <a:spcPct val="0"/>
              </a:spcAft>
              <a:buClrTx/>
            </a:pPr>
            <a:r>
              <a:rPr kumimoji="0" lang="el-GR" altLang="el-GR" sz="1800" b="0" i="0" u="none" strike="noStrike" cap="none" normalizeH="0" baseline="0" dirty="0">
                <a:ln>
                  <a:noFill/>
                </a:ln>
                <a:solidFill>
                  <a:schemeClr val="tx2"/>
                </a:solidFill>
                <a:effectLst/>
                <a:latin typeface="+mj-lt"/>
              </a:rPr>
              <a:t>-&gt; Κριτήριο έντασης ανέμου (</a:t>
            </a:r>
            <a:r>
              <a:rPr kumimoji="0" lang="el-GR" altLang="el-GR" sz="1800" b="1" i="0" u="none" strike="noStrike" cap="none" normalizeH="0" baseline="0" dirty="0">
                <a:ln>
                  <a:noFill/>
                </a:ln>
                <a:solidFill>
                  <a:schemeClr val="tx2"/>
                </a:solidFill>
                <a:effectLst/>
                <a:latin typeface="+mj-lt"/>
              </a:rPr>
              <a:t>WSPD $\</a:t>
            </a:r>
            <a:r>
              <a:rPr kumimoji="0" lang="el-GR" altLang="el-GR" sz="1800" b="1" i="0" u="none" strike="noStrike" cap="none" normalizeH="0" baseline="0" dirty="0" err="1">
                <a:ln>
                  <a:noFill/>
                </a:ln>
                <a:solidFill>
                  <a:schemeClr val="tx2"/>
                </a:solidFill>
                <a:effectLst/>
                <a:latin typeface="+mj-lt"/>
              </a:rPr>
              <a:t>ge</a:t>
            </a:r>
            <a:r>
              <a:rPr kumimoji="0" lang="el-GR" altLang="el-GR" sz="1800" b="1" i="0" u="none" strike="noStrike" cap="none" normalizeH="0" baseline="0" dirty="0">
                <a:ln>
                  <a:noFill/>
                </a:ln>
                <a:solidFill>
                  <a:schemeClr val="tx2"/>
                </a:solidFill>
                <a:effectLst/>
                <a:latin typeface="+mj-lt"/>
              </a:rPr>
              <a:t>$ 8</a:t>
            </a:r>
            <a:r>
              <a:rPr kumimoji="0" lang="el-GR" altLang="el-GR" sz="1800" b="0" i="0" u="none" strike="noStrike" cap="none" normalizeH="0" baseline="0" dirty="0">
                <a:ln>
                  <a:noFill/>
                </a:ln>
                <a:solidFill>
                  <a:schemeClr val="tx2"/>
                </a:solidFill>
                <a:effectLst/>
                <a:latin typeface="+mj-lt"/>
              </a:rPr>
              <a:t>).</a:t>
            </a:r>
          </a:p>
          <a:p>
            <a:pPr lvl="0" eaLnBrk="0" fontAlgn="base" hangingPunct="0">
              <a:spcBef>
                <a:spcPct val="0"/>
              </a:spcBef>
              <a:spcAft>
                <a:spcPct val="0"/>
              </a:spcAft>
              <a:buClrTx/>
            </a:pPr>
            <a:endParaRPr kumimoji="0" lang="el-GR" altLang="el-GR" sz="1800" b="0" i="0" u="none" strike="noStrike" cap="none" normalizeH="0" baseline="0" dirty="0">
              <a:ln>
                <a:noFill/>
              </a:ln>
              <a:solidFill>
                <a:schemeClr val="tx2"/>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sz="1800" b="1" i="0" u="none" strike="noStrike" cap="none" normalizeH="0" baseline="0" dirty="0">
                <a:ln>
                  <a:noFill/>
                </a:ln>
                <a:solidFill>
                  <a:schemeClr val="tx2"/>
                </a:solidFill>
                <a:effectLst/>
                <a:latin typeface="+mj-lt"/>
              </a:rPr>
              <a:t>Βήμα 2: Εμπλουτισμός Δεδομένων ($</a:t>
            </a:r>
            <a:r>
              <a:rPr kumimoji="0" lang="el-GR" altLang="el-GR" sz="1800" b="1" i="0" u="none" strike="noStrike" cap="none" normalizeH="0" baseline="0" dirty="0" err="1">
                <a:ln>
                  <a:noFill/>
                </a:ln>
                <a:solidFill>
                  <a:schemeClr val="tx2"/>
                </a:solidFill>
                <a:effectLst/>
                <a:latin typeface="+mj-lt"/>
              </a:rPr>
              <a:t>lookup</a:t>
            </a:r>
            <a:r>
              <a:rPr kumimoji="0" lang="el-GR" altLang="el-GR" sz="1800" b="1" i="0" u="none" strike="noStrike" cap="none" normalizeH="0" baseline="0" dirty="0">
                <a:ln>
                  <a:noFill/>
                </a:ln>
                <a:solidFill>
                  <a:schemeClr val="tx2"/>
                </a:solidFill>
                <a:effectLst/>
                <a:latin typeface="+mj-lt"/>
              </a:rPr>
              <a:t>)</a:t>
            </a:r>
            <a:endParaRPr kumimoji="0" lang="el-GR" altLang="el-GR" sz="1800" b="0" i="0" u="none" strike="noStrike" cap="none" normalizeH="0" baseline="0" dirty="0">
              <a:ln>
                <a:noFill/>
              </a:ln>
              <a:solidFill>
                <a:schemeClr val="tx2"/>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l-GR" altLang="el-GR" sz="1800" b="0" i="0" u="none" strike="noStrike" cap="none" normalizeH="0" baseline="0" dirty="0">
                <a:ln>
                  <a:noFill/>
                </a:ln>
                <a:solidFill>
                  <a:schemeClr val="tx2"/>
                </a:solidFill>
                <a:effectLst/>
                <a:latin typeface="+mj-lt"/>
              </a:rPr>
              <a:t>-&gt; Συσχέτιση (</a:t>
            </a:r>
            <a:r>
              <a:rPr kumimoji="0" lang="el-GR" altLang="el-GR" sz="1800" b="0" i="0" u="none" strike="noStrike" cap="none" normalizeH="0" baseline="0" dirty="0" err="1">
                <a:ln>
                  <a:noFill/>
                </a:ln>
                <a:solidFill>
                  <a:schemeClr val="tx2"/>
                </a:solidFill>
                <a:effectLst/>
                <a:latin typeface="+mj-lt"/>
              </a:rPr>
              <a:t>Join</a:t>
            </a:r>
            <a:r>
              <a:rPr kumimoji="0" lang="el-GR" altLang="el-GR" sz="1800" b="0" i="0" u="none" strike="noStrike" cap="none" normalizeH="0" baseline="0" dirty="0">
                <a:ln>
                  <a:noFill/>
                </a:ln>
                <a:solidFill>
                  <a:schemeClr val="tx2"/>
                </a:solidFill>
                <a:effectLst/>
                <a:latin typeface="+mj-lt"/>
              </a:rPr>
              <a:t>) με τη συλλογή </a:t>
            </a:r>
            <a:r>
              <a:rPr kumimoji="0" lang="el-GR" altLang="el-GR" sz="1800" b="0" i="0" u="none" strike="noStrike" cap="none" normalizeH="0" baseline="0" dirty="0" err="1">
                <a:ln>
                  <a:noFill/>
                </a:ln>
                <a:solidFill>
                  <a:schemeClr val="tx2"/>
                </a:solidFill>
                <a:effectLst/>
                <a:latin typeface="+mj-lt"/>
              </a:rPr>
              <a:t>trajectory_annotations_clean</a:t>
            </a:r>
            <a:r>
              <a:rPr kumimoji="0" lang="el-GR" altLang="el-GR" sz="800" b="0" i="0" u="none" strike="noStrike" cap="none" normalizeH="0" baseline="0" dirty="0">
                <a:ln>
                  <a:noFill/>
                </a:ln>
                <a:solidFill>
                  <a:schemeClr val="tx2"/>
                </a:solidFill>
                <a:effectLst/>
                <a:latin typeface="+mj-lt"/>
              </a:rPr>
              <a:t>.</a:t>
            </a:r>
            <a:endParaRPr kumimoji="0" lang="el-GR" altLang="el-GR" sz="1800" b="0" i="0" u="none" strike="noStrike" cap="none" normalizeH="0" baseline="0" dirty="0">
              <a:ln>
                <a:noFill/>
              </a:ln>
              <a:solidFill>
                <a:schemeClr val="tx2"/>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l-GR" altLang="el-GR" sz="1800" b="0" i="0" u="none" strike="noStrike" cap="none" normalizeH="0" baseline="0" dirty="0">
                <a:ln>
                  <a:noFill/>
                </a:ln>
                <a:solidFill>
                  <a:schemeClr val="tx2"/>
                </a:solidFill>
                <a:effectLst/>
                <a:latin typeface="+mj-lt"/>
              </a:rPr>
              <a:t>-&gt; Σύνδεση μέσω του πεδίου </a:t>
            </a:r>
            <a:r>
              <a:rPr kumimoji="0" lang="el-GR" altLang="el-GR" sz="1800" b="0" i="0" u="none" strike="noStrike" cap="none" normalizeH="0" baseline="0" dirty="0" err="1">
                <a:ln>
                  <a:noFill/>
                </a:ln>
                <a:solidFill>
                  <a:schemeClr val="tx2"/>
                </a:solidFill>
                <a:effectLst/>
                <a:latin typeface="+mj-lt"/>
              </a:rPr>
              <a:t>trajectory_id</a:t>
            </a:r>
            <a:r>
              <a:rPr kumimoji="0" lang="el-GR" altLang="el-GR" sz="800" b="0" i="0" u="none" strike="noStrike" cap="none" normalizeH="0" baseline="0" dirty="0">
                <a:ln>
                  <a:noFill/>
                </a:ln>
                <a:solidFill>
                  <a:schemeClr val="tx2"/>
                </a:solidFill>
                <a:effectLst/>
                <a:latin typeface="+mj-lt"/>
              </a:rPr>
              <a:t>.</a:t>
            </a:r>
            <a:endParaRPr kumimoji="0" lang="el-GR" altLang="el-GR" sz="1800" b="0" i="0" u="none" strike="noStrike" cap="none" normalizeH="0" baseline="0" dirty="0">
              <a:ln>
                <a:noFill/>
              </a:ln>
              <a:solidFill>
                <a:schemeClr val="tx2"/>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l-GR" altLang="el-GR" sz="1800" b="0" i="0" u="none" strike="noStrike" cap="none" normalizeH="0" baseline="0" dirty="0">
              <a:ln>
                <a:noFill/>
              </a:ln>
              <a:solidFill>
                <a:schemeClr val="tx2"/>
              </a:solidFill>
              <a:effectLst/>
              <a:latin typeface="+mj-lt"/>
            </a:endParaRPr>
          </a:p>
        </p:txBody>
      </p:sp>
    </p:spTree>
    <p:extLst>
      <p:ext uri="{BB962C8B-B14F-4D97-AF65-F5344CB8AC3E}">
        <p14:creationId xmlns:p14="http://schemas.microsoft.com/office/powerpoint/2010/main" val="3765936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6">
          <a:extLst>
            <a:ext uri="{FF2B5EF4-FFF2-40B4-BE49-F238E27FC236}">
              <a16:creationId xmlns:a16="http://schemas.microsoft.com/office/drawing/2014/main" id="{A24F8458-43A0-E6C2-8536-F1EFE3D221E4}"/>
            </a:ext>
          </a:extLst>
        </p:cNvPr>
        <p:cNvGrpSpPr/>
        <p:nvPr/>
      </p:nvGrpSpPr>
      <p:grpSpPr>
        <a:xfrm>
          <a:off x="0" y="0"/>
          <a:ext cx="0" cy="0"/>
          <a:chOff x="0" y="0"/>
          <a:chExt cx="0" cy="0"/>
        </a:xfrm>
      </p:grpSpPr>
      <p:sp>
        <p:nvSpPr>
          <p:cNvPr id="231" name="Google Shape;231;p20">
            <a:extLst>
              <a:ext uri="{FF2B5EF4-FFF2-40B4-BE49-F238E27FC236}">
                <a16:creationId xmlns:a16="http://schemas.microsoft.com/office/drawing/2014/main" id="{960D5435-BB67-171F-4314-9D7BCAE15728}"/>
              </a:ext>
            </a:extLst>
          </p:cNvPr>
          <p:cNvSpPr txBox="1"/>
          <p:nvPr/>
        </p:nvSpPr>
        <p:spPr>
          <a:xfrm>
            <a:off x="1499495" y="1780520"/>
            <a:ext cx="5808186" cy="3231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Μέρος 2</a:t>
            </a:r>
            <a:r>
              <a:rPr kumimoji="0" lang="el-GR" sz="2100" b="1" i="0" u="none" strike="noStrike" kern="0" cap="none" spc="0" normalizeH="0" baseline="30000" noProof="0" dirty="0">
                <a:ln>
                  <a:noFill/>
                </a:ln>
                <a:solidFill>
                  <a:srgbClr val="38BDF8"/>
                </a:solidFill>
                <a:effectLst/>
                <a:uLnTx/>
                <a:uFillTx/>
                <a:latin typeface="Urbanist"/>
                <a:ea typeface="Urbanist"/>
                <a:cs typeface="Urbanist"/>
                <a:sym typeface="Urbanist"/>
              </a:rPr>
              <a:t>ο</a:t>
            </a: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a:t>
            </a:r>
          </a:p>
        </p:txBody>
      </p:sp>
      <p:sp>
        <p:nvSpPr>
          <p:cNvPr id="238" name="Google Shape;238;p20">
            <a:extLst>
              <a:ext uri="{FF2B5EF4-FFF2-40B4-BE49-F238E27FC236}">
                <a16:creationId xmlns:a16="http://schemas.microsoft.com/office/drawing/2014/main" id="{C164E8CF-50AC-3077-D010-A72185CA698E}"/>
              </a:ext>
            </a:extLst>
          </p:cNvPr>
          <p:cNvSpPr txBox="1"/>
          <p:nvPr/>
        </p:nvSpPr>
        <p:spPr>
          <a:xfrm>
            <a:off x="762000" y="903535"/>
            <a:ext cx="11401425" cy="4616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0" cap="none" spc="0" normalizeH="0" baseline="0" noProof="0" dirty="0">
                <a:ln>
                  <a:noFill/>
                </a:ln>
                <a:solidFill>
                  <a:srgbClr val="2DD4BF"/>
                </a:solidFill>
                <a:effectLst/>
                <a:uLnTx/>
                <a:uFillTx/>
                <a:latin typeface="Poppins"/>
                <a:ea typeface="Poppins"/>
                <a:cs typeface="Poppins"/>
                <a:sym typeface="Poppins"/>
              </a:rPr>
              <a:t>ΠΟΛ</a:t>
            </a:r>
            <a:r>
              <a:rPr kumimoji="0" lang="el-GR" sz="3000" b="1" i="0" u="none" strike="noStrike" kern="0" cap="none" spc="0" normalizeH="0" baseline="0" noProof="0" dirty="0">
                <a:ln>
                  <a:noFill/>
                </a:ln>
                <a:solidFill>
                  <a:srgbClr val="2DD4BF"/>
                </a:solidFill>
                <a:effectLst/>
                <a:uLnTx/>
                <a:uFillTx/>
                <a:latin typeface="Poppins"/>
                <a:ea typeface="Poppins"/>
                <a:cs typeface="Poppins"/>
                <a:sym typeface="Poppins"/>
              </a:rPr>
              <a:t>Υ</a:t>
            </a:r>
            <a:r>
              <a:rPr kumimoji="0" lang="en-US" sz="3000" b="1" i="0" u="none" strike="noStrike" kern="0" cap="none" spc="0" normalizeH="0" baseline="0" noProof="0" dirty="0">
                <a:ln>
                  <a:noFill/>
                </a:ln>
                <a:solidFill>
                  <a:srgbClr val="2DD4BF"/>
                </a:solidFill>
                <a:effectLst/>
                <a:uLnTx/>
                <a:uFillTx/>
                <a:latin typeface="Poppins"/>
                <a:ea typeface="Poppins"/>
                <a:cs typeface="Poppins"/>
                <a:sym typeface="Poppins"/>
              </a:rPr>
              <a:t>ΠΛΟΚΟ ΕΡ</a:t>
            </a:r>
            <a:r>
              <a:rPr kumimoji="0" lang="el-GR" sz="3000" b="1" i="0" u="none" strike="noStrike" kern="0" cap="none" spc="0" normalizeH="0" baseline="0" noProof="0" dirty="0">
                <a:ln>
                  <a:noFill/>
                </a:ln>
                <a:solidFill>
                  <a:srgbClr val="2DD4BF"/>
                </a:solidFill>
                <a:effectLst/>
                <a:uLnTx/>
                <a:uFillTx/>
                <a:latin typeface="Poppins"/>
                <a:ea typeface="Poppins"/>
                <a:cs typeface="Poppins"/>
                <a:sym typeface="Poppins"/>
              </a:rPr>
              <a:t>Ω</a:t>
            </a:r>
            <a:r>
              <a:rPr kumimoji="0" lang="en-US" sz="3000" b="1" i="0" u="none" strike="noStrike" kern="0" cap="none" spc="0" normalizeH="0" baseline="0" noProof="0" dirty="0">
                <a:ln>
                  <a:noFill/>
                </a:ln>
                <a:solidFill>
                  <a:srgbClr val="2DD4BF"/>
                </a:solidFill>
                <a:effectLst/>
                <a:uLnTx/>
                <a:uFillTx/>
                <a:latin typeface="Poppins"/>
                <a:ea typeface="Poppins"/>
                <a:cs typeface="Poppins"/>
                <a:sym typeface="Poppins"/>
              </a:rPr>
              <a:t>ΤΗΜΑ</a:t>
            </a:r>
            <a:endParaRPr kumimoji="0" sz="3000" b="0" i="0" u="none" strike="noStrike" kern="0" cap="none" spc="0" normalizeH="0" baseline="0" noProof="0" dirty="0">
              <a:ln>
                <a:noFill/>
              </a:ln>
              <a:solidFill>
                <a:srgbClr val="000000"/>
              </a:solidFill>
              <a:effectLst/>
              <a:uLnTx/>
              <a:uFillTx/>
              <a:latin typeface="Arial"/>
              <a:cs typeface="Arial"/>
              <a:sym typeface="Arial"/>
            </a:endParaRPr>
          </a:p>
        </p:txBody>
      </p:sp>
      <p:sp>
        <p:nvSpPr>
          <p:cNvPr id="239" name="Google Shape;239;p20">
            <a:extLst>
              <a:ext uri="{FF2B5EF4-FFF2-40B4-BE49-F238E27FC236}">
                <a16:creationId xmlns:a16="http://schemas.microsoft.com/office/drawing/2014/main" id="{AEB5A3A8-ECDF-5135-BFF1-133CEFF00EFD}"/>
              </a:ext>
            </a:extLst>
          </p:cNvPr>
          <p:cNvSpPr/>
          <p:nvPr/>
        </p:nvSpPr>
        <p:spPr>
          <a:xfrm>
            <a:off x="571500" y="903535"/>
            <a:ext cx="57150" cy="1200150"/>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 name="Rectangle 1">
            <a:extLst>
              <a:ext uri="{FF2B5EF4-FFF2-40B4-BE49-F238E27FC236}">
                <a16:creationId xmlns:a16="http://schemas.microsoft.com/office/drawing/2014/main" id="{1961B543-AA47-B291-C13E-9E7D894F8A4E}"/>
              </a:ext>
            </a:extLst>
          </p:cNvPr>
          <p:cNvSpPr>
            <a:spLocks noChangeArrowheads="1"/>
          </p:cNvSpPr>
          <p:nvPr/>
        </p:nvSpPr>
        <p:spPr bwMode="auto">
          <a:xfrm>
            <a:off x="423152" y="3127742"/>
            <a:ext cx="5989140" cy="1123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lvl="0" eaLnBrk="0" fontAlgn="base" hangingPunct="0">
              <a:spcBef>
                <a:spcPct val="0"/>
              </a:spcBef>
              <a:spcAft>
                <a:spcPct val="0"/>
              </a:spcAft>
              <a:buClrTx/>
            </a:pPr>
            <a:r>
              <a:rPr lang="el-GR" dirty="0">
                <a:solidFill>
                  <a:schemeClr val="tx2"/>
                </a:solidFill>
              </a:rPr>
              <a:t>Το τελικό στάδιο του query φιλτράρει και ταξινομεί τις τροχιές,</a:t>
            </a:r>
          </a:p>
          <a:p>
            <a:pPr lvl="0" eaLnBrk="0" fontAlgn="base" hangingPunct="0">
              <a:spcBef>
                <a:spcPct val="0"/>
              </a:spcBef>
              <a:spcAft>
                <a:spcPct val="0"/>
              </a:spcAft>
              <a:buClrTx/>
            </a:pPr>
            <a:r>
              <a:rPr lang="el-GR" dirty="0">
                <a:solidFill>
                  <a:schemeClr val="tx2"/>
                </a:solidFill>
              </a:rPr>
              <a:t>παρουσιάζοντας τις </a:t>
            </a:r>
            <a:r>
              <a:rPr lang="el-GR" b="1" dirty="0">
                <a:solidFill>
                  <a:schemeClr val="tx2"/>
                </a:solidFill>
              </a:rPr>
              <a:t>5 επικρατέστερες</a:t>
            </a:r>
            <a:r>
              <a:rPr lang="el-GR" dirty="0">
                <a:solidFill>
                  <a:schemeClr val="tx2"/>
                </a:solidFill>
              </a:rPr>
              <a:t> βάσει της παραμονής τους </a:t>
            </a:r>
          </a:p>
          <a:p>
            <a:pPr lvl="0" eaLnBrk="0" fontAlgn="base" hangingPunct="0">
              <a:spcBef>
                <a:spcPct val="0"/>
              </a:spcBef>
              <a:spcAft>
                <a:spcPct val="0"/>
              </a:spcAft>
              <a:buClrTx/>
            </a:pPr>
            <a:r>
              <a:rPr lang="el-GR" dirty="0">
                <a:solidFill>
                  <a:schemeClr val="tx2"/>
                </a:solidFill>
              </a:rPr>
              <a:t>στην περιοχή ενδιαφέροντος. </a:t>
            </a:r>
          </a:p>
          <a:p>
            <a:pPr lvl="0" eaLnBrk="0" fontAlgn="base" hangingPunct="0">
              <a:spcBef>
                <a:spcPct val="0"/>
              </a:spcBef>
              <a:spcAft>
                <a:spcPct val="0"/>
              </a:spcAft>
              <a:buClrTx/>
            </a:pPr>
            <a:r>
              <a:rPr lang="el-GR" dirty="0">
                <a:solidFill>
                  <a:schemeClr val="tx2"/>
                </a:solidFill>
              </a:rPr>
              <a:t>Περιλαμβάνει επίσης μηχανισμό ελέγχου για την περίπτωση μη </a:t>
            </a:r>
          </a:p>
          <a:p>
            <a:pPr lvl="0" eaLnBrk="0" fontAlgn="base" hangingPunct="0">
              <a:spcBef>
                <a:spcPct val="0"/>
              </a:spcBef>
              <a:spcAft>
                <a:spcPct val="0"/>
              </a:spcAft>
              <a:buClrTx/>
            </a:pPr>
            <a:r>
              <a:rPr lang="el-GR" dirty="0">
                <a:solidFill>
                  <a:schemeClr val="tx2"/>
                </a:solidFill>
              </a:rPr>
              <a:t>εύρεσης αποτελεσμάτων, εξασφαλίζοντας την εγκυρότητα της αναφοράς.</a:t>
            </a:r>
            <a:endParaRPr kumimoji="0" lang="el-GR" altLang="el-GR" sz="1800" b="1" i="0" u="none" strike="noStrike" kern="0" cap="none" spc="0" normalizeH="0" baseline="0" noProof="0" dirty="0">
              <a:ln>
                <a:noFill/>
              </a:ln>
              <a:solidFill>
                <a:schemeClr val="tx2"/>
              </a:solidFill>
              <a:effectLst/>
              <a:uLnTx/>
              <a:uFillTx/>
              <a:latin typeface="Arial"/>
              <a:cs typeface="Arial"/>
              <a:sym typeface="Arial"/>
            </a:endParaRPr>
          </a:p>
        </p:txBody>
      </p:sp>
      <p:pic>
        <p:nvPicPr>
          <p:cNvPr id="3" name="Εικόνα 2" descr="Εικόνα που περιέχει κείμενο, στιγμιότυπο οθόνης, λογισμικό&#10;&#10;Το περιεχόμενο που δημιουργείται από AI ενδέχεται να είναι εσφαλμένο.">
            <a:extLst>
              <a:ext uri="{FF2B5EF4-FFF2-40B4-BE49-F238E27FC236}">
                <a16:creationId xmlns:a16="http://schemas.microsoft.com/office/drawing/2014/main" id="{E0EDBE4D-D99A-4CFA-59E3-0F86BC86AD60}"/>
              </a:ext>
            </a:extLst>
          </p:cNvPr>
          <p:cNvPicPr>
            <a:picLocks noChangeAspect="1"/>
          </p:cNvPicPr>
          <p:nvPr/>
        </p:nvPicPr>
        <p:blipFill>
          <a:blip r:embed="rId3"/>
          <a:stretch>
            <a:fillRect/>
          </a:stretch>
        </p:blipFill>
        <p:spPr>
          <a:xfrm>
            <a:off x="6766528" y="903535"/>
            <a:ext cx="5396897" cy="5495033"/>
          </a:xfrm>
          <a:prstGeom prst="rect">
            <a:avLst/>
          </a:prstGeom>
        </p:spPr>
      </p:pic>
    </p:spTree>
    <p:extLst>
      <p:ext uri="{BB962C8B-B14F-4D97-AF65-F5344CB8AC3E}">
        <p14:creationId xmlns:p14="http://schemas.microsoft.com/office/powerpoint/2010/main" val="1902606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1"/>
        <p:cNvGrpSpPr/>
        <p:nvPr/>
      </p:nvGrpSpPr>
      <p:grpSpPr>
        <a:xfrm>
          <a:off x="0" y="0"/>
          <a:ext cx="0" cy="0"/>
          <a:chOff x="0" y="0"/>
          <a:chExt cx="0" cy="0"/>
        </a:xfrm>
      </p:grpSpPr>
      <p:pic>
        <p:nvPicPr>
          <p:cNvPr id="283" name="Google Shape;283;p23" descr="image.png"/>
          <p:cNvPicPr preferRelativeResize="0"/>
          <p:nvPr/>
        </p:nvPicPr>
        <p:blipFill rotWithShape="1">
          <a:blip r:embed="rId3">
            <a:alphaModFix/>
          </a:blip>
          <a:srcRect/>
          <a:stretch/>
        </p:blipFill>
        <p:spPr>
          <a:xfrm>
            <a:off x="571500" y="2147662"/>
            <a:ext cx="11055350" cy="4157870"/>
          </a:xfrm>
          <a:prstGeom prst="rect">
            <a:avLst/>
          </a:prstGeom>
          <a:noFill/>
          <a:ln>
            <a:noFill/>
          </a:ln>
        </p:spPr>
      </p:pic>
      <p:sp>
        <p:nvSpPr>
          <p:cNvPr id="285" name="Google Shape;285;p23"/>
          <p:cNvSpPr txBox="1"/>
          <p:nvPr/>
        </p:nvSpPr>
        <p:spPr>
          <a:xfrm>
            <a:off x="5419725" y="1640970"/>
            <a:ext cx="4980622"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err="1">
                <a:solidFill>
                  <a:srgbClr val="38BDF8"/>
                </a:solidFill>
                <a:latin typeface="Urbanist"/>
                <a:ea typeface="Urbanist"/>
                <a:cs typeface="Urbanist"/>
                <a:sym typeface="Urbanist"/>
              </a:rPr>
              <a:t>Τι</a:t>
            </a:r>
            <a:r>
              <a:rPr lang="en-US" sz="2100" b="1" i="0" u="none" strike="noStrike" cap="none" dirty="0">
                <a:solidFill>
                  <a:srgbClr val="38BDF8"/>
                </a:solidFill>
                <a:latin typeface="Urbanist"/>
                <a:ea typeface="Urbanist"/>
                <a:cs typeface="Urbanist"/>
                <a:sym typeface="Urbanist"/>
              </a:rPr>
              <a:t> </a:t>
            </a:r>
            <a:r>
              <a:rPr lang="en-US" sz="2100" b="1" i="0" u="none" strike="noStrike" cap="none" dirty="0" err="1">
                <a:solidFill>
                  <a:srgbClr val="38BDF8"/>
                </a:solidFill>
                <a:latin typeface="Urbanist"/>
                <a:ea typeface="Urbanist"/>
                <a:cs typeface="Urbanist"/>
                <a:sym typeface="Urbanist"/>
              </a:rPr>
              <a:t>μάθ</a:t>
            </a:r>
            <a:r>
              <a:rPr lang="en-US" sz="2100" b="1" i="0" u="none" strike="noStrike" cap="none" dirty="0">
                <a:solidFill>
                  <a:srgbClr val="38BDF8"/>
                </a:solidFill>
                <a:latin typeface="Urbanist"/>
                <a:ea typeface="Urbanist"/>
                <a:cs typeface="Urbanist"/>
                <a:sym typeface="Urbanist"/>
              </a:rPr>
              <a:t>αμε</a:t>
            </a:r>
            <a:endParaRPr dirty="0"/>
          </a:p>
        </p:txBody>
      </p:sp>
      <p:sp>
        <p:nvSpPr>
          <p:cNvPr id="288" name="Google Shape;288;p23"/>
          <p:cNvSpPr txBox="1"/>
          <p:nvPr/>
        </p:nvSpPr>
        <p:spPr>
          <a:xfrm>
            <a:off x="1057275" y="2446947"/>
            <a:ext cx="4362450" cy="369332"/>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l-GR" sz="1500" dirty="0">
                <a:solidFill>
                  <a:srgbClr val="CBD5E1"/>
                </a:solidFill>
                <a:latin typeface="Urbanist"/>
                <a:ea typeface="Urbanist"/>
                <a:cs typeface="Urbanist"/>
                <a:sym typeface="Urbanist"/>
              </a:rPr>
              <a:t>1. Σ</a:t>
            </a:r>
            <a:r>
              <a:rPr lang="en-US" sz="1500" b="0" i="0" u="none" strike="noStrike" cap="none" dirty="0">
                <a:solidFill>
                  <a:srgbClr val="CBD5E1"/>
                </a:solidFill>
                <a:latin typeface="Urbanist"/>
                <a:ea typeface="Urbanist"/>
                <a:cs typeface="Urbanist"/>
                <a:sym typeface="Urbanist"/>
              </a:rPr>
              <a:t>ωστή </a:t>
            </a:r>
            <a:r>
              <a:rPr lang="en-US" sz="1500" b="0" i="0" u="none" strike="noStrike" cap="none" dirty="0" err="1">
                <a:solidFill>
                  <a:srgbClr val="CBD5E1"/>
                </a:solidFill>
                <a:latin typeface="Urbanist"/>
                <a:ea typeface="Urbanist"/>
                <a:cs typeface="Urbanist"/>
                <a:sym typeface="Urbanist"/>
              </a:rPr>
              <a:t>μοντελο</a:t>
            </a:r>
            <a:r>
              <a:rPr lang="en-US" sz="1500" b="0" i="0" u="none" strike="noStrike" cap="none" dirty="0">
                <a:solidFill>
                  <a:srgbClr val="CBD5E1"/>
                </a:solidFill>
                <a:latin typeface="Urbanist"/>
                <a:ea typeface="Urbanist"/>
                <a:cs typeface="Urbanist"/>
                <a:sym typeface="Urbanist"/>
              </a:rPr>
              <a:t>ποίηση (Document Design)</a:t>
            </a:r>
            <a:r>
              <a:rPr lang="el-GR" sz="1500" b="0" i="0" u="none" strike="noStrike" cap="none" dirty="0">
                <a:solidFill>
                  <a:srgbClr val="CBD5E1"/>
                </a:solidFill>
                <a:latin typeface="Urbanist"/>
                <a:ea typeface="Urbanist"/>
                <a:cs typeface="Urbanist"/>
                <a:sym typeface="Urbanist"/>
              </a:rPr>
              <a:t>.</a:t>
            </a:r>
            <a:endParaRPr dirty="0"/>
          </a:p>
        </p:txBody>
      </p:sp>
      <p:sp>
        <p:nvSpPr>
          <p:cNvPr id="290" name="Google Shape;290;p23"/>
          <p:cNvSpPr txBox="1"/>
          <p:nvPr/>
        </p:nvSpPr>
        <p:spPr>
          <a:xfrm>
            <a:off x="1057275" y="3150559"/>
            <a:ext cx="4362450" cy="369332"/>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l-GR" sz="1500" b="0" i="0" u="none" strike="noStrike" cap="none" dirty="0">
                <a:solidFill>
                  <a:srgbClr val="CBD5E1"/>
                </a:solidFill>
                <a:latin typeface="Urbanist"/>
                <a:ea typeface="Urbanist"/>
                <a:cs typeface="Urbanist"/>
                <a:sym typeface="Urbanist"/>
              </a:rPr>
              <a:t>2. </a:t>
            </a:r>
            <a:r>
              <a:rPr lang="en-US" sz="1500" b="0" i="0" u="none" strike="noStrike" cap="none" dirty="0">
                <a:solidFill>
                  <a:srgbClr val="CBD5E1"/>
                </a:solidFill>
                <a:latin typeface="Urbanist"/>
                <a:ea typeface="Urbanist"/>
                <a:cs typeface="Urbanist"/>
                <a:sym typeface="Urbanist"/>
              </a:rPr>
              <a:t>Τα </a:t>
            </a:r>
            <a:r>
              <a:rPr lang="en-US" sz="1500" b="0" i="0" u="none" strike="noStrike" cap="none" dirty="0" err="1">
                <a:solidFill>
                  <a:srgbClr val="CBD5E1"/>
                </a:solidFill>
                <a:latin typeface="Urbanist"/>
                <a:ea typeface="Urbanist"/>
                <a:cs typeface="Urbanist"/>
                <a:sym typeface="Urbanist"/>
              </a:rPr>
              <a:t>ευρετήρι</a:t>
            </a:r>
            <a:r>
              <a:rPr lang="en-US" sz="1500" b="0" i="0" u="none" strike="noStrike" cap="none" dirty="0">
                <a:solidFill>
                  <a:srgbClr val="CBD5E1"/>
                </a:solidFill>
                <a:latin typeface="Urbanist"/>
                <a:ea typeface="Urbanist"/>
                <a:cs typeface="Urbanist"/>
                <a:sym typeface="Urbanist"/>
              </a:rPr>
              <a:t>α είναι απαραίτητα.</a:t>
            </a:r>
            <a:endParaRPr lang="el-GR" sz="1500" b="0" i="0" u="none" strike="noStrike" cap="none" dirty="0">
              <a:solidFill>
                <a:srgbClr val="CBD5E1"/>
              </a:solidFill>
              <a:latin typeface="Urbanist"/>
              <a:ea typeface="Urbanist"/>
              <a:cs typeface="Urbanist"/>
              <a:sym typeface="Urbanist"/>
            </a:endParaRPr>
          </a:p>
        </p:txBody>
      </p:sp>
      <p:sp>
        <p:nvSpPr>
          <p:cNvPr id="299" name="Google Shape;299;p23"/>
          <p:cNvSpPr txBox="1"/>
          <p:nvPr/>
        </p:nvSpPr>
        <p:spPr>
          <a:xfrm>
            <a:off x="762000" y="903535"/>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2DD4BF"/>
                </a:solidFill>
                <a:latin typeface="Poppins"/>
                <a:ea typeface="Poppins"/>
                <a:cs typeface="Poppins"/>
                <a:sym typeface="Poppins"/>
              </a:rPr>
              <a:t>ΣΥΜΠΕΡΆΣΜΑΤΑ &amp; ΜΕΛΛΟΝΤΙΚΈΣ ΕΠΕΚΤΆΣΕΙΣ</a:t>
            </a:r>
            <a:endParaRPr/>
          </a:p>
        </p:txBody>
      </p:sp>
      <p:sp>
        <p:nvSpPr>
          <p:cNvPr id="300" name="Google Shape;300;p23"/>
          <p:cNvSpPr/>
          <p:nvPr/>
        </p:nvSpPr>
        <p:spPr>
          <a:xfrm>
            <a:off x="571500" y="903535"/>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288;p23">
            <a:extLst>
              <a:ext uri="{FF2B5EF4-FFF2-40B4-BE49-F238E27FC236}">
                <a16:creationId xmlns:a16="http://schemas.microsoft.com/office/drawing/2014/main" id="{9A473DD2-F2F1-C90F-F392-55B3CB2E8D6B}"/>
              </a:ext>
            </a:extLst>
          </p:cNvPr>
          <p:cNvSpPr txBox="1"/>
          <p:nvPr/>
        </p:nvSpPr>
        <p:spPr>
          <a:xfrm>
            <a:off x="1057275" y="3854172"/>
            <a:ext cx="4362450" cy="2215991"/>
          </a:xfrm>
          <a:prstGeom prst="rect">
            <a:avLst/>
          </a:prstGeom>
          <a:noFill/>
          <a:ln>
            <a:noFill/>
          </a:ln>
        </p:spPr>
        <p:txBody>
          <a:bodyPr spcFirstLastPara="1" wrap="square" lIns="38100" tIns="0" rIns="0" bIns="0" anchor="t" anchorCtr="0">
            <a:spAutoFit/>
          </a:bodyPr>
          <a:lstStyle/>
          <a:p>
            <a:pPr lvl="0">
              <a:lnSpc>
                <a:spcPct val="160000"/>
              </a:lnSpc>
            </a:pPr>
            <a:r>
              <a:rPr lang="el-GR" sz="1500" dirty="0">
                <a:solidFill>
                  <a:schemeClr val="tx2"/>
                </a:solidFill>
                <a:latin typeface="Urbanist" panose="020B0604020202020204" charset="0"/>
                <a:ea typeface="Urbanist" panose="020B0604020202020204" charset="0"/>
                <a:cs typeface="Urbanist" panose="020B0604020202020204" charset="0"/>
              </a:rPr>
              <a:t>3. Μάθαμε πώς τα </a:t>
            </a:r>
            <a:r>
              <a:rPr lang="el-GR" sz="1500" dirty="0" err="1">
                <a:solidFill>
                  <a:schemeClr val="tx2"/>
                </a:solidFill>
                <a:latin typeface="Urbanist" panose="020B0604020202020204" charset="0"/>
                <a:ea typeface="Urbanist" panose="020B0604020202020204" charset="0"/>
                <a:cs typeface="Urbanist" panose="020B0604020202020204" charset="0"/>
              </a:rPr>
              <a:t>χωροχρονικά</a:t>
            </a:r>
            <a:r>
              <a:rPr lang="el-GR" sz="1500" dirty="0">
                <a:solidFill>
                  <a:schemeClr val="tx2"/>
                </a:solidFill>
                <a:latin typeface="Urbanist" panose="020B0604020202020204" charset="0"/>
                <a:ea typeface="Urbanist" panose="020B0604020202020204" charset="0"/>
                <a:cs typeface="Urbanist" panose="020B0604020202020204" charset="0"/>
              </a:rPr>
              <a:t> δεδομένα μεγάλης κλίμακας δεν μπορούν να αντιμετωπιστούν αποδοτικά ως απλές ανεξάρτητες εγγραφές, αλλά απαιτούν εννοιολογική </a:t>
            </a:r>
            <a:r>
              <a:rPr lang="el-GR" sz="1500" dirty="0" err="1">
                <a:solidFill>
                  <a:schemeClr val="tx2"/>
                </a:solidFill>
                <a:latin typeface="Urbanist" panose="020B0604020202020204" charset="0"/>
                <a:ea typeface="Urbanist" panose="020B0604020202020204" charset="0"/>
                <a:cs typeface="Urbanist" panose="020B0604020202020204" charset="0"/>
              </a:rPr>
              <a:t>μοντελοποίηση</a:t>
            </a:r>
            <a:r>
              <a:rPr lang="el-GR" sz="1500" dirty="0">
                <a:solidFill>
                  <a:schemeClr val="tx2"/>
                </a:solidFill>
                <a:latin typeface="Urbanist" panose="020B0604020202020204" charset="0"/>
                <a:ea typeface="Urbanist" panose="020B0604020202020204" charset="0"/>
                <a:cs typeface="Urbanist" panose="020B0604020202020204" charset="0"/>
              </a:rPr>
              <a:t> (τροχιές) που αντικατοπτρίζει τη φυσική συνέχεια στον χώρο και τον χρόνο.</a:t>
            </a:r>
          </a:p>
        </p:txBody>
      </p:sp>
      <p:sp>
        <p:nvSpPr>
          <p:cNvPr id="3" name="Google Shape;288;p23">
            <a:extLst>
              <a:ext uri="{FF2B5EF4-FFF2-40B4-BE49-F238E27FC236}">
                <a16:creationId xmlns:a16="http://schemas.microsoft.com/office/drawing/2014/main" id="{DAD169EC-D97B-8A3B-0374-79817BE53C19}"/>
              </a:ext>
            </a:extLst>
          </p:cNvPr>
          <p:cNvSpPr txBox="1"/>
          <p:nvPr/>
        </p:nvSpPr>
        <p:spPr>
          <a:xfrm>
            <a:off x="6096000" y="2321004"/>
            <a:ext cx="4362450" cy="1846659"/>
          </a:xfrm>
          <a:prstGeom prst="rect">
            <a:avLst/>
          </a:prstGeom>
          <a:noFill/>
          <a:ln>
            <a:noFill/>
          </a:ln>
        </p:spPr>
        <p:txBody>
          <a:bodyPr spcFirstLastPara="1" wrap="square" lIns="38100" tIns="0" rIns="0" bIns="0" anchor="t" anchorCtr="0">
            <a:spAutoFit/>
          </a:bodyPr>
          <a:lstStyle/>
          <a:p>
            <a:pPr lvl="0">
              <a:lnSpc>
                <a:spcPct val="160000"/>
              </a:lnSpc>
            </a:pPr>
            <a:r>
              <a:rPr lang="en-US" sz="1500" dirty="0">
                <a:solidFill>
                  <a:schemeClr val="tx2"/>
                </a:solidFill>
                <a:latin typeface="Urbanist" panose="020B0604020202020204" charset="0"/>
                <a:ea typeface="Urbanist" panose="020B0604020202020204" charset="0"/>
                <a:cs typeface="Urbanist" panose="020B0604020202020204" charset="0"/>
              </a:rPr>
              <a:t>4. </a:t>
            </a:r>
            <a:r>
              <a:rPr lang="el-GR" sz="1500" dirty="0">
                <a:solidFill>
                  <a:schemeClr val="tx2"/>
                </a:solidFill>
                <a:latin typeface="Urbanist" panose="020B0604020202020204" charset="0"/>
                <a:ea typeface="Urbanist" panose="020B0604020202020204" charset="0"/>
                <a:cs typeface="Urbanist" panose="020B0604020202020204" charset="0"/>
              </a:rPr>
              <a:t>Κατανοήσαμε σε βάθος πώς η </a:t>
            </a:r>
            <a:r>
              <a:rPr lang="el-GR" sz="1500" dirty="0" err="1">
                <a:solidFill>
                  <a:schemeClr val="tx2"/>
                </a:solidFill>
                <a:latin typeface="Urbanist" panose="020B0604020202020204" charset="0"/>
                <a:ea typeface="Urbanist" panose="020B0604020202020204" charset="0"/>
                <a:cs typeface="Urbanist" panose="020B0604020202020204" charset="0"/>
              </a:rPr>
              <a:t>μοντελοποίηση</a:t>
            </a:r>
            <a:r>
              <a:rPr lang="el-GR" sz="1500" dirty="0">
                <a:solidFill>
                  <a:schemeClr val="tx2"/>
                </a:solidFill>
                <a:latin typeface="Urbanist" panose="020B0604020202020204" charset="0"/>
                <a:ea typeface="Urbanist" panose="020B0604020202020204" charset="0"/>
                <a:cs typeface="Urbanist" panose="020B0604020202020204" charset="0"/>
              </a:rPr>
              <a:t> σε </a:t>
            </a:r>
            <a:r>
              <a:rPr lang="el-GR" sz="1500" dirty="0" err="1">
                <a:solidFill>
                  <a:schemeClr val="tx2"/>
                </a:solidFill>
                <a:latin typeface="Urbanist" panose="020B0604020202020204" charset="0"/>
                <a:ea typeface="Urbanist" panose="020B0604020202020204" charset="0"/>
                <a:cs typeface="Urbanist" panose="020B0604020202020204" charset="0"/>
              </a:rPr>
              <a:t>NoSQL</a:t>
            </a:r>
            <a:r>
              <a:rPr lang="el-GR" sz="1500" dirty="0">
                <a:solidFill>
                  <a:schemeClr val="tx2"/>
                </a:solidFill>
                <a:latin typeface="Urbanist" panose="020B0604020202020204" charset="0"/>
                <a:ea typeface="Urbanist" panose="020B0604020202020204" charset="0"/>
                <a:cs typeface="Urbanist" panose="020B0604020202020204" charset="0"/>
              </a:rPr>
              <a:t> (</a:t>
            </a:r>
            <a:r>
              <a:rPr lang="el-GR" sz="1500" dirty="0" err="1">
                <a:solidFill>
                  <a:schemeClr val="tx2"/>
                </a:solidFill>
                <a:latin typeface="Urbanist" panose="020B0604020202020204" charset="0"/>
                <a:ea typeface="Urbanist" panose="020B0604020202020204" charset="0"/>
                <a:cs typeface="Urbanist" panose="020B0604020202020204" charset="0"/>
              </a:rPr>
              <a:t>MongoDB</a:t>
            </a:r>
            <a:r>
              <a:rPr lang="el-GR" sz="1500" dirty="0">
                <a:solidFill>
                  <a:schemeClr val="tx2"/>
                </a:solidFill>
                <a:latin typeface="Urbanist" panose="020B0604020202020204" charset="0"/>
                <a:ea typeface="Urbanist" panose="020B0604020202020204" charset="0"/>
                <a:cs typeface="Urbanist" panose="020B0604020202020204" charset="0"/>
              </a:rPr>
              <a:t>) με έγγραφα και </a:t>
            </a:r>
            <a:r>
              <a:rPr lang="el-GR" sz="1500" dirty="0" err="1">
                <a:solidFill>
                  <a:schemeClr val="tx2"/>
                </a:solidFill>
                <a:latin typeface="Urbanist" panose="020B0604020202020204" charset="0"/>
                <a:ea typeface="Urbanist" panose="020B0604020202020204" charset="0"/>
                <a:cs typeface="Urbanist" panose="020B0604020202020204" charset="0"/>
              </a:rPr>
              <a:t>nested</a:t>
            </a:r>
            <a:r>
              <a:rPr lang="el-GR" sz="1500" dirty="0">
                <a:solidFill>
                  <a:schemeClr val="tx2"/>
                </a:solidFill>
                <a:latin typeface="Urbanist" panose="020B0604020202020204" charset="0"/>
                <a:ea typeface="Urbanist" panose="020B0604020202020204" charset="0"/>
                <a:cs typeface="Urbanist" panose="020B0604020202020204" charset="0"/>
              </a:rPr>
              <a:t> δομές επιτρέπει την αποδοτική αποθήκευση και επεξεργασία σύνθετων αντικειμένων, όπως τροχιές με δυναμικά και περιβαλλοντικά χαρακτηριστικά.</a:t>
            </a:r>
          </a:p>
        </p:txBody>
      </p:sp>
      <p:sp>
        <p:nvSpPr>
          <p:cNvPr id="4" name="Google Shape;288;p23">
            <a:extLst>
              <a:ext uri="{FF2B5EF4-FFF2-40B4-BE49-F238E27FC236}">
                <a16:creationId xmlns:a16="http://schemas.microsoft.com/office/drawing/2014/main" id="{3C545188-363B-CBCD-5412-2FCCAF435B38}"/>
              </a:ext>
            </a:extLst>
          </p:cNvPr>
          <p:cNvSpPr txBox="1"/>
          <p:nvPr/>
        </p:nvSpPr>
        <p:spPr>
          <a:xfrm>
            <a:off x="6096000" y="4293700"/>
            <a:ext cx="4362450" cy="1846659"/>
          </a:xfrm>
          <a:prstGeom prst="rect">
            <a:avLst/>
          </a:prstGeom>
          <a:noFill/>
          <a:ln>
            <a:noFill/>
          </a:ln>
        </p:spPr>
        <p:txBody>
          <a:bodyPr spcFirstLastPara="1" wrap="square" lIns="38100" tIns="0" rIns="0" bIns="0" anchor="t" anchorCtr="0">
            <a:spAutoFit/>
          </a:bodyPr>
          <a:lstStyle/>
          <a:p>
            <a:pPr lvl="0">
              <a:lnSpc>
                <a:spcPct val="160000"/>
              </a:lnSpc>
            </a:pPr>
            <a:r>
              <a:rPr lang="en-US" sz="1500" dirty="0">
                <a:solidFill>
                  <a:schemeClr val="tx2"/>
                </a:solidFill>
                <a:latin typeface="Urbanist" panose="020B0604020202020204" charset="0"/>
                <a:ea typeface="Urbanist" panose="020B0604020202020204" charset="0"/>
                <a:cs typeface="Urbanist" panose="020B0604020202020204" charset="0"/>
              </a:rPr>
              <a:t>5. </a:t>
            </a:r>
            <a:r>
              <a:rPr lang="el-GR" sz="1500" dirty="0">
                <a:solidFill>
                  <a:schemeClr val="tx2"/>
                </a:solidFill>
                <a:latin typeface="Urbanist" panose="020B0604020202020204" charset="0"/>
                <a:ea typeface="Urbanist" panose="020B0604020202020204" charset="0"/>
                <a:cs typeface="Urbanist" panose="020B0604020202020204" charset="0"/>
              </a:rPr>
              <a:t>Διαπιστώσαμε τον καθοριστικό ρόλο των ευρετηρίων (χρονικών, σύνθετων και χωρικών 2dsphere) στη δραστική μείωση του χρόνου εκτέλεσης σύνθετων χωροχρονικών ερωτημάτων, ιδιαίτερα σε μεγάλους όγκους δεδομένων.</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1">
          <a:extLst>
            <a:ext uri="{FF2B5EF4-FFF2-40B4-BE49-F238E27FC236}">
              <a16:creationId xmlns:a16="http://schemas.microsoft.com/office/drawing/2014/main" id="{7FFA3689-BA3E-AA29-8E5D-E908DDEB0727}"/>
            </a:ext>
          </a:extLst>
        </p:cNvPr>
        <p:cNvGrpSpPr/>
        <p:nvPr/>
      </p:nvGrpSpPr>
      <p:grpSpPr>
        <a:xfrm>
          <a:off x="0" y="0"/>
          <a:ext cx="0" cy="0"/>
          <a:chOff x="0" y="0"/>
          <a:chExt cx="0" cy="0"/>
        </a:xfrm>
      </p:grpSpPr>
      <p:pic>
        <p:nvPicPr>
          <p:cNvPr id="283" name="Google Shape;283;p23" descr="image.png">
            <a:extLst>
              <a:ext uri="{FF2B5EF4-FFF2-40B4-BE49-F238E27FC236}">
                <a16:creationId xmlns:a16="http://schemas.microsoft.com/office/drawing/2014/main" id="{25B4AB80-5C87-2740-CF56-B55139C8A65C}"/>
              </a:ext>
            </a:extLst>
          </p:cNvPr>
          <p:cNvPicPr preferRelativeResize="0"/>
          <p:nvPr/>
        </p:nvPicPr>
        <p:blipFill rotWithShape="1">
          <a:blip r:embed="rId3">
            <a:alphaModFix/>
          </a:blip>
          <a:srcRect/>
          <a:stretch/>
        </p:blipFill>
        <p:spPr>
          <a:xfrm>
            <a:off x="571500" y="2147662"/>
            <a:ext cx="11055350" cy="4157870"/>
          </a:xfrm>
          <a:prstGeom prst="rect">
            <a:avLst/>
          </a:prstGeom>
          <a:noFill/>
          <a:ln>
            <a:noFill/>
          </a:ln>
        </p:spPr>
      </p:pic>
      <p:sp>
        <p:nvSpPr>
          <p:cNvPr id="285" name="Google Shape;285;p23">
            <a:extLst>
              <a:ext uri="{FF2B5EF4-FFF2-40B4-BE49-F238E27FC236}">
                <a16:creationId xmlns:a16="http://schemas.microsoft.com/office/drawing/2014/main" id="{84395422-222D-6BB0-DF16-0545E5682A01}"/>
              </a:ext>
            </a:extLst>
          </p:cNvPr>
          <p:cNvSpPr txBox="1"/>
          <p:nvPr/>
        </p:nvSpPr>
        <p:spPr>
          <a:xfrm>
            <a:off x="5419725" y="1640970"/>
            <a:ext cx="4980622" cy="3238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100" b="1" i="0" u="none" strike="noStrike" kern="0" cap="none" spc="0" normalizeH="0" baseline="0" noProof="0" dirty="0" err="1">
                <a:ln>
                  <a:noFill/>
                </a:ln>
                <a:solidFill>
                  <a:srgbClr val="38BDF8"/>
                </a:solidFill>
                <a:effectLst/>
                <a:uLnTx/>
                <a:uFillTx/>
                <a:latin typeface="Urbanist"/>
                <a:ea typeface="Urbanist"/>
                <a:cs typeface="Urbanist"/>
                <a:sym typeface="Urbanist"/>
              </a:rPr>
              <a:t>Τι</a:t>
            </a:r>
            <a:r>
              <a:rPr kumimoji="0" lang="en-US" sz="2100" b="1" i="0" u="none" strike="noStrike" kern="0" cap="none" spc="0" normalizeH="0" baseline="0" noProof="0" dirty="0">
                <a:ln>
                  <a:noFill/>
                </a:ln>
                <a:solidFill>
                  <a:srgbClr val="38BDF8"/>
                </a:solidFill>
                <a:effectLst/>
                <a:uLnTx/>
                <a:uFillTx/>
                <a:latin typeface="Urbanist"/>
                <a:ea typeface="Urbanist"/>
                <a:cs typeface="Urbanist"/>
                <a:sym typeface="Urbanist"/>
              </a:rPr>
              <a:t> </a:t>
            </a:r>
            <a:r>
              <a:rPr kumimoji="0" lang="en-US" sz="2100" b="1" i="0" u="none" strike="noStrike" kern="0" cap="none" spc="0" normalizeH="0" baseline="0" noProof="0" dirty="0" err="1">
                <a:ln>
                  <a:noFill/>
                </a:ln>
                <a:solidFill>
                  <a:srgbClr val="38BDF8"/>
                </a:solidFill>
                <a:effectLst/>
                <a:uLnTx/>
                <a:uFillTx/>
                <a:latin typeface="Urbanist"/>
                <a:ea typeface="Urbanist"/>
                <a:cs typeface="Urbanist"/>
                <a:sym typeface="Urbanist"/>
              </a:rPr>
              <a:t>μάθ</a:t>
            </a:r>
            <a:r>
              <a:rPr kumimoji="0" lang="en-US" sz="2100" b="1" i="0" u="none" strike="noStrike" kern="0" cap="none" spc="0" normalizeH="0" baseline="0" noProof="0" dirty="0">
                <a:ln>
                  <a:noFill/>
                </a:ln>
                <a:solidFill>
                  <a:srgbClr val="38BDF8"/>
                </a:solidFill>
                <a:effectLst/>
                <a:uLnTx/>
                <a:uFillTx/>
                <a:latin typeface="Urbanist"/>
                <a:ea typeface="Urbanist"/>
                <a:cs typeface="Urbanist"/>
                <a:sym typeface="Urbanist"/>
              </a:rPr>
              <a:t>αμε</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99" name="Google Shape;299;p23">
            <a:extLst>
              <a:ext uri="{FF2B5EF4-FFF2-40B4-BE49-F238E27FC236}">
                <a16:creationId xmlns:a16="http://schemas.microsoft.com/office/drawing/2014/main" id="{ACF3696C-8A48-F8CC-8395-DE1FB25D154E}"/>
              </a:ext>
            </a:extLst>
          </p:cNvPr>
          <p:cNvSpPr txBox="1"/>
          <p:nvPr/>
        </p:nvSpPr>
        <p:spPr>
          <a:xfrm>
            <a:off x="762000" y="903535"/>
            <a:ext cx="11401425" cy="60007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1" i="0" u="none" strike="noStrike" kern="0" cap="none" spc="0" normalizeH="0" baseline="0" noProof="0">
                <a:ln>
                  <a:noFill/>
                </a:ln>
                <a:solidFill>
                  <a:srgbClr val="2DD4BF"/>
                </a:solidFill>
                <a:effectLst/>
                <a:uLnTx/>
                <a:uFillTx/>
                <a:latin typeface="Poppins"/>
                <a:ea typeface="Poppins"/>
                <a:cs typeface="Poppins"/>
                <a:sym typeface="Poppins"/>
              </a:rPr>
              <a:t>ΣΥΜΠΕΡΆΣΜΑΤΑ &amp; ΜΕΛΛΟΝΤΙΚΈΣ ΕΠΕΚΤΆΣΕΙΣ</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300;p23">
            <a:extLst>
              <a:ext uri="{FF2B5EF4-FFF2-40B4-BE49-F238E27FC236}">
                <a16:creationId xmlns:a16="http://schemas.microsoft.com/office/drawing/2014/main" id="{F6F69ADE-BCD7-94DD-9A7D-198E770EACD9}"/>
              </a:ext>
            </a:extLst>
          </p:cNvPr>
          <p:cNvSpPr/>
          <p:nvPr/>
        </p:nvSpPr>
        <p:spPr>
          <a:xfrm>
            <a:off x="571500" y="903535"/>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Google Shape;288;p23">
            <a:extLst>
              <a:ext uri="{FF2B5EF4-FFF2-40B4-BE49-F238E27FC236}">
                <a16:creationId xmlns:a16="http://schemas.microsoft.com/office/drawing/2014/main" id="{2A4083E8-A6AC-5A11-C7E6-D64F2FF267E2}"/>
              </a:ext>
            </a:extLst>
          </p:cNvPr>
          <p:cNvSpPr txBox="1"/>
          <p:nvPr/>
        </p:nvSpPr>
        <p:spPr>
          <a:xfrm>
            <a:off x="934720" y="3303267"/>
            <a:ext cx="4362450" cy="1477328"/>
          </a:xfrm>
          <a:prstGeom prst="rect">
            <a:avLst/>
          </a:prstGeom>
          <a:noFill/>
          <a:ln>
            <a:noFill/>
          </a:ln>
        </p:spPr>
        <p:txBody>
          <a:bodyPr spcFirstLastPara="1" wrap="square" lIns="38100" tIns="0" rIns="0" bIns="0" anchor="t" anchorCtr="0">
            <a:spAutoFit/>
          </a:bodyPr>
          <a:lstStyle/>
          <a:p>
            <a:pPr lvl="0">
              <a:lnSpc>
                <a:spcPct val="160000"/>
              </a:lnSpc>
            </a:pPr>
            <a:r>
              <a:rPr lang="en-US" sz="1500" dirty="0">
                <a:solidFill>
                  <a:srgbClr val="EEECE1"/>
                </a:solidFill>
                <a:latin typeface="Urbanist" panose="020B0604020202020204" charset="0"/>
                <a:ea typeface="Urbanist" panose="020B0604020202020204" charset="0"/>
                <a:cs typeface="Urbanist" panose="020B0604020202020204" charset="0"/>
              </a:rPr>
              <a:t>6</a:t>
            </a:r>
            <a:r>
              <a:rPr kumimoji="0" lang="en-US" sz="1500" b="0" i="0" u="none" strike="noStrike" kern="0" cap="none" spc="0" normalizeH="0" baseline="0" noProof="0" dirty="0">
                <a:ln>
                  <a:noFill/>
                </a:ln>
                <a:solidFill>
                  <a:srgbClr val="EEECE1"/>
                </a:solidFill>
                <a:effectLst/>
                <a:uLnTx/>
                <a:uFillTx/>
                <a:latin typeface="Urbanist" panose="020B0604020202020204" charset="0"/>
                <a:ea typeface="Urbanist" panose="020B0604020202020204" charset="0"/>
                <a:cs typeface="Urbanist" panose="020B0604020202020204" charset="0"/>
                <a:sym typeface="Arial"/>
              </a:rPr>
              <a:t>. </a:t>
            </a:r>
            <a:r>
              <a:rPr lang="el-GR" sz="1500" dirty="0">
                <a:solidFill>
                  <a:srgbClr val="EEECE1"/>
                </a:solidFill>
                <a:latin typeface="Urbanist" panose="020B0604020202020204" charset="0"/>
                <a:ea typeface="Urbanist" panose="020B0604020202020204" charset="0"/>
                <a:cs typeface="Urbanist" panose="020B0604020202020204" charset="0"/>
              </a:rPr>
              <a:t>Εξοικειωθήκαμε με τη χρήση </a:t>
            </a:r>
            <a:r>
              <a:rPr lang="el-GR" sz="1500" dirty="0" err="1">
                <a:solidFill>
                  <a:srgbClr val="EEECE1"/>
                </a:solidFill>
                <a:latin typeface="Urbanist" panose="020B0604020202020204" charset="0"/>
                <a:ea typeface="Urbanist" panose="020B0604020202020204" charset="0"/>
                <a:cs typeface="Urbanist" panose="020B0604020202020204" charset="0"/>
              </a:rPr>
              <a:t>aggregation</a:t>
            </a:r>
            <a:r>
              <a:rPr lang="el-GR" sz="1500" dirty="0">
                <a:solidFill>
                  <a:srgbClr val="EEECE1"/>
                </a:solidFill>
                <a:latin typeface="Urbanist" panose="020B0604020202020204" charset="0"/>
                <a:ea typeface="Urbanist" panose="020B0604020202020204" charset="0"/>
                <a:cs typeface="Urbanist" panose="020B0604020202020204" charset="0"/>
              </a:rPr>
              <a:t> </a:t>
            </a:r>
            <a:r>
              <a:rPr lang="el-GR" sz="1500" dirty="0" err="1">
                <a:solidFill>
                  <a:srgbClr val="EEECE1"/>
                </a:solidFill>
                <a:latin typeface="Urbanist" panose="020B0604020202020204" charset="0"/>
                <a:ea typeface="Urbanist" panose="020B0604020202020204" charset="0"/>
                <a:cs typeface="Urbanist" panose="020B0604020202020204" charset="0"/>
              </a:rPr>
              <a:t>pipelines</a:t>
            </a:r>
            <a:r>
              <a:rPr lang="el-GR" sz="1500" dirty="0">
                <a:solidFill>
                  <a:srgbClr val="EEECE1"/>
                </a:solidFill>
                <a:latin typeface="Urbanist" panose="020B0604020202020204" charset="0"/>
                <a:ea typeface="Urbanist" panose="020B0604020202020204" charset="0"/>
                <a:cs typeface="Urbanist" panose="020B0604020202020204" charset="0"/>
              </a:rPr>
              <a:t> για την υλοποίηση πολύπλοκων ερωτημάτων που συνδυάζουν φίλτρα, υπολογισμό μετρικών, συσχέτιση συλλογών ($</a:t>
            </a:r>
            <a:r>
              <a:rPr lang="el-GR" sz="1500" dirty="0" err="1">
                <a:solidFill>
                  <a:srgbClr val="EEECE1"/>
                </a:solidFill>
                <a:latin typeface="Urbanist" panose="020B0604020202020204" charset="0"/>
                <a:ea typeface="Urbanist" panose="020B0604020202020204" charset="0"/>
                <a:cs typeface="Urbanist" panose="020B0604020202020204" charset="0"/>
              </a:rPr>
              <a:t>lookup</a:t>
            </a:r>
            <a:r>
              <a:rPr lang="el-GR" sz="1500" dirty="0">
                <a:solidFill>
                  <a:srgbClr val="EEECE1"/>
                </a:solidFill>
                <a:latin typeface="Urbanist" panose="020B0604020202020204" charset="0"/>
                <a:ea typeface="Urbanist" panose="020B0604020202020204" charset="0"/>
                <a:cs typeface="Urbanist" panose="020B0604020202020204" charset="0"/>
              </a:rPr>
              <a:t>) και ανάλυση </a:t>
            </a:r>
            <a:r>
              <a:rPr lang="el-GR" sz="1500" dirty="0" err="1">
                <a:solidFill>
                  <a:srgbClr val="EEECE1"/>
                </a:solidFill>
                <a:latin typeface="Urbanist" panose="020B0604020202020204" charset="0"/>
                <a:ea typeface="Urbanist" panose="020B0604020202020204" charset="0"/>
                <a:cs typeface="Urbanist" panose="020B0604020202020204" charset="0"/>
              </a:rPr>
              <a:t>nested</a:t>
            </a:r>
            <a:r>
              <a:rPr lang="el-GR" sz="1500" dirty="0">
                <a:solidFill>
                  <a:srgbClr val="EEECE1"/>
                </a:solidFill>
                <a:latin typeface="Urbanist" panose="020B0604020202020204" charset="0"/>
                <a:ea typeface="Urbanist" panose="020B0604020202020204" charset="0"/>
                <a:cs typeface="Urbanist" panose="020B0604020202020204" charset="0"/>
              </a:rPr>
              <a:t> δεδομένων.</a:t>
            </a:r>
            <a:endParaRPr kumimoji="0" lang="el-GR" sz="1500" b="0" i="0" u="none" strike="noStrike" kern="0" cap="none" spc="0" normalizeH="0" baseline="0" noProof="0" dirty="0">
              <a:ln>
                <a:noFill/>
              </a:ln>
              <a:solidFill>
                <a:srgbClr val="EEECE1"/>
              </a:solidFill>
              <a:effectLst/>
              <a:uLnTx/>
              <a:uFillTx/>
              <a:latin typeface="Urbanist" panose="020B0604020202020204" charset="0"/>
              <a:ea typeface="Urbanist" panose="020B0604020202020204" charset="0"/>
              <a:cs typeface="Urbanist" panose="020B0604020202020204" charset="0"/>
              <a:sym typeface="Arial"/>
            </a:endParaRPr>
          </a:p>
        </p:txBody>
      </p:sp>
      <p:sp>
        <p:nvSpPr>
          <p:cNvPr id="5" name="Google Shape;288;p23">
            <a:extLst>
              <a:ext uri="{FF2B5EF4-FFF2-40B4-BE49-F238E27FC236}">
                <a16:creationId xmlns:a16="http://schemas.microsoft.com/office/drawing/2014/main" id="{AE3833D3-7849-0E8B-E823-F720E64EF1F7}"/>
              </a:ext>
            </a:extLst>
          </p:cNvPr>
          <p:cNvSpPr txBox="1"/>
          <p:nvPr/>
        </p:nvSpPr>
        <p:spPr>
          <a:xfrm>
            <a:off x="6543040" y="3303267"/>
            <a:ext cx="4362450" cy="1846659"/>
          </a:xfrm>
          <a:prstGeom prst="rect">
            <a:avLst/>
          </a:prstGeom>
          <a:noFill/>
          <a:ln>
            <a:noFill/>
          </a:ln>
        </p:spPr>
        <p:txBody>
          <a:bodyPr spcFirstLastPara="1" wrap="square" lIns="38100" tIns="0" rIns="0" bIns="0" anchor="t" anchorCtr="0">
            <a:spAutoFit/>
          </a:bodyPr>
          <a:lstStyle/>
          <a:p>
            <a:pPr lvl="0">
              <a:lnSpc>
                <a:spcPct val="160000"/>
              </a:lnSpc>
            </a:pPr>
            <a:r>
              <a:rPr kumimoji="0" lang="en-US" sz="1500" b="0" i="0" u="none" strike="noStrike" kern="0" cap="none" spc="0" normalizeH="0" baseline="0" noProof="0" dirty="0">
                <a:ln>
                  <a:noFill/>
                </a:ln>
                <a:solidFill>
                  <a:srgbClr val="EEECE1"/>
                </a:solidFill>
                <a:effectLst/>
                <a:uLnTx/>
                <a:uFillTx/>
                <a:latin typeface="Urbanist" panose="020B0604020202020204" charset="0"/>
                <a:ea typeface="Urbanist" panose="020B0604020202020204" charset="0"/>
                <a:cs typeface="Urbanist" panose="020B0604020202020204" charset="0"/>
                <a:sym typeface="Arial"/>
              </a:rPr>
              <a:t>7. </a:t>
            </a:r>
            <a:r>
              <a:rPr lang="el-GR" sz="1500" dirty="0">
                <a:solidFill>
                  <a:srgbClr val="EEECE1"/>
                </a:solidFill>
                <a:latin typeface="Urbanist" panose="020B0604020202020204" charset="0"/>
                <a:ea typeface="Urbanist" panose="020B0604020202020204" charset="0"/>
                <a:cs typeface="Urbanist" panose="020B0604020202020204" charset="0"/>
              </a:rPr>
              <a:t>Κατανοήσαμε τη σημασία της πειραματικής αξιολόγησης (</a:t>
            </a:r>
            <a:r>
              <a:rPr lang="el-GR" sz="1500" dirty="0" err="1">
                <a:solidFill>
                  <a:srgbClr val="EEECE1"/>
                </a:solidFill>
                <a:latin typeface="Urbanist" panose="020B0604020202020204" charset="0"/>
                <a:ea typeface="Urbanist" panose="020B0604020202020204" charset="0"/>
                <a:cs typeface="Urbanist" panose="020B0604020202020204" charset="0"/>
              </a:rPr>
              <a:t>explain</a:t>
            </a:r>
            <a:r>
              <a:rPr lang="el-GR" sz="1500" dirty="0">
                <a:solidFill>
                  <a:srgbClr val="EEECE1"/>
                </a:solidFill>
                <a:latin typeface="Urbanist" panose="020B0604020202020204" charset="0"/>
                <a:ea typeface="Urbanist" panose="020B0604020202020204" charset="0"/>
                <a:cs typeface="Urbanist" panose="020B0604020202020204" charset="0"/>
              </a:rPr>
              <a:t>, </a:t>
            </a:r>
            <a:r>
              <a:rPr lang="el-GR" sz="1500" dirty="0" err="1">
                <a:solidFill>
                  <a:srgbClr val="EEECE1"/>
                </a:solidFill>
                <a:latin typeface="Urbanist" panose="020B0604020202020204" charset="0"/>
                <a:ea typeface="Urbanist" panose="020B0604020202020204" charset="0"/>
                <a:cs typeface="Urbanist" panose="020B0604020202020204" charset="0"/>
              </a:rPr>
              <a:t>executionStats</a:t>
            </a:r>
            <a:r>
              <a:rPr lang="el-GR" sz="1500" dirty="0">
                <a:solidFill>
                  <a:srgbClr val="EEECE1"/>
                </a:solidFill>
                <a:latin typeface="Urbanist" panose="020B0604020202020204" charset="0"/>
                <a:ea typeface="Urbanist" panose="020B0604020202020204" charset="0"/>
                <a:cs typeface="Urbanist" panose="020B0604020202020204" charset="0"/>
              </a:rPr>
              <a:t>) ως εργαλείο τεκμηρίωσης σχεδιαστικών επιλογών, επιβεβαιώνοντας στην πράξη πώς η σωστή αρχιτεκτονική βάσης επηρεάζει την απόδοση.</a:t>
            </a:r>
            <a:endParaRPr kumimoji="0" lang="el-GR" sz="1500" b="0" i="0" u="none" strike="noStrike" kern="0" cap="none" spc="0" normalizeH="0" baseline="0" noProof="0" dirty="0">
              <a:ln>
                <a:noFill/>
              </a:ln>
              <a:solidFill>
                <a:srgbClr val="EEECE1"/>
              </a:solidFill>
              <a:effectLst/>
              <a:uLnTx/>
              <a:uFillTx/>
              <a:latin typeface="Urbanist" panose="020B0604020202020204" charset="0"/>
              <a:ea typeface="Urbanist" panose="020B0604020202020204" charset="0"/>
              <a:cs typeface="Urbanist" panose="020B0604020202020204" charset="0"/>
              <a:sym typeface="Arial"/>
            </a:endParaRPr>
          </a:p>
        </p:txBody>
      </p:sp>
    </p:spTree>
    <p:extLst>
      <p:ext uri="{BB962C8B-B14F-4D97-AF65-F5344CB8AC3E}">
        <p14:creationId xmlns:p14="http://schemas.microsoft.com/office/powerpoint/2010/main" val="2240587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1">
          <a:extLst>
            <a:ext uri="{FF2B5EF4-FFF2-40B4-BE49-F238E27FC236}">
              <a16:creationId xmlns:a16="http://schemas.microsoft.com/office/drawing/2014/main" id="{A50EA6A2-B12C-3480-BF09-D7A2D9CC8DEB}"/>
            </a:ext>
          </a:extLst>
        </p:cNvPr>
        <p:cNvGrpSpPr/>
        <p:nvPr/>
      </p:nvGrpSpPr>
      <p:grpSpPr>
        <a:xfrm>
          <a:off x="0" y="0"/>
          <a:ext cx="0" cy="0"/>
          <a:chOff x="0" y="0"/>
          <a:chExt cx="0" cy="0"/>
        </a:xfrm>
      </p:grpSpPr>
      <p:pic>
        <p:nvPicPr>
          <p:cNvPr id="283" name="Google Shape;283;p23" descr="image.png">
            <a:extLst>
              <a:ext uri="{FF2B5EF4-FFF2-40B4-BE49-F238E27FC236}">
                <a16:creationId xmlns:a16="http://schemas.microsoft.com/office/drawing/2014/main" id="{F0783090-1CA0-B041-9AB9-E5D7E625048B}"/>
              </a:ext>
            </a:extLst>
          </p:cNvPr>
          <p:cNvPicPr preferRelativeResize="0"/>
          <p:nvPr/>
        </p:nvPicPr>
        <p:blipFill rotWithShape="1">
          <a:blip r:embed="rId3">
            <a:alphaModFix/>
          </a:blip>
          <a:srcRect/>
          <a:stretch/>
        </p:blipFill>
        <p:spPr>
          <a:xfrm>
            <a:off x="571500" y="2147662"/>
            <a:ext cx="11055350" cy="4157870"/>
          </a:xfrm>
          <a:prstGeom prst="rect">
            <a:avLst/>
          </a:prstGeom>
          <a:noFill/>
          <a:ln>
            <a:noFill/>
          </a:ln>
        </p:spPr>
      </p:pic>
      <p:sp>
        <p:nvSpPr>
          <p:cNvPr id="285" name="Google Shape;285;p23">
            <a:extLst>
              <a:ext uri="{FF2B5EF4-FFF2-40B4-BE49-F238E27FC236}">
                <a16:creationId xmlns:a16="http://schemas.microsoft.com/office/drawing/2014/main" id="{245555ED-8635-8D55-B0E5-D8802D52A725}"/>
              </a:ext>
            </a:extLst>
          </p:cNvPr>
          <p:cNvSpPr txBox="1"/>
          <p:nvPr/>
        </p:nvSpPr>
        <p:spPr>
          <a:xfrm>
            <a:off x="4749165" y="1595638"/>
            <a:ext cx="4980622" cy="3238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2100" b="1" i="0" u="none" strike="noStrike" kern="0" cap="none" spc="0" normalizeH="0" baseline="0" noProof="0" dirty="0">
                <a:ln>
                  <a:noFill/>
                </a:ln>
                <a:solidFill>
                  <a:srgbClr val="38BDF8"/>
                </a:solidFill>
                <a:effectLst/>
                <a:uLnTx/>
                <a:uFillTx/>
                <a:latin typeface="Urbanist"/>
                <a:ea typeface="Urbanist"/>
                <a:cs typeface="Urbanist"/>
                <a:sym typeface="Urbanist"/>
              </a:rPr>
              <a:t>Μελλοντικές Επεκτάσεις</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99" name="Google Shape;299;p23">
            <a:extLst>
              <a:ext uri="{FF2B5EF4-FFF2-40B4-BE49-F238E27FC236}">
                <a16:creationId xmlns:a16="http://schemas.microsoft.com/office/drawing/2014/main" id="{73ED6A32-5172-D8E2-803F-EAE9A2864F52}"/>
              </a:ext>
            </a:extLst>
          </p:cNvPr>
          <p:cNvSpPr txBox="1"/>
          <p:nvPr/>
        </p:nvSpPr>
        <p:spPr>
          <a:xfrm>
            <a:off x="762000" y="903535"/>
            <a:ext cx="11401425" cy="60007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1" i="0" u="none" strike="noStrike" kern="0" cap="none" spc="0" normalizeH="0" baseline="0" noProof="0">
                <a:ln>
                  <a:noFill/>
                </a:ln>
                <a:solidFill>
                  <a:srgbClr val="2DD4BF"/>
                </a:solidFill>
                <a:effectLst/>
                <a:uLnTx/>
                <a:uFillTx/>
                <a:latin typeface="Poppins"/>
                <a:ea typeface="Poppins"/>
                <a:cs typeface="Poppins"/>
                <a:sym typeface="Poppins"/>
              </a:rPr>
              <a:t>ΣΥΜΠΕΡΆΣΜΑΤΑ &amp; ΜΕΛΛΟΝΤΙΚΈΣ ΕΠΕΚΤΆΣΕΙΣ</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300;p23">
            <a:extLst>
              <a:ext uri="{FF2B5EF4-FFF2-40B4-BE49-F238E27FC236}">
                <a16:creationId xmlns:a16="http://schemas.microsoft.com/office/drawing/2014/main" id="{C23B78B4-EE13-015C-333B-8351E97BEAE8}"/>
              </a:ext>
            </a:extLst>
          </p:cNvPr>
          <p:cNvSpPr/>
          <p:nvPr/>
        </p:nvSpPr>
        <p:spPr>
          <a:xfrm>
            <a:off x="571500" y="903535"/>
            <a:ext cx="57150" cy="60007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Google Shape;288;p23">
            <a:extLst>
              <a:ext uri="{FF2B5EF4-FFF2-40B4-BE49-F238E27FC236}">
                <a16:creationId xmlns:a16="http://schemas.microsoft.com/office/drawing/2014/main" id="{921DE8C0-88BC-61CA-5B78-0B5861F82C66}"/>
              </a:ext>
            </a:extLst>
          </p:cNvPr>
          <p:cNvSpPr txBox="1"/>
          <p:nvPr/>
        </p:nvSpPr>
        <p:spPr>
          <a:xfrm>
            <a:off x="762000" y="2321004"/>
            <a:ext cx="6350000" cy="1107996"/>
          </a:xfrm>
          <a:prstGeom prst="rect">
            <a:avLst/>
          </a:prstGeom>
          <a:noFill/>
          <a:ln>
            <a:noFill/>
          </a:ln>
        </p:spPr>
        <p:txBody>
          <a:bodyPr spcFirstLastPara="1" wrap="square" lIns="3810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Tx/>
              <a:buFont typeface="Arial"/>
              <a:buNone/>
              <a:tabLst/>
              <a:defRPr/>
            </a:pPr>
            <a:r>
              <a:rPr lang="el-GR" sz="1500" dirty="0">
                <a:solidFill>
                  <a:srgbClr val="EEECE1"/>
                </a:solidFill>
                <a:latin typeface="Urbanist" panose="020B0604020202020204" charset="0"/>
                <a:ea typeface="Urbanist" panose="020B0604020202020204" charset="0"/>
                <a:cs typeface="Urbanist" panose="020B0604020202020204" charset="0"/>
              </a:rPr>
              <a:t>1. Η εργασία μπορεί να επεκταθεί με υποστήριξη </a:t>
            </a:r>
            <a:r>
              <a:rPr lang="el-GR" sz="1500" dirty="0" err="1">
                <a:solidFill>
                  <a:srgbClr val="EEECE1"/>
                </a:solidFill>
                <a:latin typeface="Urbanist" panose="020B0604020202020204" charset="0"/>
                <a:ea typeface="Urbanist" panose="020B0604020202020204" charset="0"/>
                <a:cs typeface="Urbanist" panose="020B0604020202020204" charset="0"/>
              </a:rPr>
              <a:t>real-time</a:t>
            </a:r>
            <a:r>
              <a:rPr lang="el-GR" sz="1500" dirty="0">
                <a:solidFill>
                  <a:srgbClr val="EEECE1"/>
                </a:solidFill>
                <a:latin typeface="Urbanist" panose="020B0604020202020204" charset="0"/>
                <a:ea typeface="Urbanist" panose="020B0604020202020204" charset="0"/>
                <a:cs typeface="Urbanist" panose="020B0604020202020204" charset="0"/>
              </a:rPr>
              <a:t> εισαγωγής δεδομένων, μέσω συστημάτων ροής όπως </a:t>
            </a:r>
            <a:r>
              <a:rPr lang="el-GR" sz="1500" dirty="0" err="1">
                <a:solidFill>
                  <a:srgbClr val="EEECE1"/>
                </a:solidFill>
                <a:latin typeface="Urbanist" panose="020B0604020202020204" charset="0"/>
                <a:ea typeface="Urbanist" panose="020B0604020202020204" charset="0"/>
                <a:cs typeface="Urbanist" panose="020B0604020202020204" charset="0"/>
              </a:rPr>
              <a:t>Kafka</a:t>
            </a:r>
            <a:r>
              <a:rPr lang="el-GR" sz="1500" dirty="0">
                <a:solidFill>
                  <a:srgbClr val="EEECE1"/>
                </a:solidFill>
                <a:latin typeface="Urbanist" panose="020B0604020202020204" charset="0"/>
                <a:ea typeface="Urbanist" panose="020B0604020202020204" charset="0"/>
                <a:cs typeface="Urbanist" panose="020B0604020202020204" charset="0"/>
              </a:rPr>
              <a:t>, ώστε οι τροχιές να ενημερώνονται δυναμικά καθώς φτάνουν νέα AIS μηνύματα.</a:t>
            </a:r>
            <a:endParaRPr kumimoji="0" lang="el-GR" sz="1500" b="0" i="0" u="none" strike="noStrike" kern="0" cap="none" spc="0" normalizeH="0" baseline="0" noProof="0" dirty="0">
              <a:ln>
                <a:noFill/>
              </a:ln>
              <a:solidFill>
                <a:srgbClr val="EEECE1"/>
              </a:solidFill>
              <a:effectLst/>
              <a:uLnTx/>
              <a:uFillTx/>
              <a:latin typeface="Urbanist" panose="020B0604020202020204" charset="0"/>
              <a:ea typeface="Urbanist" panose="020B0604020202020204" charset="0"/>
              <a:cs typeface="Urbanist" panose="020B0604020202020204" charset="0"/>
              <a:sym typeface="Arial"/>
            </a:endParaRPr>
          </a:p>
        </p:txBody>
      </p:sp>
      <p:sp>
        <p:nvSpPr>
          <p:cNvPr id="5" name="Google Shape;288;p23">
            <a:extLst>
              <a:ext uri="{FF2B5EF4-FFF2-40B4-BE49-F238E27FC236}">
                <a16:creationId xmlns:a16="http://schemas.microsoft.com/office/drawing/2014/main" id="{99835F8F-CC9E-801B-5623-9A8FF62C6CA2}"/>
              </a:ext>
            </a:extLst>
          </p:cNvPr>
          <p:cNvSpPr txBox="1"/>
          <p:nvPr/>
        </p:nvSpPr>
        <p:spPr>
          <a:xfrm>
            <a:off x="7089775" y="4305725"/>
            <a:ext cx="4362450" cy="1846659"/>
          </a:xfrm>
          <a:prstGeom prst="rect">
            <a:avLst/>
          </a:prstGeom>
          <a:noFill/>
          <a:ln>
            <a:noFill/>
          </a:ln>
        </p:spPr>
        <p:txBody>
          <a:bodyPr spcFirstLastPara="1" wrap="square" lIns="38100" tIns="0" rIns="0" bIns="0" anchor="t" anchorCtr="0">
            <a:spAutoFit/>
          </a:bodyPr>
          <a:lstStyle/>
          <a:p>
            <a:pPr lvl="0">
              <a:lnSpc>
                <a:spcPct val="160000"/>
              </a:lnSpc>
            </a:pPr>
            <a:r>
              <a:rPr lang="el-GR" sz="1500" dirty="0">
                <a:solidFill>
                  <a:srgbClr val="EEECE1"/>
                </a:solidFill>
                <a:latin typeface="Urbanist" panose="020B0604020202020204" charset="0"/>
                <a:ea typeface="Urbanist" panose="020B0604020202020204" charset="0"/>
                <a:cs typeface="Urbanist" panose="020B0604020202020204" charset="0"/>
              </a:rPr>
              <a:t>3</a:t>
            </a:r>
            <a:r>
              <a:rPr kumimoji="0" lang="en-US" sz="1500" b="0" i="0" u="none" strike="noStrike" kern="0" cap="none" spc="0" normalizeH="0" baseline="0" noProof="0" dirty="0">
                <a:ln>
                  <a:noFill/>
                </a:ln>
                <a:solidFill>
                  <a:srgbClr val="EEECE1"/>
                </a:solidFill>
                <a:effectLst/>
                <a:uLnTx/>
                <a:uFillTx/>
                <a:latin typeface="Urbanist" panose="020B0604020202020204" charset="0"/>
                <a:ea typeface="Urbanist" panose="020B0604020202020204" charset="0"/>
                <a:cs typeface="Urbanist" panose="020B0604020202020204" charset="0"/>
                <a:sym typeface="Arial"/>
              </a:rPr>
              <a:t>. </a:t>
            </a:r>
            <a:r>
              <a:rPr lang="el-GR" sz="1500" dirty="0">
                <a:solidFill>
                  <a:srgbClr val="EEECE1"/>
                </a:solidFill>
                <a:latin typeface="Urbanist" panose="020B0604020202020204" charset="0"/>
                <a:ea typeface="Urbanist" panose="020B0604020202020204" charset="0"/>
                <a:cs typeface="Urbanist" panose="020B0604020202020204" charset="0"/>
              </a:rPr>
              <a:t>Η βάση μπορεί να αξιοποιηθεί ως υποδομή για </a:t>
            </a:r>
            <a:r>
              <a:rPr lang="el-GR" sz="1500" dirty="0" err="1">
                <a:solidFill>
                  <a:srgbClr val="EEECE1"/>
                </a:solidFill>
                <a:latin typeface="Urbanist" panose="020B0604020202020204" charset="0"/>
                <a:ea typeface="Urbanist" panose="020B0604020202020204" charset="0"/>
                <a:cs typeface="Urbanist" panose="020B0604020202020204" charset="0"/>
              </a:rPr>
              <a:t>χωροχρονικά</a:t>
            </a:r>
            <a:r>
              <a:rPr lang="el-GR" sz="1500" dirty="0">
                <a:solidFill>
                  <a:srgbClr val="EEECE1"/>
                </a:solidFill>
                <a:latin typeface="Urbanist" panose="020B0604020202020204" charset="0"/>
                <a:ea typeface="Urbanist" panose="020B0604020202020204" charset="0"/>
                <a:cs typeface="Urbanist" panose="020B0604020202020204" charset="0"/>
              </a:rPr>
              <a:t> </a:t>
            </a:r>
            <a:r>
              <a:rPr lang="el-GR" sz="1500" dirty="0" err="1">
                <a:solidFill>
                  <a:srgbClr val="EEECE1"/>
                </a:solidFill>
                <a:latin typeface="Urbanist" panose="020B0604020202020204" charset="0"/>
                <a:ea typeface="Urbanist" panose="020B0604020202020204" charset="0"/>
                <a:cs typeface="Urbanist" panose="020B0604020202020204" charset="0"/>
              </a:rPr>
              <a:t>dashboards</a:t>
            </a:r>
            <a:r>
              <a:rPr lang="el-GR" sz="1500" dirty="0">
                <a:solidFill>
                  <a:srgbClr val="EEECE1"/>
                </a:solidFill>
                <a:latin typeface="Urbanist" panose="020B0604020202020204" charset="0"/>
                <a:ea typeface="Urbanist" panose="020B0604020202020204" charset="0"/>
                <a:cs typeface="Urbanist" panose="020B0604020202020204" charset="0"/>
              </a:rPr>
              <a:t> και </a:t>
            </a:r>
            <a:r>
              <a:rPr lang="el-GR" sz="1500" dirty="0" err="1">
                <a:solidFill>
                  <a:srgbClr val="EEECE1"/>
                </a:solidFill>
                <a:latin typeface="Urbanist" panose="020B0604020202020204" charset="0"/>
                <a:ea typeface="Urbanist" panose="020B0604020202020204" charset="0"/>
                <a:cs typeface="Urbanist" panose="020B0604020202020204" charset="0"/>
              </a:rPr>
              <a:t>οπτικοποίηση</a:t>
            </a:r>
            <a:r>
              <a:rPr lang="el-GR" sz="1500" dirty="0">
                <a:solidFill>
                  <a:srgbClr val="EEECE1"/>
                </a:solidFill>
                <a:latin typeface="Urbanist" panose="020B0604020202020204" charset="0"/>
                <a:ea typeface="Urbanist" panose="020B0604020202020204" charset="0"/>
                <a:cs typeface="Urbanist" panose="020B0604020202020204" charset="0"/>
              </a:rPr>
              <a:t>, επιτρέποντας τη </a:t>
            </a:r>
            <a:r>
              <a:rPr lang="el-GR" sz="1500" dirty="0" err="1">
                <a:solidFill>
                  <a:srgbClr val="EEECE1"/>
                </a:solidFill>
                <a:latin typeface="Urbanist" panose="020B0604020202020204" charset="0"/>
                <a:ea typeface="Urbanist" panose="020B0604020202020204" charset="0"/>
                <a:cs typeface="Urbanist" panose="020B0604020202020204" charset="0"/>
              </a:rPr>
              <a:t>διαδραστική</a:t>
            </a:r>
            <a:r>
              <a:rPr lang="el-GR" sz="1500" dirty="0">
                <a:solidFill>
                  <a:srgbClr val="EEECE1"/>
                </a:solidFill>
                <a:latin typeface="Urbanist" panose="020B0604020202020204" charset="0"/>
                <a:ea typeface="Urbanist" panose="020B0604020202020204" charset="0"/>
                <a:cs typeface="Urbanist" panose="020B0604020202020204" charset="0"/>
              </a:rPr>
              <a:t> παρακολούθηση της ναυτιλιακής κίνησης και τη σύνδεσή της με επιχειρησιακές εφαρμογές.</a:t>
            </a:r>
            <a:endParaRPr kumimoji="0" lang="el-GR" sz="1500" b="0" i="0" u="none" strike="noStrike" kern="0" cap="none" spc="0" normalizeH="0" baseline="0" noProof="0" dirty="0">
              <a:ln>
                <a:noFill/>
              </a:ln>
              <a:solidFill>
                <a:srgbClr val="EEECE1"/>
              </a:solidFill>
              <a:effectLst/>
              <a:uLnTx/>
              <a:uFillTx/>
              <a:latin typeface="Urbanist" panose="020B0604020202020204" charset="0"/>
              <a:ea typeface="Urbanist" panose="020B0604020202020204" charset="0"/>
              <a:cs typeface="Urbanist" panose="020B0604020202020204" charset="0"/>
              <a:sym typeface="Arial"/>
            </a:endParaRPr>
          </a:p>
        </p:txBody>
      </p:sp>
      <p:sp>
        <p:nvSpPr>
          <p:cNvPr id="6" name="Google Shape;288;p23">
            <a:extLst>
              <a:ext uri="{FF2B5EF4-FFF2-40B4-BE49-F238E27FC236}">
                <a16:creationId xmlns:a16="http://schemas.microsoft.com/office/drawing/2014/main" id="{31C35620-DF07-360D-A171-BEA4424C8FD5}"/>
              </a:ext>
            </a:extLst>
          </p:cNvPr>
          <p:cNvSpPr txBox="1"/>
          <p:nvPr/>
        </p:nvSpPr>
        <p:spPr>
          <a:xfrm>
            <a:off x="739775" y="3657174"/>
            <a:ext cx="6350000" cy="1107996"/>
          </a:xfrm>
          <a:prstGeom prst="rect">
            <a:avLst/>
          </a:prstGeom>
          <a:noFill/>
          <a:ln>
            <a:noFill/>
          </a:ln>
        </p:spPr>
        <p:txBody>
          <a:bodyPr spcFirstLastPara="1" wrap="square" lIns="38100" tIns="0" rIns="0" bIns="0" anchor="t" anchorCtr="0">
            <a:spAutoFit/>
          </a:bodyPr>
          <a:lstStyle/>
          <a:p>
            <a:pPr lvl="0">
              <a:lnSpc>
                <a:spcPct val="160000"/>
              </a:lnSpc>
            </a:pPr>
            <a:r>
              <a:rPr lang="el-GR" sz="1500" dirty="0">
                <a:solidFill>
                  <a:srgbClr val="EEECE1"/>
                </a:solidFill>
                <a:latin typeface="Urbanist" panose="020B0604020202020204" charset="0"/>
                <a:ea typeface="Urbanist" panose="020B0604020202020204" charset="0"/>
                <a:cs typeface="Urbanist" panose="020B0604020202020204" charset="0"/>
              </a:rPr>
              <a:t>2. Πάνω στο υπάρχον σχήμα μπορούν να εφαρμοστούν αλγόριθμοι ανάλυσης συμπεριφοράς πλοίων, όπως ανίχνευση ανωμαλιών, αλλαγών πορείας ή επικίνδυνων κινήσεων σε συνδυασμό με περιβαλλοντικές συνθήκες.</a:t>
            </a:r>
            <a:endParaRPr kumimoji="0" lang="el-GR" sz="1500" b="0" i="0" u="none" strike="noStrike" kern="0" cap="none" spc="0" normalizeH="0" baseline="0" noProof="0" dirty="0">
              <a:ln>
                <a:noFill/>
              </a:ln>
              <a:solidFill>
                <a:srgbClr val="EEECE1"/>
              </a:solidFill>
              <a:effectLst/>
              <a:uLnTx/>
              <a:uFillTx/>
              <a:latin typeface="Urbanist" panose="020B0604020202020204" charset="0"/>
              <a:ea typeface="Urbanist" panose="020B0604020202020204" charset="0"/>
              <a:cs typeface="Urbanist" panose="020B0604020202020204" charset="0"/>
              <a:sym typeface="Arial"/>
            </a:endParaRPr>
          </a:p>
        </p:txBody>
      </p:sp>
    </p:spTree>
    <p:extLst>
      <p:ext uri="{BB962C8B-B14F-4D97-AF65-F5344CB8AC3E}">
        <p14:creationId xmlns:p14="http://schemas.microsoft.com/office/powerpoint/2010/main" val="4065035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04"/>
        <p:cNvGrpSpPr/>
        <p:nvPr/>
      </p:nvGrpSpPr>
      <p:grpSpPr>
        <a:xfrm>
          <a:off x="0" y="0"/>
          <a:ext cx="0" cy="0"/>
          <a:chOff x="0" y="0"/>
          <a:chExt cx="0" cy="0"/>
        </a:xfrm>
      </p:grpSpPr>
      <p:pic>
        <p:nvPicPr>
          <p:cNvPr id="305" name="Google Shape;305;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06" name="Google Shape;306;p24"/>
          <p:cNvSpPr txBox="1"/>
          <p:nvPr/>
        </p:nvSpPr>
        <p:spPr>
          <a:xfrm>
            <a:off x="295275" y="1798290"/>
            <a:ext cx="11601450"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2DD4BF"/>
                </a:solidFill>
                <a:latin typeface="Urbanist"/>
                <a:ea typeface="Urbanist"/>
                <a:cs typeface="Urbanist"/>
                <a:sym typeface="Urbanist"/>
              </a:rPr>
              <a:t>Ερωτήσεις;</a:t>
            </a:r>
            <a:endParaRPr/>
          </a:p>
        </p:txBody>
      </p:sp>
      <p:sp>
        <p:nvSpPr>
          <p:cNvPr id="307" name="Google Shape;307;p24"/>
          <p:cNvSpPr txBox="1"/>
          <p:nvPr/>
        </p:nvSpPr>
        <p:spPr>
          <a:xfrm>
            <a:off x="571500" y="2903190"/>
            <a:ext cx="11049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CBD5E1"/>
                </a:solidFill>
                <a:latin typeface="Urbanist"/>
                <a:ea typeface="Urbanist"/>
                <a:cs typeface="Urbanist"/>
                <a:sym typeface="Urbanist"/>
              </a:rPr>
              <a:t>Σας ευχαριστούμε για την προσοχή σας!</a:t>
            </a:r>
            <a:endParaRPr/>
          </a:p>
        </p:txBody>
      </p:sp>
      <p:sp>
        <p:nvSpPr>
          <p:cNvPr id="308" name="Google Shape;308;p24"/>
          <p:cNvSpPr txBox="1"/>
          <p:nvPr/>
        </p:nvSpPr>
        <p:spPr>
          <a:xfrm>
            <a:off x="571500" y="6410325"/>
            <a:ext cx="3697634"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64748B"/>
                </a:solidFill>
                <a:latin typeface="Urbanist"/>
                <a:ea typeface="Urbanist"/>
                <a:cs typeface="Urbanist"/>
                <a:sym typeface="Urbanist"/>
              </a:rPr>
              <a:t>Πανεπιστήμιο Πειραιώς - Τμήμα Ψηφιακών Συστημάτων - 2026</a:t>
            </a:r>
            <a:endParaRPr/>
          </a:p>
        </p:txBody>
      </p:sp>
      <p:sp>
        <p:nvSpPr>
          <p:cNvPr id="309" name="Google Shape;309;p24"/>
          <p:cNvSpPr txBox="1"/>
          <p:nvPr/>
        </p:nvSpPr>
        <p:spPr>
          <a:xfrm>
            <a:off x="571500" y="4068960"/>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Αντώνιος Παπακωνσταντίνου | antonhspap@icloud.com</a:t>
            </a:r>
            <a:endParaRPr/>
          </a:p>
        </p:txBody>
      </p:sp>
      <p:sp>
        <p:nvSpPr>
          <p:cNvPr id="310" name="Google Shape;310;p24"/>
          <p:cNvSpPr txBox="1"/>
          <p:nvPr/>
        </p:nvSpPr>
        <p:spPr>
          <a:xfrm>
            <a:off x="571500" y="4564260"/>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Δημήτριος Κωστήρης | dimkostir@gmail.com</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638</TotalTime>
  <Words>2375</Words>
  <Application>Microsoft Office PowerPoint</Application>
  <PresentationFormat>Ευρεία οθόνη</PresentationFormat>
  <Paragraphs>251</Paragraphs>
  <Slides>32</Slides>
  <Notes>32</Notes>
  <HiddenSlides>0</HiddenSlides>
  <MMClips>0</MMClips>
  <ScaleCrop>false</ScaleCrop>
  <HeadingPairs>
    <vt:vector size="6" baseType="variant">
      <vt:variant>
        <vt:lpstr>Γραμματοσειρές που χρησιμοποιούνται</vt:lpstr>
      </vt:variant>
      <vt:variant>
        <vt:i4>7</vt:i4>
      </vt:variant>
      <vt:variant>
        <vt:lpstr>Θέμα</vt:lpstr>
      </vt:variant>
      <vt:variant>
        <vt:i4>1</vt:i4>
      </vt:variant>
      <vt:variant>
        <vt:lpstr>Τίτλοι διαφανειών</vt:lpstr>
      </vt:variant>
      <vt:variant>
        <vt:i4>32</vt:i4>
      </vt:variant>
    </vt:vector>
  </HeadingPairs>
  <TitlesOfParts>
    <vt:vector size="40" baseType="lpstr">
      <vt:lpstr>Arial</vt:lpstr>
      <vt:lpstr>Wingdings</vt:lpstr>
      <vt:lpstr>Urbanist</vt:lpstr>
      <vt:lpstr>Lato</vt:lpstr>
      <vt:lpstr>Calibri</vt:lpstr>
      <vt:lpstr>ADLaM Display</vt:lpstr>
      <vt:lpstr>Poppins</vt:lpstr>
      <vt:lpstr>Office Theme</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ANTONIOS PAPAKONSTANTINOU</cp:lastModifiedBy>
  <cp:revision>158</cp:revision>
  <dcterms:modified xsi:type="dcterms:W3CDTF">2026-02-08T16:45:40Z</dcterms:modified>
</cp:coreProperties>
</file>